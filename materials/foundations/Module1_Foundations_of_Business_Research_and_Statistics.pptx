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0333B"/>
                </a:solidFill>
                <a:latin typeface="Calibri"/>
              </a:rPr>
              <a:t>A retail time series: trend plus a Q4 seasonal peak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net sales (₹ lakh)</c:v>
                </c:pt>
              </c:strCache>
            </c:strRef>
          </c:tx>
          <c:spPr>
            <a:ln w="38100" cap="flat">
              <a:solidFill>
                <a:srgbClr val="1B7F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  <c:pt idx="9">
                  <c:v>Q2-25</c:v>
                </c:pt>
                <c:pt idx="10">
                  <c:v>Q3-25</c:v>
                </c:pt>
                <c:pt idx="11">
                  <c:v>Q4-25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</c:v>
                </c:pt>
                <c:pt idx="1">
                  <c:v>158</c:v>
                </c:pt>
                <c:pt idx="2">
                  <c:v>171</c:v>
                </c:pt>
                <c:pt idx="3">
                  <c:v>204</c:v>
                </c:pt>
                <c:pt idx="4">
                  <c:v>151</c:v>
                </c:pt>
                <c:pt idx="5">
                  <c:v>169</c:v>
                </c:pt>
                <c:pt idx="6">
                  <c:v>186</c:v>
                </c:pt>
                <c:pt idx="7">
                  <c:v>223</c:v>
                </c:pt>
                <c:pt idx="8">
                  <c:v>163</c:v>
                </c:pt>
                <c:pt idx="9">
                  <c:v>181</c:v>
                </c:pt>
                <c:pt idx="10">
                  <c:v>199</c:v>
                </c:pt>
                <c:pt idx="11">
                  <c:v>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07-4D29-B4FD-A958F6AE42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0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B550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B5502E"/>
                </a:solidFill>
                <a:latin typeface="Calibri"/>
              </a:rPr>
              <a:t>Truncated axis: ‘share is surging’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(%)</c:v>
                </c:pt>
              </c:strCache>
            </c:strRef>
          </c:tx>
          <c:spPr>
            <a:solidFill>
              <a:srgbClr val="B550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455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88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95-4E61-8813-6B06D0598B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85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7F8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7F8C"/>
                </a:solidFill>
                <a:latin typeface="Calibri"/>
              </a:rPr>
              <a:t>Zero baseline: ‘share is flat’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(%)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455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88</c:v>
                </c:pt>
                <c:pt idx="2">
                  <c:v>89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9-4BA1-9F37-1D68748922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251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covers the foundations: what statistics is, the research process, data types and measurement scales, sampling methods, research ethics, and preparing data in Excel. It closes with two case problems from Anderson &amp; Sweeney.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outcomes map to CO1, CO2 and CO3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Anderson Ch.1: statistics refers both to numerical facts and to the methodology. Levine Ch.1 frames it as transforming data into useful information for decision 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Anderson Ch.1 slides 4-5. Ask students which function they intend to specialise in, then point at the corresponding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Levine Ch.2: graphical errors — chart junk, no relative basis, compressed vertical axis, no zero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5120640" cy="5120640"/>
          </a:xfrm>
          <a:prstGeom prst="ellipse">
            <a:avLst/>
          </a:prstGeom>
          <a:solidFill>
            <a:srgbClr val="1B7F8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A03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Business Research &amp; Statistics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05840" cy="4114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DBS-PC-BR-601-T  ·  Business Research and Statistics  ·  MBA Semester 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· Anderson, Sweeney et al. Ch. 1–2  |  Levine, Szabat &amp; Stephan Ch.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for this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6642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managers need statistics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81328" y="19933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statistical thinking supports decisions in accounting, finance, marketing, operations and HR.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481328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96328" y="16642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business research study end to 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96328" y="19933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problem definition through design, data collection, analysis and reporting.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255264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 correctly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81328" y="351129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categorical from quantitative data and assign the right measurement scale.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2999232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3255264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96328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appropriate sampling method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96328" y="351129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simple random, systematic, stratified and cluster sampling — and justify it.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517136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4773168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81328" y="470001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ethical and privacy standards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481328" y="50292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bias, misleading presentation and data-protection obligations.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517136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4773168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96328" y="470001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dataset in Excel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196328" y="50292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analysis-ready worksheet using validation, sorting, filtering and de-duplication.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topics, then two case problems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121408" cy="3200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" y="2395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research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statistics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331012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matters, the research process, key vocabulary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7208" y="1600200"/>
            <a:ext cx="2121408" cy="3200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807208" y="16002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07208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53512" y="2395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331012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quantitative; nominal, ordinal, interval, ratio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11496" y="1600200"/>
            <a:ext cx="2121408" cy="3200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11496" y="16002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11496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57800" y="2395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331012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systematic, stratified, cluster; bias and error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15784" y="1600200"/>
            <a:ext cx="2121408" cy="3200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15784" y="16002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15784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62088" y="2395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62088" y="331012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data privacy, bias, misleading statistics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20072" y="1600200"/>
            <a:ext cx="2121408" cy="32004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720072" y="16002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720072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866376" y="2395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data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66376" y="331012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design, validation, cleaning, missing values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029200"/>
            <a:ext cx="11173968" cy="960120"/>
          </a:xfrm>
          <a:prstGeom prst="roundRect">
            <a:avLst>
              <a:gd name="adj" fmla="val 8571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517550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problems:  </a:t>
            </a:r>
            <a:r>
              <a:rPr lang="en-US" sz="13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Pelican Stores (Ch. 2) and Motion Picture Industry (Ch. 2) — both worked in Excel using the datasets from the Anderson &amp; Sweeney companion site.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Research &amp; Statistics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matters, the research process, and the vocabulary you need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mean by ‘statistics’?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carries two distinct meanings in business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as numbers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facts — averages, medians, percentages, index numbers and ratios — that summarise a business or economic situation.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6758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“Q3 revenue rose 12%.”   “The median salary is ₹8.4 lakh.”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658368" cy="658368"/>
          </a:xfrm>
          <a:prstGeom prst="ellipse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06640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as a discipline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and science of collecting, analysing, presenting and interpreting data so that a manager can act on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6758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course teaches — with Excel as the instrument.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manager’s question is never ‘what is the mean?’  </a:t>
            </a:r>
            <a:r>
              <a:rPr lang="en-US" sz="14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‘should we open the store, change the price, or keep the supplier?’ Statistics converts data into an answer you can defend.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decision makers study statistics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statistics lets a manager do that intuition cannot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45336" y="1965960"/>
            <a:ext cx="658368" cy="65836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45336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3246120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describe business data and information properly, so an audience sees what is actually there.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164592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07408" y="1965960"/>
            <a:ext cx="658368" cy="65836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0740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071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66744" y="3246120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about large populations using information collected from a much smaller sample.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164592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1965960"/>
            <a:ext cx="658368" cy="65836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7278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8816" y="3246120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reliable, quantified predictions about a business activity instead of guessing.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164592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131552" y="1965960"/>
            <a:ext cx="658368" cy="65836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131552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34856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90888" y="3246120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improve business processes by measuring variation and reacting to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Levine, Szabat &amp; Stephan, Statistics for Managers Using Microsoft Excel, Ch. 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across the business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specialisation in your MBA runs on this material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1920240"/>
            <a:ext cx="82296" cy="310896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8653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235915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accounting firms use statistical sampling when conducting audits for clients.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36008" y="1920240"/>
            <a:ext cx="82296" cy="310896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8653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235915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use price–earnings ratios and dividend yields to guide investment advice.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30768" y="1920240"/>
            <a:ext cx="82296" cy="310896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41080" y="18653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39912" y="235915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Economists build statistical forecasts of output, inflation and employment.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41248" y="4069080"/>
            <a:ext cx="82296" cy="310896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51560" y="4014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" y="4507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Point-of-sale scanner data feeds pricing, promotion and assortment research.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36008" y="4069080"/>
            <a:ext cx="82296" cy="310896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4014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45152" y="4507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quality control charts monitor the output of a production process.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430768" y="4069080"/>
            <a:ext cx="82296" cy="310896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41080" y="4014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Info. Systems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39912" y="4507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 help administrators assess network and system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branches of statistics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summarises what you have; inferential reaches beyond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Collecting, summarising and describing the data you actually hold.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— frequency and percent frequency distributions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— bar charts, histograms, scatter diagrams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— mean, median, standard deviation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Module 2 of this course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STATISTICS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2128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conclusions about a population from sample results alone.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4617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— confidence intervals for a mean or proportion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is the observed difference real?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carries a stated level of uncertainty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Module 3 of this course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 Auto Repair (Anderson Ch. 1): 50 tune-up invoices give a sample mean parts cost of $79 — descriptive. Using that $79 to estimate the cost for all tune-ups — inferential.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research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— each one constrains the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2212848"/>
            <a:ext cx="10104120" cy="45720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883664"/>
            <a:ext cx="713232" cy="713232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880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managerial decision, then the research question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883664"/>
            <a:ext cx="713232" cy="713232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06040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1408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075688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or observational? What variables?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8848" y="1883664"/>
            <a:ext cx="713232" cy="713232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98848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14216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68496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method, sample size, instrument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91656" y="1883664"/>
            <a:ext cx="713232" cy="713232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91656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07024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61304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code, validate — in Excel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84464" y="1883664"/>
            <a:ext cx="713232" cy="713232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84464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99832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54112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 then test and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77272" y="1883664"/>
            <a:ext cx="713232" cy="713232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177272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2640" y="27614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46920" y="3493008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so a decision follows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868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failures happen at step 1 or step 3. </a:t>
            </a:r>
            <a:r>
              <a:rPr lang="en-US" sz="14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 executed analysis of the wrong question, or of a biased sample, is worthless — no amount of Excel can repair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research studies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obtain the data determines what you may claim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of interest is identified, then one or more other variables are controlled so you can observe their influence.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of two web-page layouts; the 1954 Salk polio vaccine trial — nearly two million children.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 is made to control or influence the variables of interest — you record what happens.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surveys; studies of smokers vs non-smokers, where the researcher does not decide who smokes.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a vague problem. Interviews, focus groups, literature scan.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321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hurting our renewals?”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4069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10333B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1772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4617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profile. Surveys, panels, transaction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5321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are our promotional customers?”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4069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1248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4617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cause and effect. Controlled experiments.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5321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coupon cause the extra spend?”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of a data 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Element, variable, observation — fixed meanings you will use all semester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55064"/>
            <a:ext cx="68580" cy="77724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1600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 on which data are collected — here, a company.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52344"/>
            <a:ext cx="68580" cy="77724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97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30632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characteristic of interest for the elements — here, Annual Sales.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68580" cy="77724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3794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" y="41605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measurements obtained for one element — one row.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46904"/>
            <a:ext cx="68580" cy="77724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4892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52578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data collected in the study. n elements × k variables = n×k values.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11680"/>
          <a:ext cx="553212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Exch.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Sales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Earn/Share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EnergySouth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Psychemedics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126480" y="44348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 × 4 variables = 20 data values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26480" y="48006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Anderson, Sweeney et al., Statistics for Business and Economics, Ch. 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Population, sample and the inference you buy with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Modules 3 and 4 rests on this diagram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2194560"/>
            <a:ext cx="2834640" cy="2834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0" y="27889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0" y="27889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27889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0" y="27889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0" y="32461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0" y="32461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32461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0" y="324612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0" y="32461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37033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0" y="37033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0" y="370332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7033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0" y="37033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0" y="37033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0" y="41605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0" y="41605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0" y="41605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0" y="416052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114800" y="41605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0" y="46177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0" y="4617720"/>
            <a:ext cx="173736" cy="173736"/>
          </a:xfrm>
          <a:prstGeom prst="ellipse">
            <a:avLst/>
          </a:prstGeom>
          <a:solidFill>
            <a:srgbClr val="AFC8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0" y="461772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14400" y="5029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items you want a conclusion about.  A measure describing it is a PARAMETER.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97880" y="3154680"/>
            <a:ext cx="685800" cy="457200"/>
          </a:xfrm>
          <a:prstGeom prst="rightArrow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2356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36393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1554480"/>
            <a:ext cx="4800600" cy="3931920"/>
          </a:xfrm>
          <a:prstGeom prst="roundRect">
            <a:avLst>
              <a:gd name="adj" fmla="val 2093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85800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75320" y="2331720"/>
            <a:ext cx="1965960" cy="1965960"/>
          </a:xfrm>
          <a:prstGeom prst="ellipse">
            <a:avLst/>
          </a:prstGeom>
          <a:solidFill>
            <a:srgbClr val="1B4A55"/>
          </a:solidFill>
          <a:ln w="25400">
            <a:solidFill>
              <a:srgbClr val="E0A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778240" y="2788920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281160" y="2880360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686800" y="3291840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326880" y="3429000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9006840" y="3794760"/>
            <a:ext cx="182880" cy="182880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23760" y="46177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portion of the population selected for analysis.  A measure computed from it is a STATISTIC.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56235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</a:t>
            </a: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collect data for the entire population.   </a:t>
            </a:r>
            <a:r>
              <a:rPr lang="en-US" sz="12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survey </a:t>
            </a: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collect data for a sample.   </a:t>
            </a:r>
            <a:r>
              <a:rPr lang="en-US" sz="12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 </a:t>
            </a: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using the sample to estimate and test claims about the population.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business data come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secondary sources — and what each costs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86400" cy="2697480"/>
          </a:xfrm>
          <a:prstGeom prst="roundRect">
            <a:avLst>
              <a:gd name="adj" fmla="val 3051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data collector.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you designed and ran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an experiment you conducted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of a process or a store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4924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21214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collected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487168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records — sales, inventory, HR, credit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— MoSPI, RBI, Census, BLS, Eurostat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bodies, databases (CMIE, Bloomberg), the web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443484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CHECK BEFORE YOU USE ANY DATASET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4919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5212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takes time. Information may be stale by the time you have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48006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10333B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99432" y="4919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5212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charge for data even when selling data is not their business.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48006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94192" y="4919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94192" y="5212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acquired carelessly, or reused because it was handy, produces misleading conclusions.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Measurement Scales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data you have decides what analysis is legitimate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or quantitative?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question to ask about any variable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74920" y="1536192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74920" y="15361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71616" y="2103120"/>
            <a:ext cx="36576" cy="292608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63240" y="2377440"/>
            <a:ext cx="6053328" cy="36576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63240" y="2377440"/>
            <a:ext cx="36576" cy="274320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079992" y="2377440"/>
            <a:ext cx="36576" cy="274320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74520" y="26517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7452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09560" y="26517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095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3375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or names identifying an attribute.  Also called qualitative.  May be numeric codes or text.  Uses the nominal or ordinal scale.  Statistical options are limited.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33375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how many or how much.  Always numeric.  Ordinary arithmetic is meaningful — so far more analysis is available.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88720" y="4572000"/>
            <a:ext cx="3794760" cy="566928"/>
          </a:xfrm>
          <a:prstGeom prst="roundRect">
            <a:avLst>
              <a:gd name="adj" fmla="val 1451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1325880" y="4572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- Gender, region, brand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457200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BF1D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60920" y="45720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— counted (items purchased, defects per hour)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88720" y="5257800"/>
            <a:ext cx="3794760" cy="566928"/>
          </a:xfrm>
          <a:prstGeom prst="roundRect">
            <a:avLst>
              <a:gd name="adj" fmla="val 1451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25880" y="5257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- Satisfaction rating, bond grade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525780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BF1D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60920" y="5257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measured (net sales, weight, time on site)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analysis that is appropriate depends entirely on this split.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scales of measurement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scale adds information — and unlocks more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5029200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9FB9BE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5111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5111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5468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only. No order.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502920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method: Discover, MasterCard, Proprietary Card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986784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6FA3AC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4425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+ meaningful rank. Gaps not equal.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35240" y="3986784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rating: AAA, AA, A, BBB 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44368"/>
            <a:ext cx="5669280" cy="896112"/>
          </a:xfrm>
          <a:prstGeom prst="roundRect">
            <a:avLst>
              <a:gd name="adj" fmla="val 8163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3026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026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+ equal intervals. No true zero.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35240" y="2944368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 °C; a standardised test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1901952"/>
            <a:ext cx="6858000" cy="896112"/>
          </a:xfrm>
          <a:prstGeom prst="roundRect">
            <a:avLst>
              <a:gd name="adj" fmla="val 8163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1248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23408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+ a true zero, so ratios are meaningful.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35240" y="190195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sales, age, credit hours, distance, 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524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keeps everything the level below it has, and adds one property.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determines both the summarisation and the statistical analyses that are appropriate.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 and ordinal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you will meet in the case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distinct categories with no ranking implied. A non-numeric label or a numeric code may be used — the code carries no arithmetic meaning.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17520"/>
          <a:ext cx="4754880" cy="20116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of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/ MasterCard / Proprietary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/ Male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Married / Single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enrolled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/ Humanities / Education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Business = 1, Humanities = 2 does NOT make Humanities ‘twice’ Business.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155448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67512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21031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all the properties of nominal data, and the order or rank of the data is meaningful. The distance between ranks is not.</a:t>
            </a:r>
            <a:endParaRPr lang="en-US" sz="12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017520"/>
          <a:ext cx="4617720" cy="20513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standing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Freshman → Sophomore → Junior → Senior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satisfaction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Unsatisfied → Neutral → Satisfied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bond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 → AA → A → BBB → BB 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→ Assistant → Associate → Professor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675120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from Neutral to Satisfied is not necessarily the same as Unsatisfied to Neutral — so an average rating is only ever approximate.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 and ratio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variables — and the one property that separates them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F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properties plus a fixed unit of measure, so differences are meaningful. There is no true zero, so ratios are not.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scores 1985 on the SAT, Kevin 1880.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 Melissa scored 105 points more than Kevin.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Invalid:  Melissa is 1.06 times as able as Kevin.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properties of interval data plus a true zero point meaning ‘none of the variable exists’ — so ratios are meaningful.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has 36 credit hours, Kevin has 72.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32004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 Kevin has twice as many credit hours as Melissa.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height, weight, time, sales and cost are all ratio.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61772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SCALE PERMITS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11109960" cy="17586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/ 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&amp; subtract /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&amp; divide / ratios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chart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pie, Pareto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stacked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5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7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scatter, box plot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Cross-sectional and time series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 were collected changes what you can say with them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048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at the same, or approximately the same, point in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237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permits issued in November 2012 in each county of Ohio.  Or: the 100 Pelican Stores transactions recorded on one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7764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105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over several time periods.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happened in the past</a:t>
            </a:r>
            <a:endParaRPr lang="en-US" sz="1200" dirty="0"/>
          </a:p>
          <a:p>
            <a:pPr marL="228600" indent="-2286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 and seasonal patterns</a:t>
            </a:r>
            <a:endParaRPr lang="en-US" sz="1200" dirty="0"/>
          </a:p>
          <a:p>
            <a:pPr marL="228600" indent="-2286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future levels — Module 4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263640" y="1600200"/>
          <a:ext cx="5394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6263640" y="5779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Techniques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pick the sample decides whether the answer means anything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sample instead of taking a census?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four terms you must be able to define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13969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census of every customer is usually unaffordable; a sample of 400 is 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572768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66744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66744" y="213969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census is complete, the decision has already been made.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572768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28816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13969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sometimes destructive — you cannot crash-test every car you sell.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34856" y="1572768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9088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90888" y="2139696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carefully collected sample often beats a large, sloppy census.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68580" cy="86868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398678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set of items you want the conclusion to apply 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68580" cy="86868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frame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398678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list you draw from. Gaps between frame and population create bias.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68580" cy="86868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error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512978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difference between a sample result and the population value.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846320"/>
            <a:ext cx="68580" cy="86868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0" y="4800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Non-sampling error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92240" y="512978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questions, non-response, data-entry mistakes — a bigger sample will not fix these.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probability sampling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of the population has a known, non-zero chance of selection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51760" cy="4343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random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32688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43584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228600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65376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76272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87168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32688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43584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554480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865376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176272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87168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32688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43584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554480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865376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176272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87168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32688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243584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554480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865376" y="3218688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176272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487168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4672" y="370332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sample of size n is equally likely. Draw with Excel: RAND() then sort, or the Analysis ToolPak’s Sampling tool.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10712" y="1554480"/>
            <a:ext cx="2651760" cy="4343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410712" y="1554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410712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3794760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105656" y="228600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416552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27448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038344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349240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794760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105656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416552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27448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038344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349240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3794760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105656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416552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27448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038344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349240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794760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105656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416552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27448" y="3218688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038344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5349240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666744" y="370332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random start, then take every k-th item, where k = N/n. Fast for long lists and production lines.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72784" y="1554480"/>
            <a:ext cx="2651760" cy="4343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272784" y="1554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72784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6656832" y="2286000"/>
            <a:ext cx="173736" cy="173736"/>
          </a:xfrm>
          <a:prstGeom prst="ellipse">
            <a:avLst/>
          </a:prstGeom>
          <a:solidFill>
            <a:srgbClr val="D6E4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967728" y="2286000"/>
            <a:ext cx="173736" cy="173736"/>
          </a:xfrm>
          <a:prstGeom prst="ellipse">
            <a:avLst/>
          </a:prstGeom>
          <a:solidFill>
            <a:srgbClr val="3FA7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278624" y="2286000"/>
            <a:ext cx="173736" cy="173736"/>
          </a:xfrm>
          <a:prstGeom prst="ellipse">
            <a:avLst/>
          </a:prstGeom>
          <a:solidFill>
            <a:srgbClr val="D6E4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589520" y="2286000"/>
            <a:ext cx="173736" cy="173736"/>
          </a:xfrm>
          <a:prstGeom prst="ellipse">
            <a:avLst/>
          </a:prstGeom>
          <a:solidFill>
            <a:srgbClr val="D6E4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900416" y="2286000"/>
            <a:ext cx="173736" cy="173736"/>
          </a:xfrm>
          <a:prstGeom prst="ellipse">
            <a:avLst/>
          </a:prstGeom>
          <a:solidFill>
            <a:srgbClr val="3FA7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211312" y="2286000"/>
            <a:ext cx="173736" cy="173736"/>
          </a:xfrm>
          <a:prstGeom prst="ellipse">
            <a:avLst/>
          </a:prstGeom>
          <a:solidFill>
            <a:srgbClr val="D6E4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656832" y="2596896"/>
            <a:ext cx="173736" cy="173736"/>
          </a:xfrm>
          <a:prstGeom prst="ellipse">
            <a:avLst/>
          </a:prstGeom>
          <a:solidFill>
            <a:srgbClr val="E2EA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967728" y="2596896"/>
            <a:ext cx="173736" cy="173736"/>
          </a:xfrm>
          <a:prstGeom prst="ellipse">
            <a:avLst/>
          </a:prstGeom>
          <a:solidFill>
            <a:srgbClr val="9FB9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278624" y="2596896"/>
            <a:ext cx="173736" cy="173736"/>
          </a:xfrm>
          <a:prstGeom prst="ellipse">
            <a:avLst/>
          </a:prstGeom>
          <a:solidFill>
            <a:srgbClr val="E2EA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589520" y="2596896"/>
            <a:ext cx="173736" cy="173736"/>
          </a:xfrm>
          <a:prstGeom prst="ellipse">
            <a:avLst/>
          </a:prstGeom>
          <a:solidFill>
            <a:srgbClr val="E2EA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7900416" y="2596896"/>
            <a:ext cx="173736" cy="173736"/>
          </a:xfrm>
          <a:prstGeom prst="ellipse">
            <a:avLst/>
          </a:prstGeom>
          <a:solidFill>
            <a:srgbClr val="9FB9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8211312" y="2596896"/>
            <a:ext cx="173736" cy="173736"/>
          </a:xfrm>
          <a:prstGeom prst="ellipse">
            <a:avLst/>
          </a:prstGeom>
          <a:solidFill>
            <a:srgbClr val="E2EA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656832" y="2907792"/>
            <a:ext cx="173736" cy="173736"/>
          </a:xfrm>
          <a:prstGeom prst="ellipse">
            <a:avLst/>
          </a:prstGeom>
          <a:solidFill>
            <a:srgbClr val="F4E4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967728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278624" y="2907792"/>
            <a:ext cx="173736" cy="173736"/>
          </a:xfrm>
          <a:prstGeom prst="ellipse">
            <a:avLst/>
          </a:prstGeom>
          <a:solidFill>
            <a:srgbClr val="F4E4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589520" y="2907792"/>
            <a:ext cx="173736" cy="173736"/>
          </a:xfrm>
          <a:prstGeom prst="ellipse">
            <a:avLst/>
          </a:prstGeom>
          <a:solidFill>
            <a:srgbClr val="F4E4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7900416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8211312" y="2907792"/>
            <a:ext cx="173736" cy="173736"/>
          </a:xfrm>
          <a:prstGeom prst="ellipse">
            <a:avLst/>
          </a:prstGeom>
          <a:solidFill>
            <a:srgbClr val="F4E4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6656832" y="3218688"/>
            <a:ext cx="173736" cy="173736"/>
          </a:xfrm>
          <a:prstGeom prst="ellipse">
            <a:avLst/>
          </a:prstGeom>
          <a:solidFill>
            <a:srgbClr val="EEDAD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967728" y="3218688"/>
            <a:ext cx="173736" cy="173736"/>
          </a:xfrm>
          <a:prstGeom prst="ellipse">
            <a:avLst/>
          </a:prstGeom>
          <a:solidFill>
            <a:srgbClr val="B55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7278624" y="3218688"/>
            <a:ext cx="173736" cy="173736"/>
          </a:xfrm>
          <a:prstGeom prst="ellipse">
            <a:avLst/>
          </a:prstGeom>
          <a:solidFill>
            <a:srgbClr val="EEDAD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589520" y="3218688"/>
            <a:ext cx="173736" cy="173736"/>
          </a:xfrm>
          <a:prstGeom prst="ellipse">
            <a:avLst/>
          </a:prstGeom>
          <a:solidFill>
            <a:srgbClr val="EEDAD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7900416" y="3218688"/>
            <a:ext cx="173736" cy="173736"/>
          </a:xfrm>
          <a:prstGeom prst="ellipse">
            <a:avLst/>
          </a:prstGeom>
          <a:solidFill>
            <a:srgbClr val="B55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8211312" y="3218688"/>
            <a:ext cx="173736" cy="173736"/>
          </a:xfrm>
          <a:prstGeom prst="ellipse">
            <a:avLst/>
          </a:prstGeom>
          <a:solidFill>
            <a:srgbClr val="EEDAD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6565392" y="2231136"/>
            <a:ext cx="1883664" cy="18288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565392" y="2542032"/>
            <a:ext cx="1883664" cy="18288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6565392" y="2852928"/>
            <a:ext cx="1883664" cy="18288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6565392" y="3163824"/>
            <a:ext cx="1883664" cy="18288"/>
          </a:xfrm>
          <a:prstGeom prst="rect">
            <a:avLst/>
          </a:prstGeom>
          <a:solidFill>
            <a:srgbClr val="C9DCD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6528816" y="370332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population into homogeneous strata, then sample randomly within each. Gains precision.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9134856" y="1554480"/>
            <a:ext cx="2651760" cy="43434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9134856" y="1554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9134856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50" dirty="0"/>
          </a:p>
        </p:txBody>
      </p:sp>
      <p:sp>
        <p:nvSpPr>
          <p:cNvPr id="97" name="Shape 95"/>
          <p:cNvSpPr/>
          <p:nvPr/>
        </p:nvSpPr>
        <p:spPr>
          <a:xfrm>
            <a:off x="9518904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9829800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10140696" y="228600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10451592" y="2286000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10762488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11073384" y="2286000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9518904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9829800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10140696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10451592" y="2596896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10762488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11073384" y="2596896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9518904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9829800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10140696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10451592" y="2907792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10762488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11073384" y="2907792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9518904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9829800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10140696" y="3218688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10451592" y="3218688"/>
            <a:ext cx="173736" cy="173736"/>
          </a:xfrm>
          <a:prstGeom prst="ellipse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0762488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1073384" y="3218688"/>
            <a:ext cx="173736" cy="173736"/>
          </a:xfrm>
          <a:prstGeom prst="ellipse">
            <a:avLst/>
          </a:prstGeom>
          <a:solidFill>
            <a:srgbClr val="C6D6D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9445752" y="2212848"/>
            <a:ext cx="667512" cy="12527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A8C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10067544" y="2212848"/>
            <a:ext cx="667512" cy="125272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E0A0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10689336" y="2212848"/>
            <a:ext cx="667512" cy="12527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A8C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9390888" y="370332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naturally occurring clusters, randomly choose whole clusters, survey everyone inside. Cheapest.</a:t>
            </a:r>
            <a:endParaRPr lang="en-US" sz="1150" dirty="0"/>
          </a:p>
        </p:txBody>
      </p:sp>
      <p:sp>
        <p:nvSpPr>
          <p:cNvPr id="125" name="Text 123"/>
          <p:cNvSpPr/>
          <p:nvPr/>
        </p:nvSpPr>
        <p:spPr>
          <a:xfrm>
            <a:off x="548640" y="594360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dots = selected units.   Source: Anderson, Sweeney et al. Ch. 7 ‘Other Sampling Methods’.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sampling method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the population structure and the budget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10996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the frame 1…N; draw n numbers at 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population is fairly homogeneous and a full list exists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complete frame; can miss small subgroups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start, then every k-th unit, k = N/n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is long and ordered arbitrarily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periodicity in the list biases the 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into strata, sample randomly inside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Subgroups differ from each other but are similar inside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know stratum sizes in advance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into clusters, select whole clusters at 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population is geographically spread and travel is costly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precise per unit; clusters must be internally varied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8056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8680" y="45902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Non-probability sampling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937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Convenience, judgment, quota and snowball samples. Fast and cheap, and common in student projects — but the selection probabilities are unknown, so no valid confidence interval or hypothesis test can be computed from them.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44805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629400" y="4590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biases to name in your report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— the frame excludes part of the population.   Non-response bias — those who reply differ from those who do not.   Measurement bias — the question itself pushes the answer.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in Business Research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privacy and honest presentation — the parts nobody audits until it is too late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statistical practice goes wrong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Unethical behaviour in a statistical study takes five recurring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8580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sampling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6276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frame or method that quietly excludes the people who would disagree.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6858000" cy="768096"/>
          </a:xfrm>
          <a:prstGeom prst="roundRect">
            <a:avLst>
              <a:gd name="adj" fmla="val 1071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4871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4871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test whose assumptions the data plainly violate, then reporting the p-value anyway.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68580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graphs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3467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axes, missing baselines, 3-D effects, unequal category widths.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51376"/>
            <a:ext cx="6858000" cy="768096"/>
          </a:xfrm>
          <a:prstGeom prst="roundRect">
            <a:avLst>
              <a:gd name="adj" fmla="val 1071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4306824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summaries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206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mean when the distribution is badly skewed and the median tells a different story.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10912"/>
            <a:ext cx="685800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06577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interpretation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50657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only the results that support the decision already taken.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80960" y="1572768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0100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you are held to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01000" y="2606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fair, thorough, objective and neutral as you collect, analyse and present data — and be alert to the possibility of unethical behaviour by others whose numbers you consume.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28432" y="4206240"/>
            <a:ext cx="914400" cy="36576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001000" y="43891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American Statistical Association’s ‘Ethical Guidelines for Statistical Practice’ sets out 67 guidelines across eight areas — from professionalism to responsibilities to research subjects.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privacy: GDPR and India’s DPDP 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project touches personal data, these obligations apply to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77393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4128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legal basis — usually informed consent — before you collect anything.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177393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18888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6864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why you are collecting the data; do not reuse it for a different purpose later.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2480" y="177393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13648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1624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the fields your analysis actually needs. Do not ask for a phone number you will never call.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" y="3255264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24128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" y="3584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records correct and up to date; correct them when a subject asks.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03580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17720" y="3255264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18888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26864" y="3584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raw data once the study is complete and the retention period ends.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03580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412480" y="3255264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13648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security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21624" y="3584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file. Anonymise or pseudonymise identifiers before you share a worksheet.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8680" y="46817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Rights the data subject holds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50109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rectification · erasure · restriction of processing · portability · objection · and rights relating to automated decision-making.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5720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29400" y="46817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India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50109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Personal Data Protection Act, 2023 applies similar principles — notice, consent, purpose limitation, and the rights to access, correct and erase. Verifiable parental consent is required for anyone under 18.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chart 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two axes — and two completely different board meetings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691640"/>
          <a:ext cx="5349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263640" y="1691640"/>
          <a:ext cx="5349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663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49808" y="5230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value axes at zero </a:t>
            </a: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bar and column charts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10712" y="51663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3611880" y="5230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relative basis </a:t>
            </a: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percentages, not raw counts, when groups differ in size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72784" y="51663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473952" y="5230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chart junk </a:t>
            </a: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3-D, no gradients, no decorative clutter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134856" y="51663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9336024" y="5230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axes and the source </a:t>
            </a: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time, without exception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Data in Excel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worksheet is not housekeeping — it is the first analytical step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worksheet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terms, then the one layout rule that makes everything else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18488"/>
            <a:ext cx="68580" cy="82296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190195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file. A collection of worksheets and chart sheets.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68580" cy="82296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517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Worksheet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grid of columns and rows. Keep raw data and results on separate sheets.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76472"/>
            <a:ext cx="68580" cy="82296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3730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405993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of a column and a row — B4.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855464"/>
            <a:ext cx="68580" cy="82296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48097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range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513892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contiguous rectangular block — B4:E20. This is what every Excel tool asks you for.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011680"/>
          <a:ext cx="61722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0" y="42976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per column · one observation per row · no blank rows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461772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1–5 of the PelicanStores dataset (Anderson &amp; Sweeney, Table 2.19)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0" y="5029200"/>
            <a:ext cx="6172200" cy="868680"/>
          </a:xfrm>
          <a:prstGeom prst="roundRect">
            <a:avLst>
              <a:gd name="adj" fmla="val 947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715000" y="512064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 — tidy, rectangular, one header row — is what PivotTables, the Analysis ToolPak and every chart tool expect. Break it and nothing downstream works.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an effective worksheet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that will save you in the capstone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0408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column ranges with variables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62763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= one variable, with a single descriptive header in row 1.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7040880" cy="804672"/>
          </a:xfrm>
          <a:prstGeom prst="roundRect">
            <a:avLst>
              <a:gd name="adj" fmla="val 10227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237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rows as you enter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5237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 truncate ranges silently — your mean is then computed on half the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70408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4198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 from results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34198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on one sheet, calculations and output on another. Never overwrite the source.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7040880" cy="804672"/>
          </a:xfrm>
          <a:prstGeom prst="roundRect">
            <a:avLst>
              <a:gd name="adj" fmla="val 10227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3159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calculation chain visible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60520" y="43159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should be able to trace every number back to the starting data.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138928"/>
            <a:ext cx="70408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5312664"/>
            <a:ext cx="457200" cy="457200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212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two versions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60520" y="5212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laid out for the screen, one for the printer or the report.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0" y="1554480"/>
            <a:ext cx="3794760" cy="4443984"/>
          </a:xfrm>
          <a:prstGeom prst="roundRect">
            <a:avLst>
              <a:gd name="adj" fmla="val 2169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18388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 a submitted workbook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83880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cells inside the data range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 (left-aligned, green triangle)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or symbols typed into the cell: ‘₹ 45,000’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headers stacked in rows 1 and 2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used to encode meaning, with no column recording it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sitting in the middle of the data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Excel data-cleaning toolkit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command lives and what it fixes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› Data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what can be typed into a cell — a list, a date range, a whole number between limits. Stops bad data at entry.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96328" y="1682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95560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› Data Tools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96328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repeated records. Always take a copy of the sheet first — it is not reversible after saving.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77240" y="3355848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31638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Filter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› Sort &amp; Filter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81328" y="34930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records and isolates subsets. Filtering is how you inspect one customer type at a time.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035808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3355848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24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96328" y="31638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Columns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9556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› Data Tools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96328" y="34930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single column into several, and forces text-formatted numbers back into real numbers.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517136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81328" y="4645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· CLEAN · PROPER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80560" y="4645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› Text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81328" y="49743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stray spaces and non-printing characters, and normalises capitalisation in category labels.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4517136"/>
            <a:ext cx="54406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92240" y="4837176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92240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96328" y="4645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95560" y="4645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› Editing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96328" y="49743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Standardises inconsistent labels — ‘M’, ‘Male’ and ‘male’ collapsed into one category.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109960" cy="640080"/>
          </a:xfrm>
          <a:prstGeom prst="roundRect">
            <a:avLst>
              <a:gd name="adj" fmla="val 1285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clean on a copy, keep the original raw file untouched, and record every cleaning decision in a notes sheet.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 — and the reasoning you must record for whichever you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Foundations of Business Research &amp; Statistics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 blank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33172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Excel’s statistical functions ignore truly empty cells. Never type 0 or ‘NA’ into a numeric column — 0 is a value and will drag your mean down.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0712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record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66744" y="233172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defensible when very few records are affected. Dangerous if the missing values are concentrated in one group — that is how bias enters.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72784" y="16002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72784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 value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816" y="233172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column mean or median, or a value predicted from other columns. Reduces variability, so say so in the report.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34856" y="160020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B55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34856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source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90888" y="233172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option when it is available: go back to the record or the respondent and recover the true value.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109960" cy="1005840"/>
          </a:xfrm>
          <a:prstGeom prst="roundRect">
            <a:avLst>
              <a:gd name="adj" fmla="val 8182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blurRad="101600" dist="25400" dir="5400000" algn="bl" rotWithShape="0">
              <a:srgbClr val="0A2226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0109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the value is missing before you decide what to do with it.  </a:t>
            </a:r>
            <a:r>
              <a:rPr lang="en-US" sz="13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because the question did not apply is a different problem from a blank because the respondent refused — and only the second one threatens your conclusions.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4356</Words>
  <Application>Microsoft Office PowerPoint</Application>
  <PresentationFormat>Widescreen</PresentationFormat>
  <Paragraphs>657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 Puneet Kumar</cp:lastModifiedBy>
  <cp:revision>3</cp:revision>
  <dcterms:created xsi:type="dcterms:W3CDTF">2026-08-02T18:01:28Z</dcterms:created>
  <dcterms:modified xsi:type="dcterms:W3CDTF">2026-08-06T05:29:14Z</dcterms:modified>
</cp:coreProperties>
</file>