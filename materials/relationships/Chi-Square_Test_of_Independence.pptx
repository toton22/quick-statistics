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1" r:id="rId3"/>
    <p:sldId id="262" r:id="rId4"/>
    <p:sldId id="264" r:id="rId5"/>
    <p:sldId id="265" r:id="rId6"/>
    <p:sldId id="266" r:id="rId7"/>
    <p:sldId id="267" r:id="rId8"/>
    <p:sldId id="268" r:id="rId9"/>
    <p:sldId id="270" r:id="rId10"/>
    <p:sldId id="385" r:id="rId11"/>
    <p:sldId id="386" r:id="rId12"/>
    <p:sldId id="387" r:id="rId13"/>
    <p:sldId id="388" r:id="rId14"/>
    <p:sldId id="389" r:id="rId15"/>
    <p:sldId id="304" r:id="rId16"/>
    <p:sldId id="281" r:id="rId17"/>
    <p:sldId id="28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B15989E-78C0-D589-78B6-3F727B2A8C35}">
          <p14:sldIdLst>
            <p14:sldId id="256"/>
          </p14:sldIdLst>
        </p14:section>
        <p14:section name="01 The idea" id="{D7CB80BA-0B15-4632-B4A5-5C16A5EBCE35}">
          <p14:sldIdLst>
            <p14:sldId id="261"/>
            <p14:sldId id="262"/>
          </p14:sldIdLst>
        </p14:section>
        <p14:section name="02 The mechanics" id="{0B78FB99-1AE4-3619-DCD1-D0D3FC20FAB4}">
          <p14:sldIdLst>
            <p14:sldId id="264"/>
            <p14:sldId id="265"/>
            <p14:sldId id="266"/>
            <p14:sldId id="267"/>
            <p14:sldId id="268"/>
            <p14:sldId id="270"/>
            <p14:sldId id="385"/>
            <p14:sldId id="386"/>
            <p14:sldId id="387"/>
            <p14:sldId id="388"/>
            <p14:sldId id="389"/>
          </p14:sldIdLst>
        </p14:section>
        <p14:section name="03 Expert toolkit" id="{CD5F8552-3D48-6A3D-18B0-A31B5B4ECB03}">
          <p14:sldIdLst>
            <p14:sldId id="304"/>
            <p14:sldId id="281"/>
            <p14:sldId id="282"/>
          </p14:sldIdLst>
        </p14:section>
        <p14:section name="04 Management cases" id="{93B5E527-7CDA-08AD-1267-14815BFD1BA2}">
          <p14:sldIdLst/>
        </p14:section>
        <p14:section name="Wrap-up" id="{73272864-0B73-4E60-B07E-EDA5AD4AED7C}">
          <p14:sldIdLst/>
        </p14:section>
        <p14:section name="Appendix" id="{8D210DBD-EC51-E2A5-2417-EA7D5B2261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085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quick show of hands: who used an AI tool this week? Keep that number in mind. The worked example today asks whether AI usage depends on age, using the survey of 1,440 people from the reference video.
The numbers on the right are the real observed counts from that video. By the end, every student should be able to run this test by hand, in Excel, and explain the answer to a manager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piece by piece. Age group runs down the rows and AI usage across the columns. Each inner cell is an observed count.
Totals on the edges are called marginal totals, because they sit in the margins. And the bottom-right number is the grand total, n. In the video this is a 3 by 2 table: rows first, then columns.
A small note for you: the reference video names only the 'Under 30' band on screen, so the labels '30–49' and '50 &amp; above' are our assumption. The counts are exactly the video's.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students to say H0 in their own words before you reveal it. The usual trap: thinking H0 means 'nobody uses AI' or 'the groups are the same size'. It means the usage pattern is the same in every age group.
Then ask what a marketing head would do differently under each hypothesis. That's the whole reason we test.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arithmetic, exactly as the reference video does it. Go slowly here. Everything later builds on these five slides.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idea students must own. Expected counts are what we'd see if H0 were true. Independence means you can multiply probabilities: the chance of being under 30 times the chance of using AI.
Multiply by n and the arithmetic collapses to row total times column total over grand total. Have them compute one more cell on their own: 30–49 and Yes. They should get 456 × 809 ÷ 1,440 = 256.18.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checks the video mentions. First, the expected totals match the observed totals, give or take rounding. If they don't, someone made an arithmetic slip.
Second, every expected count is at least 5, so the test is valid. The smallest here is 199.82, nowhere near the limit.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cell's contribution is the squared gap between observed and expected, scaled by the expected count. Squaring removes the sign, so over and under both add to the total. Dividing by E keeps big cells from dominating just because they're big.
Point at the 50-plus row: it supplies about 23.6 of the 37.26. That's a preview of the residual analysis later. The video says 37.27 in one place and 37.26 in another; it's rounding, nothing more.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Degrees of freedom count how many cells you could fill in freely once the totals are fixed. In a 3 by 2 table, pick two counts in the Yes column and everything else is forced by subtraction. Hence df = 2.
Quick drill: ask for the df of a 4 by 3 table. Answer: 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routes always agree, so use whichever the question gives you. Printed tables give critical values; software gives p-values. Make students write the conclusion in context: 'age and AI usage are associated', not just 'reject H0'.
A manager can't act on 'reject H0'.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is built to trip people up. Many students will jump straight to χ². Make them compute the expected 'Not placed' column first.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confuse these constantly. Goodness of fit has one variable. Independence and homogeneity both use two-way tables and the same arithmetic; the difference is the sampling design.
One sample classified two ways is independence. Separate samples drawn from each group is homogeneity. Case 6 is technically homogeneity, since exactly 300 people were sampled per city tier.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is where most MBA grads will run this. CHISQ.TEST needs both the observed and the expected ranges, so build the expected table first with the row times column over n formula and absolute references. Python and R apply Yates' correction to 2 by 2 tables by default; switch it off to match hand calculations, or leave it on and say so.
SPSS gives the full package, including Cramér's V and adjusted residuals, from one dialog.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6583680" cy="365760"/>
          </a:xfrm>
          <a:prstGeom prst="rect">
            <a:avLst/>
          </a:prstGeom>
          <a:noFill/>
          <a:ln/>
        </p:spPr>
        <p:txBody>
          <a:bodyPr wrap="square" rtlCol="0"/>
          <a:lstStyle>
            <a:lvl1pPr marL="0" indent="0">
              <a:buNone/>
              <a:defRPr lang="en-US" sz="1400" b="1" kern="0" spc="300" dirty="0">
                <a:solidFill>
                  <a:schemeClr val="accent2"/>
                </a:solidFill>
              </a:defRPr>
            </a:lvl1pPr>
          </a:lstStyle>
          <a:p>
            <a:pPr marL="0" indent="0">
              <a:buNone/>
            </a:pPr>
            <a:endParaRPr lang="en-US" sz="1400" dirty="0"/>
          </a:p>
        </p:txBody>
      </p:sp>
      <p:sp>
        <p:nvSpPr>
          <p:cNvPr id="3" name="Text 0"/>
          <p:cNvSpPr>
            <a:spLocks noGrp="1"/>
          </p:cNvSpPr>
          <p:nvPr>
            <p:ph type="title" idx="101" hasCustomPrompt="1"/>
          </p:nvPr>
        </p:nvSpPr>
        <p:spPr>
          <a:xfrm>
            <a:off x="731520" y="1874520"/>
            <a:ext cx="6766560" cy="19202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731520" y="3977640"/>
            <a:ext cx="6400800" cy="1097280"/>
          </a:xfrm>
          <a:prstGeom prst="rect">
            <a:avLst/>
          </a:prstGeom>
          <a:noFill/>
          <a:ln/>
        </p:spPr>
        <p:txBody>
          <a:bodyPr wrap="square" rtlCol="0"/>
          <a:lstStyle>
            <a:lvl1pPr marL="0" indent="0">
              <a:buNone/>
              <a:defRPr lang="en-US" sz="1800" dirty="0">
                <a:solidFill>
                  <a:schemeClr val="accent6"/>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371600"/>
            <a:ext cx="3200400" cy="1371600"/>
          </a:xfrm>
          <a:prstGeom prst="rect">
            <a:avLst/>
          </a:prstGeom>
          <a:noFill/>
          <a:ln/>
        </p:spPr>
        <p:txBody>
          <a:bodyPr wrap="square" rtlCol="0"/>
          <a:lstStyle>
            <a:lvl1pPr marL="0" indent="0">
              <a:buNone/>
              <a:defRPr lang="en-US" sz="8800" b="1" dirty="0">
                <a:solidFill>
                  <a:schemeClr val="accent2"/>
                </a:solidFill>
                <a:latin typeface="Cambria" pitchFamily="34" charset="0"/>
                <a:ea typeface="Cambria" pitchFamily="34" charset="-122"/>
                <a:cs typeface="Cambria" pitchFamily="34" charset="-120"/>
              </a:defRPr>
            </a:lvl1pPr>
          </a:lstStyle>
          <a:p>
            <a:pPr marL="0" indent="0">
              <a:buNone/>
            </a:pPr>
            <a:endParaRPr lang="en-US" sz="8800" dirty="0"/>
          </a:p>
        </p:txBody>
      </p:sp>
      <p:sp>
        <p:nvSpPr>
          <p:cNvPr id="3" name="Text 0"/>
          <p:cNvSpPr>
            <a:spLocks noGrp="1"/>
          </p:cNvSpPr>
          <p:nvPr>
            <p:ph type="title" idx="101" hasCustomPrompt="1"/>
          </p:nvPr>
        </p:nvSpPr>
        <p:spPr>
          <a:xfrm>
            <a:off x="731520" y="2880360"/>
            <a:ext cx="6949440" cy="9144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731520" y="3931920"/>
            <a:ext cx="6583680" cy="1188720"/>
          </a:xfrm>
          <a:prstGeom prst="rect">
            <a:avLst/>
          </a:prstGeom>
          <a:noFill/>
          <a:ln/>
        </p:spPr>
        <p:txBody>
          <a:bodyPr wrap="square" rtlCol="0"/>
          <a:lstStyle>
            <a:lvl1pPr marL="0" indent="0">
              <a:buNone/>
              <a:defRPr lang="en-US" sz="1800" dirty="0">
                <a:solidFill>
                  <a:schemeClr val="accent6"/>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4" name="Text 0"/>
          <p:cNvSpPr txBox="1"/>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Chi-Square Test of Independence  ·  MBA Business Statistics</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392108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6583680" cy="365760"/>
          </a:xfrm>
          <a:prstGeom prst="rect">
            <a:avLst/>
          </a:prstGeom>
          <a:noFill/>
          <a:ln/>
        </p:spPr>
        <p:txBody>
          <a:bodyPr wrap="square" lIns="0" tIns="0" rIns="0" bIns="0" rtlCol="0" anchor="t"/>
          <a:lstStyle/>
          <a:p>
            <a:pPr marL="0" indent="0">
              <a:buNone/>
            </a:pPr>
            <a:r>
              <a:rPr lang="en-US" sz="1400" b="1" kern="0" spc="300" dirty="0">
                <a:solidFill>
                  <a:schemeClr val="accent2"/>
                </a:solidFill>
              </a:rPr>
              <a:t>MBA BUSINESS STATISTICS</a:t>
            </a:r>
            <a:endParaRPr lang="en-US" sz="1400" dirty="0"/>
          </a:p>
        </p:txBody>
      </p:sp>
      <p:sp>
        <p:nvSpPr>
          <p:cNvPr id="3" name="Text 0"/>
          <p:cNvSpPr>
            <a:spLocks noGrp="1"/>
          </p:cNvSpPr>
          <p:nvPr>
            <p:ph type="title" idx="101" hasCustomPrompt="1"/>
          </p:nvPr>
        </p:nvSpPr>
        <p:spPr>
          <a:xfrm>
            <a:off x="731520" y="1874520"/>
            <a:ext cx="10533380" cy="1097280"/>
          </a:xfrm>
          <a:prstGeom prst="rect">
            <a:avLst/>
          </a:prstGeom>
          <a:noFill/>
          <a:ln/>
        </p:spPr>
        <p:txBody>
          <a:bodyPr wrap="square" lIns="0" tIns="0" rIns="0" bIns="0" rtlCol="0" anchor="t"/>
          <a:lstStyle/>
          <a:p>
            <a:pPr marL="0" indent="0" algn="l">
              <a:buNone/>
            </a:pPr>
            <a:r>
              <a:rPr lang="en-US" sz="4400" b="1" dirty="0">
                <a:solidFill>
                  <a:schemeClr val="bg1"/>
                </a:solidFill>
              </a:rPr>
              <a:t>The Chi-Square Test of Independence</a:t>
            </a:r>
            <a:endParaRPr lang="en-US" sz="4400" dirty="0"/>
          </a:p>
        </p:txBody>
      </p:sp>
      <p:pic>
        <p:nvPicPr>
          <p:cNvPr id="19" name="Picture 18">
            <a:extLst>
              <a:ext uri="{FF2B5EF4-FFF2-40B4-BE49-F238E27FC236}">
                <a16:creationId xmlns:a16="http://schemas.microsoft.com/office/drawing/2014/main" id="{6DB1108C-458D-6A9B-4E38-A4C9580A4D33}"/>
              </a:ext>
            </a:extLst>
          </p:cNvPr>
          <p:cNvPicPr>
            <a:picLocks noChangeAspect="1"/>
          </p:cNvPicPr>
          <p:nvPr/>
        </p:nvPicPr>
        <p:blipFill>
          <a:blip r:embed="rId3"/>
          <a:stretch>
            <a:fillRect/>
          </a:stretch>
        </p:blipFill>
        <p:spPr>
          <a:xfrm>
            <a:off x="1597660" y="2853944"/>
            <a:ext cx="7241540" cy="32670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FOUNDATIONS</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Anatomy of a contingency table</a:t>
            </a:r>
            <a:endParaRPr lang="en-US" sz="3600" dirty="0"/>
          </a:p>
        </p:txBody>
      </p:sp>
      <p:graphicFrame>
        <p:nvGraphicFramePr>
          <p:cNvPr id="7" name="table-91"/>
          <p:cNvGraphicFramePr>
            <a:graphicFrameLocks noGrp="1"/>
          </p:cNvGraphicFramePr>
          <p:nvPr>
            <p:extLst>
              <p:ext uri="{D42A27DB-BD31-4B8C-83A1-F6EECF244321}">
                <p14:modId xmlns:p14="http://schemas.microsoft.com/office/powerpoint/2010/main" val="1579011935"/>
              </p:ext>
            </p:extLst>
          </p:nvPr>
        </p:nvGraphicFramePr>
        <p:xfrm>
          <a:off x="548640" y="1737360"/>
          <a:ext cx="6400800" cy="2834640"/>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66928">
                <a:tc>
                  <a:txBody>
                    <a:bodyPr/>
                    <a:lstStyle/>
                    <a:p>
                      <a:pPr marL="0" indent="0" algn="l">
                        <a:buNone/>
                      </a:pPr>
                      <a:r>
                        <a:rPr lang="en-US" sz="1800" b="1" dirty="0">
                          <a:solidFill>
                            <a:schemeClr val="bg1"/>
                          </a:solidFill>
                          <a:latin typeface="Calibri" pitchFamily="34" charset="0"/>
                          <a:ea typeface="Calibri" pitchFamily="34" charset="-122"/>
                          <a:cs typeface="Calibri" pitchFamily="34" charset="-120"/>
                        </a:rPr>
                        <a:t>Age group</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Uses AI: Yes</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Uses AI: No</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Total</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lgn="l">
                        <a:buNone/>
                      </a:pPr>
                      <a:r>
                        <a:rPr lang="en-US" sz="1800" b="1" dirty="0">
                          <a:solidFill>
                            <a:schemeClr val="tx1"/>
                          </a:solidFill>
                          <a:latin typeface="Calibri" pitchFamily="34" charset="0"/>
                          <a:ea typeface="Calibri" pitchFamily="34" charset="-122"/>
                          <a:cs typeface="Calibri" pitchFamily="34" charset="-120"/>
                        </a:rPr>
                        <a:t>Under 30</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tx1"/>
                          </a:solidFill>
                          <a:latin typeface="Calibri" pitchFamily="34" charset="0"/>
                          <a:ea typeface="Calibri" pitchFamily="34" charset="-122"/>
                          <a:cs typeface="Calibri" pitchFamily="34" charset="-120"/>
                        </a:rPr>
                        <a:t>312</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2"/>
                    </a:solidFill>
                  </a:tcPr>
                </a:tc>
                <a:tc>
                  <a:txBody>
                    <a:bodyPr/>
                    <a:lstStyle/>
                    <a:p>
                      <a:pPr marL="0" indent="0" algn="ctr">
                        <a:buNone/>
                      </a:pPr>
                      <a:r>
                        <a:rPr lang="en-US" sz="1800" dirty="0">
                          <a:solidFill>
                            <a:schemeClr val="tx1"/>
                          </a:solidFill>
                          <a:latin typeface="Calibri" pitchFamily="34" charset="0"/>
                          <a:ea typeface="Calibri" pitchFamily="34" charset="-122"/>
                          <a:cs typeface="Calibri" pitchFamily="34" charset="-120"/>
                        </a:rPr>
                        <a:t>178</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tx1"/>
                          </a:solidFill>
                          <a:latin typeface="Calibri" pitchFamily="34" charset="0"/>
                          <a:ea typeface="Calibri" pitchFamily="34" charset="-122"/>
                          <a:cs typeface="Calibri" pitchFamily="34" charset="-120"/>
                        </a:rPr>
                        <a:t>490</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66928">
                <a:tc>
                  <a:txBody>
                    <a:bodyPr/>
                    <a:lstStyle/>
                    <a:p>
                      <a:pPr marL="0" indent="0" algn="l">
                        <a:buNone/>
                      </a:pPr>
                      <a:r>
                        <a:rPr lang="en-US" sz="1800" b="1" dirty="0">
                          <a:solidFill>
                            <a:schemeClr val="tx1"/>
                          </a:solidFill>
                          <a:latin typeface="Calibri" pitchFamily="34" charset="0"/>
                          <a:ea typeface="Calibri" pitchFamily="34" charset="-122"/>
                          <a:cs typeface="Calibri" pitchFamily="34" charset="-120"/>
                        </a:rPr>
                        <a:t>30–49</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800" dirty="0">
                          <a:solidFill>
                            <a:schemeClr val="tx1"/>
                          </a:solidFill>
                          <a:latin typeface="Calibri" pitchFamily="34" charset="0"/>
                          <a:ea typeface="Calibri" pitchFamily="34" charset="-122"/>
                          <a:cs typeface="Calibri" pitchFamily="34" charset="-120"/>
                        </a:rPr>
                        <a:t>273</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800" dirty="0">
                          <a:solidFill>
                            <a:schemeClr val="tx1"/>
                          </a:solidFill>
                          <a:latin typeface="Calibri" pitchFamily="34" charset="0"/>
                          <a:ea typeface="Calibri" pitchFamily="34" charset="-122"/>
                          <a:cs typeface="Calibri" pitchFamily="34" charset="-120"/>
                        </a:rPr>
                        <a:t>183</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tx1"/>
                          </a:solidFill>
                          <a:latin typeface="Calibri" pitchFamily="34" charset="0"/>
                          <a:ea typeface="Calibri" pitchFamily="34" charset="-122"/>
                          <a:cs typeface="Calibri" pitchFamily="34" charset="-120"/>
                        </a:rPr>
                        <a:t>456</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66928">
                <a:tc>
                  <a:txBody>
                    <a:bodyPr/>
                    <a:lstStyle/>
                    <a:p>
                      <a:pPr marL="0" indent="0" algn="l">
                        <a:buNone/>
                      </a:pPr>
                      <a:r>
                        <a:rPr lang="en-US" sz="1800" b="1" dirty="0">
                          <a:solidFill>
                            <a:schemeClr val="tx1"/>
                          </a:solidFill>
                          <a:latin typeface="Calibri" pitchFamily="34" charset="0"/>
                          <a:ea typeface="Calibri" pitchFamily="34" charset="-122"/>
                          <a:cs typeface="Calibri" pitchFamily="34" charset="-120"/>
                        </a:rPr>
                        <a:t>50 &amp; above</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800" dirty="0">
                          <a:solidFill>
                            <a:schemeClr val="tx1"/>
                          </a:solidFill>
                          <a:latin typeface="Calibri" pitchFamily="34" charset="0"/>
                          <a:ea typeface="Calibri" pitchFamily="34" charset="-122"/>
                          <a:cs typeface="Calibri" pitchFamily="34" charset="-120"/>
                        </a:rPr>
                        <a:t>224</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800" dirty="0">
                          <a:solidFill>
                            <a:schemeClr val="tx1"/>
                          </a:solidFill>
                          <a:latin typeface="Calibri" pitchFamily="34" charset="0"/>
                          <a:ea typeface="Calibri" pitchFamily="34" charset="-122"/>
                          <a:cs typeface="Calibri" pitchFamily="34" charset="-120"/>
                        </a:rPr>
                        <a:t>270</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tx1"/>
                          </a:solidFill>
                          <a:latin typeface="Calibri" pitchFamily="34" charset="0"/>
                          <a:ea typeface="Calibri" pitchFamily="34" charset="-122"/>
                          <a:cs typeface="Calibri" pitchFamily="34" charset="-120"/>
                        </a:rPr>
                        <a:t>494</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66928">
                <a:tc>
                  <a:txBody>
                    <a:bodyPr/>
                    <a:lstStyle/>
                    <a:p>
                      <a:pPr marL="0" indent="0" algn="l">
                        <a:buNone/>
                      </a:pPr>
                      <a:r>
                        <a:rPr lang="en-US" sz="1800" b="1" dirty="0">
                          <a:solidFill>
                            <a:schemeClr val="tx1"/>
                          </a:solidFill>
                          <a:latin typeface="Calibri" pitchFamily="34" charset="0"/>
                          <a:ea typeface="Calibri" pitchFamily="34" charset="-122"/>
                          <a:cs typeface="Calibri" pitchFamily="34" charset="-120"/>
                        </a:rPr>
                        <a:t>Total</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6"/>
                    </a:solidFill>
                  </a:tcPr>
                </a:tc>
                <a:tc>
                  <a:txBody>
                    <a:bodyPr/>
                    <a:lstStyle/>
                    <a:p>
                      <a:pPr marL="0" indent="0" algn="ctr">
                        <a:buNone/>
                      </a:pPr>
                      <a:r>
                        <a:rPr lang="en-US" sz="1800" b="1" dirty="0">
                          <a:solidFill>
                            <a:schemeClr val="tx1"/>
                          </a:solidFill>
                          <a:latin typeface="Calibri" pitchFamily="34" charset="0"/>
                          <a:ea typeface="Calibri" pitchFamily="34" charset="-122"/>
                          <a:cs typeface="Calibri" pitchFamily="34" charset="-120"/>
                        </a:rPr>
                        <a:t>809</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6"/>
                    </a:solidFill>
                  </a:tcPr>
                </a:tc>
                <a:tc>
                  <a:txBody>
                    <a:bodyPr/>
                    <a:lstStyle/>
                    <a:p>
                      <a:pPr marL="0" indent="0" algn="ctr">
                        <a:buNone/>
                      </a:pPr>
                      <a:r>
                        <a:rPr lang="en-US" sz="1800" b="1" dirty="0">
                          <a:solidFill>
                            <a:schemeClr val="tx1"/>
                          </a:solidFill>
                          <a:latin typeface="Calibri" pitchFamily="34" charset="0"/>
                          <a:ea typeface="Calibri" pitchFamily="34" charset="-122"/>
                          <a:cs typeface="Calibri" pitchFamily="34" charset="-120"/>
                        </a:rPr>
                        <a:t>631</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6"/>
                    </a:solidFill>
                  </a:tcPr>
                </a:tc>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1,440</a:t>
                      </a:r>
                      <a:endParaRPr lang="en-US" sz="18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5" name="text-92"/>
          <p:cNvSpPr txBox="1"/>
          <p:nvPr/>
        </p:nvSpPr>
        <p:spPr>
          <a:xfrm>
            <a:off x="548640" y="4709160"/>
            <a:ext cx="6400800" cy="365760"/>
          </a:xfrm>
          <a:prstGeom prst="rect">
            <a:avLst/>
          </a:prstGeom>
          <a:noFill/>
          <a:ln/>
        </p:spPr>
        <p:txBody>
          <a:bodyPr wrap="square" lIns="0" tIns="0" rIns="0" bIns="0" rtlCol="0" anchor="t"/>
          <a:lstStyle/>
          <a:p>
            <a:pPr marL="0" indent="0">
              <a:buNone/>
            </a:pPr>
            <a:r>
              <a:rPr lang="en-US" sz="1300" i="1" dirty="0">
                <a:solidFill>
                  <a:schemeClr val="accent5"/>
                </a:solidFill>
              </a:rPr>
              <a:t>Also called a two-way table, cross-classification table or cross-tab</a:t>
            </a:r>
            <a:endParaRPr lang="en-US" sz="1300" dirty="0"/>
          </a:p>
        </p:txBody>
      </p:sp>
      <p:sp>
        <p:nvSpPr>
          <p:cNvPr id="6" name="key-93"/>
          <p:cNvSpPr/>
          <p:nvPr/>
        </p:nvSpPr>
        <p:spPr>
          <a:xfrm>
            <a:off x="7406640" y="1783080"/>
            <a:ext cx="411480" cy="411480"/>
          </a:xfrm>
          <a:prstGeom prst="roundRect">
            <a:avLst>
              <a:gd name="adj" fmla="val 17778"/>
            </a:avLst>
          </a:prstGeom>
          <a:solidFill>
            <a:schemeClr val="accent2"/>
          </a:solidFill>
          <a:ln/>
        </p:spPr>
        <p:txBody>
          <a:bodyPr/>
          <a:lstStyle/>
          <a:p>
            <a:endParaRPr lang="en-IN"/>
          </a:p>
        </p:txBody>
      </p:sp>
      <p:sp>
        <p:nvSpPr>
          <p:cNvPr id="4" name="text-94"/>
          <p:cNvSpPr txBox="1"/>
          <p:nvPr/>
        </p:nvSpPr>
        <p:spPr>
          <a:xfrm>
            <a:off x="8001000" y="1737360"/>
            <a:ext cx="3657600" cy="365760"/>
          </a:xfrm>
          <a:prstGeom prst="rect">
            <a:avLst/>
          </a:prstGeom>
          <a:noFill/>
          <a:ln/>
        </p:spPr>
        <p:txBody>
          <a:bodyPr wrap="square" lIns="0" tIns="0" rIns="0" bIns="0" rtlCol="0" anchor="t"/>
          <a:lstStyle/>
          <a:p>
            <a:pPr marL="0" indent="0">
              <a:buNone/>
            </a:pPr>
            <a:r>
              <a:rPr lang="en-US" sz="1800" b="1" dirty="0">
                <a:solidFill>
                  <a:schemeClr val="tx2"/>
                </a:solidFill>
              </a:rPr>
              <a:t>Cell</a:t>
            </a:r>
            <a:endParaRPr lang="en-US" sz="1800" dirty="0"/>
          </a:p>
        </p:txBody>
      </p:sp>
      <p:sp>
        <p:nvSpPr>
          <p:cNvPr id="8" name="text-95"/>
          <p:cNvSpPr txBox="1"/>
          <p:nvPr/>
        </p:nvSpPr>
        <p:spPr>
          <a:xfrm>
            <a:off x="8001000" y="2103120"/>
            <a:ext cx="3657600" cy="502920"/>
          </a:xfrm>
          <a:prstGeom prst="rect">
            <a:avLst/>
          </a:prstGeom>
          <a:noFill/>
          <a:ln/>
        </p:spPr>
        <p:txBody>
          <a:bodyPr wrap="square" lIns="0" tIns="0" rIns="0" bIns="0" rtlCol="0" anchor="t"/>
          <a:lstStyle/>
          <a:p>
            <a:pPr marL="0" indent="0">
              <a:buNone/>
            </a:pPr>
            <a:r>
              <a:rPr lang="en-US" sz="1400" dirty="0">
                <a:solidFill>
                  <a:schemeClr val="accent5"/>
                </a:solidFill>
              </a:rPr>
              <a:t>One observed count, O. Here: 312 under-30s use AI.</a:t>
            </a:r>
            <a:endParaRPr lang="en-US" sz="1400" dirty="0"/>
          </a:p>
        </p:txBody>
      </p:sp>
      <p:sp>
        <p:nvSpPr>
          <p:cNvPr id="9" name="key-96"/>
          <p:cNvSpPr/>
          <p:nvPr/>
        </p:nvSpPr>
        <p:spPr>
          <a:xfrm>
            <a:off x="7406640" y="2743200"/>
            <a:ext cx="411480" cy="411480"/>
          </a:xfrm>
          <a:prstGeom prst="roundRect">
            <a:avLst>
              <a:gd name="adj" fmla="val 17778"/>
            </a:avLst>
          </a:prstGeom>
          <a:solidFill>
            <a:schemeClr val="accent6"/>
          </a:solidFill>
          <a:ln/>
        </p:spPr>
        <p:txBody>
          <a:bodyPr/>
          <a:lstStyle/>
          <a:p>
            <a:endParaRPr lang="en-IN"/>
          </a:p>
        </p:txBody>
      </p:sp>
      <p:sp>
        <p:nvSpPr>
          <p:cNvPr id="10" name="text-97"/>
          <p:cNvSpPr txBox="1"/>
          <p:nvPr/>
        </p:nvSpPr>
        <p:spPr>
          <a:xfrm>
            <a:off x="8001000" y="2697480"/>
            <a:ext cx="3657600" cy="365760"/>
          </a:xfrm>
          <a:prstGeom prst="rect">
            <a:avLst/>
          </a:prstGeom>
          <a:noFill/>
          <a:ln/>
        </p:spPr>
        <p:txBody>
          <a:bodyPr wrap="square" lIns="0" tIns="0" rIns="0" bIns="0" rtlCol="0" anchor="t"/>
          <a:lstStyle/>
          <a:p>
            <a:pPr marL="0" indent="0">
              <a:buNone/>
            </a:pPr>
            <a:r>
              <a:rPr lang="en-US" sz="1800" b="1" dirty="0">
                <a:solidFill>
                  <a:schemeClr val="tx2"/>
                </a:solidFill>
              </a:rPr>
              <a:t>Marginal totals</a:t>
            </a:r>
            <a:endParaRPr lang="en-US" sz="1800" dirty="0"/>
          </a:p>
        </p:txBody>
      </p:sp>
      <p:sp>
        <p:nvSpPr>
          <p:cNvPr id="11" name="text-98"/>
          <p:cNvSpPr txBox="1"/>
          <p:nvPr/>
        </p:nvSpPr>
        <p:spPr>
          <a:xfrm>
            <a:off x="8001000" y="3063240"/>
            <a:ext cx="3657600" cy="502920"/>
          </a:xfrm>
          <a:prstGeom prst="rect">
            <a:avLst/>
          </a:prstGeom>
          <a:noFill/>
          <a:ln/>
        </p:spPr>
        <p:txBody>
          <a:bodyPr wrap="square" lIns="0" tIns="0" rIns="0" bIns="0" rtlCol="0" anchor="t"/>
          <a:lstStyle/>
          <a:p>
            <a:pPr marL="0" indent="0">
              <a:buNone/>
            </a:pPr>
            <a:r>
              <a:rPr lang="en-US" sz="1400" dirty="0">
                <a:solidFill>
                  <a:schemeClr val="accent5"/>
                </a:solidFill>
              </a:rPr>
              <a:t>Row and column totals, sitting in the margins.</a:t>
            </a:r>
            <a:endParaRPr lang="en-US" sz="1400" dirty="0"/>
          </a:p>
        </p:txBody>
      </p:sp>
      <p:sp>
        <p:nvSpPr>
          <p:cNvPr id="12" name="key-99"/>
          <p:cNvSpPr/>
          <p:nvPr/>
        </p:nvSpPr>
        <p:spPr>
          <a:xfrm>
            <a:off x="7406640" y="3703320"/>
            <a:ext cx="411480" cy="411480"/>
          </a:xfrm>
          <a:prstGeom prst="roundRect">
            <a:avLst>
              <a:gd name="adj" fmla="val 17778"/>
            </a:avLst>
          </a:prstGeom>
          <a:solidFill>
            <a:schemeClr val="accent1"/>
          </a:solidFill>
          <a:ln/>
        </p:spPr>
        <p:txBody>
          <a:bodyPr/>
          <a:lstStyle/>
          <a:p>
            <a:endParaRPr lang="en-IN"/>
          </a:p>
        </p:txBody>
      </p:sp>
      <p:sp>
        <p:nvSpPr>
          <p:cNvPr id="13" name="text-100"/>
          <p:cNvSpPr txBox="1"/>
          <p:nvPr/>
        </p:nvSpPr>
        <p:spPr>
          <a:xfrm>
            <a:off x="8001000" y="3657600"/>
            <a:ext cx="3657600" cy="365760"/>
          </a:xfrm>
          <a:prstGeom prst="rect">
            <a:avLst/>
          </a:prstGeom>
          <a:noFill/>
          <a:ln/>
        </p:spPr>
        <p:txBody>
          <a:bodyPr wrap="square" lIns="0" tIns="0" rIns="0" bIns="0" rtlCol="0" anchor="t"/>
          <a:lstStyle/>
          <a:p>
            <a:pPr marL="0" indent="0">
              <a:buNone/>
            </a:pPr>
            <a:r>
              <a:rPr lang="en-US" sz="1800" b="1" dirty="0">
                <a:solidFill>
                  <a:schemeClr val="tx2"/>
                </a:solidFill>
              </a:rPr>
              <a:t>Grand total, n</a:t>
            </a:r>
            <a:endParaRPr lang="en-US" sz="1800" dirty="0"/>
          </a:p>
        </p:txBody>
      </p:sp>
      <p:sp>
        <p:nvSpPr>
          <p:cNvPr id="14" name="text-101"/>
          <p:cNvSpPr txBox="1"/>
          <p:nvPr/>
        </p:nvSpPr>
        <p:spPr>
          <a:xfrm>
            <a:off x="8001000" y="4023360"/>
            <a:ext cx="3657600" cy="502920"/>
          </a:xfrm>
          <a:prstGeom prst="rect">
            <a:avLst/>
          </a:prstGeom>
          <a:noFill/>
          <a:ln/>
        </p:spPr>
        <p:txBody>
          <a:bodyPr wrap="square" lIns="0" tIns="0" rIns="0" bIns="0" rtlCol="0" anchor="t"/>
          <a:lstStyle/>
          <a:p>
            <a:pPr marL="0" indent="0">
              <a:buNone/>
            </a:pPr>
            <a:r>
              <a:rPr lang="en-US" sz="1400" dirty="0">
                <a:solidFill>
                  <a:schemeClr val="accent5"/>
                </a:solidFill>
              </a:rPr>
              <a:t>Everyone in the sample: 1,440.</a:t>
            </a:r>
            <a:endParaRPr lang="en-US" sz="1400" dirty="0"/>
          </a:p>
        </p:txBody>
      </p:sp>
      <p:sp>
        <p:nvSpPr>
          <p:cNvPr id="15" name="card-102"/>
          <p:cNvSpPr/>
          <p:nvPr/>
        </p:nvSpPr>
        <p:spPr>
          <a:xfrm>
            <a:off x="7406640" y="4709160"/>
            <a:ext cx="4206240" cy="1371600"/>
          </a:xfrm>
          <a:prstGeom prst="roundRect">
            <a:avLst>
              <a:gd name="adj" fmla="val 8000"/>
            </a:avLst>
          </a:prstGeom>
          <a:solidFill>
            <a:schemeClr val="bg2"/>
          </a:solidFill>
          <a:ln/>
        </p:spPr>
        <p:txBody>
          <a:bodyPr/>
          <a:lstStyle/>
          <a:p>
            <a:endParaRPr lang="en-IN"/>
          </a:p>
        </p:txBody>
      </p:sp>
      <p:sp>
        <p:nvSpPr>
          <p:cNvPr id="16" name="text-103"/>
          <p:cNvSpPr txBox="1"/>
          <p:nvPr/>
        </p:nvSpPr>
        <p:spPr>
          <a:xfrm>
            <a:off x="7680960" y="4846320"/>
            <a:ext cx="3749040" cy="1143000"/>
          </a:xfrm>
          <a:prstGeom prst="rect">
            <a:avLst/>
          </a:prstGeom>
          <a:noFill/>
          <a:ln/>
        </p:spPr>
        <p:txBody>
          <a:bodyPr wrap="square" lIns="0" tIns="0" rIns="0" bIns="0" rtlCol="0" anchor="t"/>
          <a:lstStyle/>
          <a:p>
            <a:pPr marL="0" indent="0">
              <a:buNone/>
            </a:pPr>
            <a:r>
              <a:rPr lang="en-US" sz="2200" b="1" dirty="0">
                <a:solidFill>
                  <a:schemeClr val="accent1"/>
                </a:solidFill>
                <a:latin typeface="Cambria" pitchFamily="34" charset="0"/>
                <a:ea typeface="Cambria" pitchFamily="34" charset="-122"/>
                <a:cs typeface="Cambria" pitchFamily="34" charset="-120"/>
              </a:rPr>
              <a:t>3 × 2 table</a:t>
            </a:r>
            <a:endParaRPr lang="en-US" sz="1400" dirty="0"/>
          </a:p>
          <a:p>
            <a:pPr marL="0" indent="0">
              <a:buNone/>
            </a:pPr>
            <a:r>
              <a:rPr lang="en-US" sz="1400" dirty="0">
                <a:solidFill>
                  <a:schemeClr val="tx1"/>
                </a:solidFill>
              </a:rPr>
              <a:t>r = 3 rows (age), c = 2 columns (AI usage). Rows are always named first.</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FOUNDATIONS</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The question, in plain English</a:t>
            </a:r>
            <a:endParaRPr lang="en-US" sz="3600" dirty="0"/>
          </a:p>
        </p:txBody>
      </p:sp>
      <p:sp>
        <p:nvSpPr>
          <p:cNvPr id="4" name="card-104"/>
          <p:cNvSpPr/>
          <p:nvPr/>
        </p:nvSpPr>
        <p:spPr>
          <a:xfrm>
            <a:off x="548640" y="1645920"/>
            <a:ext cx="5394960" cy="2743200"/>
          </a:xfrm>
          <a:prstGeom prst="roundRect">
            <a:avLst>
              <a:gd name="adj" fmla="val 4000"/>
            </a:avLst>
          </a:prstGeom>
          <a:solidFill>
            <a:schemeClr val="bg2"/>
          </a:solidFill>
          <a:ln/>
        </p:spPr>
        <p:txBody>
          <a:bodyPr/>
          <a:lstStyle/>
          <a:p>
            <a:endParaRPr lang="en-IN"/>
          </a:p>
        </p:txBody>
      </p:sp>
      <p:sp>
        <p:nvSpPr>
          <p:cNvPr id="5" name="text-105"/>
          <p:cNvSpPr txBox="1"/>
          <p:nvPr/>
        </p:nvSpPr>
        <p:spPr>
          <a:xfrm>
            <a:off x="868680" y="1874520"/>
            <a:ext cx="4846320" cy="411480"/>
          </a:xfrm>
          <a:prstGeom prst="rect">
            <a:avLst/>
          </a:prstGeom>
          <a:noFill/>
          <a:ln/>
        </p:spPr>
        <p:txBody>
          <a:bodyPr wrap="square" lIns="0" tIns="0" rIns="0" bIns="0" rtlCol="0" anchor="t"/>
          <a:lstStyle/>
          <a:p>
            <a:pPr marL="0" indent="0">
              <a:buNone/>
            </a:pPr>
            <a:r>
              <a:rPr lang="en-US" sz="1600" b="1" dirty="0">
                <a:solidFill>
                  <a:schemeClr val="accent1"/>
                </a:solidFill>
              </a:rPr>
              <a:t>H₀  ·  Null hypothesis</a:t>
            </a:r>
            <a:endParaRPr lang="en-US" sz="1600" dirty="0"/>
          </a:p>
        </p:txBody>
      </p:sp>
      <p:sp>
        <p:nvSpPr>
          <p:cNvPr id="6" name="text-106"/>
          <p:cNvSpPr txBox="1"/>
          <p:nvPr/>
        </p:nvSpPr>
        <p:spPr>
          <a:xfrm>
            <a:off x="868680" y="2331720"/>
            <a:ext cx="4846320" cy="822960"/>
          </a:xfrm>
          <a:prstGeom prst="rect">
            <a:avLst/>
          </a:prstGeom>
          <a:noFill/>
          <a:ln/>
        </p:spPr>
        <p:txBody>
          <a:bodyPr wrap="square" lIns="0" tIns="0" rIns="0" bIns="0" rtlCol="0" anchor="t"/>
          <a:lstStyle/>
          <a:p>
            <a:pPr marL="0" indent="0">
              <a:buNone/>
            </a:pPr>
            <a:r>
              <a:rPr lang="en-US" sz="2400" b="1" dirty="0">
                <a:solidFill>
                  <a:schemeClr val="tx2"/>
                </a:solidFill>
                <a:latin typeface="Cambria" pitchFamily="34" charset="0"/>
                <a:ea typeface="Cambria" pitchFamily="34" charset="-122"/>
                <a:cs typeface="Cambria" pitchFamily="34" charset="-120"/>
              </a:rPr>
              <a:t>Age and AI usage are independent.</a:t>
            </a:r>
            <a:endParaRPr lang="en-US" sz="2400" dirty="0"/>
          </a:p>
        </p:txBody>
      </p:sp>
      <p:sp>
        <p:nvSpPr>
          <p:cNvPr id="7" name="text-107"/>
          <p:cNvSpPr txBox="1"/>
          <p:nvPr/>
        </p:nvSpPr>
        <p:spPr>
          <a:xfrm>
            <a:off x="868680" y="3291840"/>
            <a:ext cx="4846320" cy="914400"/>
          </a:xfrm>
          <a:prstGeom prst="rect">
            <a:avLst/>
          </a:prstGeom>
          <a:noFill/>
          <a:ln/>
        </p:spPr>
        <p:txBody>
          <a:bodyPr wrap="square" lIns="0" tIns="0" rIns="0" bIns="0" rtlCol="0" anchor="t"/>
          <a:lstStyle/>
          <a:p>
            <a:pPr marL="0" indent="0">
              <a:buNone/>
            </a:pPr>
            <a:r>
              <a:rPr lang="en-US" sz="1600" dirty="0">
                <a:solidFill>
                  <a:schemeClr val="tx1"/>
                </a:solidFill>
              </a:rPr>
              <a:t>The share of AI users is the same in every age group. Any gaps in the sample are just chance.</a:t>
            </a:r>
            <a:endParaRPr lang="en-US" sz="1600" dirty="0"/>
          </a:p>
        </p:txBody>
      </p:sp>
      <p:sp>
        <p:nvSpPr>
          <p:cNvPr id="8" name="card-108"/>
          <p:cNvSpPr/>
          <p:nvPr/>
        </p:nvSpPr>
        <p:spPr>
          <a:xfrm>
            <a:off x="6217920" y="1645920"/>
            <a:ext cx="5394960" cy="2743200"/>
          </a:xfrm>
          <a:prstGeom prst="roundRect">
            <a:avLst>
              <a:gd name="adj" fmla="val 4000"/>
            </a:avLst>
          </a:prstGeom>
          <a:solidFill>
            <a:schemeClr val="tx2"/>
          </a:solidFill>
          <a:ln/>
        </p:spPr>
        <p:txBody>
          <a:bodyPr/>
          <a:lstStyle/>
          <a:p>
            <a:endParaRPr lang="en-IN"/>
          </a:p>
        </p:txBody>
      </p:sp>
      <p:sp>
        <p:nvSpPr>
          <p:cNvPr id="9" name="text-109"/>
          <p:cNvSpPr txBox="1"/>
          <p:nvPr/>
        </p:nvSpPr>
        <p:spPr>
          <a:xfrm>
            <a:off x="6537960" y="1874520"/>
            <a:ext cx="4846320" cy="411480"/>
          </a:xfrm>
          <a:prstGeom prst="rect">
            <a:avLst/>
          </a:prstGeom>
          <a:noFill/>
          <a:ln/>
        </p:spPr>
        <p:txBody>
          <a:bodyPr wrap="square" lIns="0" tIns="0" rIns="0" bIns="0" rtlCol="0" anchor="t"/>
          <a:lstStyle/>
          <a:p>
            <a:pPr marL="0" indent="0">
              <a:buNone/>
            </a:pPr>
            <a:r>
              <a:rPr lang="en-US" sz="1600" b="1" dirty="0">
                <a:solidFill>
                  <a:schemeClr val="accent2"/>
                </a:solidFill>
              </a:rPr>
              <a:t>H₁  ·  Alternative hypothesis</a:t>
            </a:r>
            <a:endParaRPr lang="en-US" sz="1600" dirty="0"/>
          </a:p>
        </p:txBody>
      </p:sp>
      <p:sp>
        <p:nvSpPr>
          <p:cNvPr id="10" name="text-110"/>
          <p:cNvSpPr txBox="1"/>
          <p:nvPr/>
        </p:nvSpPr>
        <p:spPr>
          <a:xfrm>
            <a:off x="6537960" y="2331720"/>
            <a:ext cx="4846320" cy="82296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Age and AI usage are associated.</a:t>
            </a:r>
            <a:endParaRPr lang="en-US" sz="2400" dirty="0"/>
          </a:p>
        </p:txBody>
      </p:sp>
      <p:sp>
        <p:nvSpPr>
          <p:cNvPr id="11" name="text-111"/>
          <p:cNvSpPr txBox="1"/>
          <p:nvPr/>
        </p:nvSpPr>
        <p:spPr>
          <a:xfrm>
            <a:off x="6537960" y="3291840"/>
            <a:ext cx="4846320" cy="914400"/>
          </a:xfrm>
          <a:prstGeom prst="rect">
            <a:avLst/>
          </a:prstGeom>
          <a:noFill/>
          <a:ln/>
        </p:spPr>
        <p:txBody>
          <a:bodyPr wrap="square" lIns="0" tIns="0" rIns="0" bIns="0" rtlCol="0" anchor="t"/>
          <a:lstStyle/>
          <a:p>
            <a:pPr marL="0" indent="0">
              <a:buNone/>
            </a:pPr>
            <a:r>
              <a:rPr lang="en-US" sz="1600" dirty="0">
                <a:solidFill>
                  <a:schemeClr val="accent6"/>
                </a:solidFill>
              </a:rPr>
              <a:t>At least one age group uses AI at a different rate from the others.</a:t>
            </a:r>
            <a:endParaRPr lang="en-US" sz="1600" dirty="0"/>
          </a:p>
        </p:txBody>
      </p:sp>
      <p:sp>
        <p:nvSpPr>
          <p:cNvPr id="12" name="badge-112"/>
          <p:cNvSpPr/>
          <p:nvPr/>
        </p:nvSpPr>
        <p:spPr>
          <a:xfrm>
            <a:off x="548640" y="4754880"/>
            <a:ext cx="731520" cy="731520"/>
          </a:xfrm>
          <a:prstGeom prst="ellipse">
            <a:avLst/>
          </a:prstGeom>
          <a:solidFill>
            <a:schemeClr val="accent1"/>
          </a:solidFill>
          <a:ln/>
        </p:spPr>
        <p:txBody>
          <a:bodyPr/>
          <a:lstStyle/>
          <a:p>
            <a:endParaRPr lang="en-IN"/>
          </a:p>
        </p:txBody>
      </p:sp>
      <p:pic>
        <p:nvPicPr>
          <p:cNvPr id="13" name="icon-113" descr="preencoded.png"/>
          <p:cNvPicPr>
            <a:picLocks noChangeAspect="1"/>
          </p:cNvPicPr>
          <p:nvPr/>
        </p:nvPicPr>
        <p:blipFill>
          <a:blip r:embed="rId3"/>
          <a:stretch>
            <a:fillRect/>
          </a:stretch>
        </p:blipFill>
        <p:spPr>
          <a:xfrm>
            <a:off x="724205" y="4930445"/>
            <a:ext cx="380390" cy="380390"/>
          </a:xfrm>
          <a:prstGeom prst="rect">
            <a:avLst/>
          </a:prstGeom>
        </p:spPr>
      </p:pic>
      <p:sp>
        <p:nvSpPr>
          <p:cNvPr id="14" name="text-114"/>
          <p:cNvSpPr txBox="1"/>
          <p:nvPr/>
        </p:nvSpPr>
        <p:spPr>
          <a:xfrm>
            <a:off x="1508760" y="4709160"/>
            <a:ext cx="10058400" cy="868680"/>
          </a:xfrm>
          <a:prstGeom prst="rect">
            <a:avLst/>
          </a:prstGeom>
          <a:noFill/>
          <a:ln/>
        </p:spPr>
        <p:txBody>
          <a:bodyPr wrap="square" lIns="0" tIns="0" rIns="0" bIns="0" rtlCol="0" anchor="ctr"/>
          <a:lstStyle/>
          <a:p>
            <a:pPr marL="0" indent="0">
              <a:buNone/>
            </a:pPr>
            <a:r>
              <a:rPr lang="en-US" sz="1600" b="1" dirty="0">
                <a:solidFill>
                  <a:schemeClr val="accent1"/>
                </a:solidFill>
              </a:rPr>
              <a:t>Why a manager cares: </a:t>
            </a:r>
            <a:r>
              <a:rPr lang="en-US" sz="1600" dirty="0">
                <a:solidFill>
                  <a:schemeClr val="tx1"/>
                </a:solidFill>
              </a:rPr>
              <a:t>under H₀, one onboarding campaign fits everyone. Under H₁, the AI-tool budget should be split by age group. Same data, different spending decision.</a:t>
            </a:r>
            <a:endParaRPr lang="en-US" sz="1600" dirty="0"/>
          </a:p>
        </p:txBody>
      </p:sp>
      <p:sp>
        <p:nvSpPr>
          <p:cNvPr id="15" name="text-115"/>
          <p:cNvSpPr txBox="1"/>
          <p:nvPr/>
        </p:nvSpPr>
        <p:spPr>
          <a:xfrm>
            <a:off x="1508760" y="5623560"/>
            <a:ext cx="10058400" cy="411480"/>
          </a:xfrm>
          <a:prstGeom prst="rect">
            <a:avLst/>
          </a:prstGeom>
          <a:noFill/>
          <a:ln/>
        </p:spPr>
        <p:txBody>
          <a:bodyPr wrap="square" lIns="0" tIns="0" rIns="0" bIns="0" rtlCol="0" anchor="t"/>
          <a:lstStyle/>
          <a:p>
            <a:pPr marL="0" indent="0">
              <a:buNone/>
            </a:pPr>
            <a:r>
              <a:rPr lang="en-US" sz="1400" i="1" dirty="0">
                <a:solidFill>
                  <a:schemeClr val="accent5"/>
                </a:solidFill>
              </a:rPr>
              <a:t>The test compares what we observed with what we'd expect if H₀ were true.</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371600"/>
            <a:ext cx="3200400" cy="1371600"/>
          </a:xfrm>
          <a:prstGeom prst="rect">
            <a:avLst/>
          </a:prstGeom>
          <a:noFill/>
          <a:ln/>
        </p:spPr>
        <p:txBody>
          <a:bodyPr wrap="square" lIns="0" tIns="0" rIns="0" bIns="0" rtlCol="0" anchor="t"/>
          <a:lstStyle/>
          <a:p>
            <a:pPr marL="0" indent="0">
              <a:buNone/>
            </a:pPr>
            <a:r>
              <a:rPr lang="en-US" sz="8800" b="1" dirty="0">
                <a:solidFill>
                  <a:schemeClr val="accent2"/>
                </a:solidFill>
                <a:latin typeface="Cambria" pitchFamily="34" charset="0"/>
                <a:ea typeface="Cambria" pitchFamily="34" charset="-122"/>
                <a:cs typeface="Cambria" pitchFamily="34" charset="-120"/>
              </a:rPr>
              <a:t>02</a:t>
            </a:r>
            <a:endParaRPr lang="en-US" sz="8800" dirty="0"/>
          </a:p>
        </p:txBody>
      </p:sp>
      <p:sp>
        <p:nvSpPr>
          <p:cNvPr id="3" name="Text 0"/>
          <p:cNvSpPr>
            <a:spLocks noGrp="1"/>
          </p:cNvSpPr>
          <p:nvPr>
            <p:ph type="title" idx="101" hasCustomPrompt="1"/>
          </p:nvPr>
        </p:nvSpPr>
        <p:spPr>
          <a:xfrm>
            <a:off x="731520" y="2880360"/>
            <a:ext cx="6949440" cy="914400"/>
          </a:xfrm>
          <a:prstGeom prst="rect">
            <a:avLst/>
          </a:prstGeom>
          <a:noFill/>
          <a:ln/>
        </p:spPr>
        <p:txBody>
          <a:bodyPr wrap="square" lIns="0" tIns="0" rIns="0" bIns="0" rtlCol="0" anchor="t"/>
          <a:lstStyle/>
          <a:p>
            <a:pPr marL="0" indent="0" algn="l">
              <a:buNone/>
            </a:pPr>
            <a:r>
              <a:rPr lang="en-US" sz="4000" b="1" dirty="0">
                <a:solidFill>
                  <a:schemeClr val="bg1"/>
                </a:solidFill>
              </a:rPr>
              <a:t>The mechanics</a:t>
            </a:r>
            <a:endParaRPr lang="en-US" sz="4000" dirty="0"/>
          </a:p>
        </p:txBody>
      </p:sp>
      <p:sp>
        <p:nvSpPr>
          <p:cNvPr id="4" name="Text 0"/>
          <p:cNvSpPr>
            <a:spLocks noGrp="1"/>
          </p:cNvSpPr>
          <p:nvPr>
            <p:ph type="body" idx="102" hasCustomPrompt="1"/>
          </p:nvPr>
        </p:nvSpPr>
        <p:spPr>
          <a:xfrm>
            <a:off x="731520" y="3931920"/>
            <a:ext cx="6583680" cy="1188720"/>
          </a:xfrm>
          <a:prstGeom prst="rect">
            <a:avLst/>
          </a:prstGeom>
          <a:noFill/>
          <a:ln/>
        </p:spPr>
        <p:txBody>
          <a:bodyPr wrap="square" lIns="0" tIns="0" rIns="0" bIns="0" rtlCol="0" anchor="t"/>
          <a:lstStyle/>
          <a:p>
            <a:pPr marL="0" indent="0">
              <a:buNone/>
            </a:pPr>
            <a:r>
              <a:rPr lang="en-US" sz="1800" dirty="0">
                <a:solidFill>
                  <a:schemeClr val="accent6"/>
                </a:solidFill>
              </a:rPr>
              <a:t>The reference video's worked example, one step at a time: age group × AI usage, n = 1,440</a:t>
            </a:r>
            <a:endParaRPr lang="en-US" sz="1800" dirty="0"/>
          </a:p>
        </p:txBody>
      </p:sp>
      <p:sp>
        <p:nvSpPr>
          <p:cNvPr id="5" name="cell-119"/>
          <p:cNvSpPr/>
          <p:nvPr/>
        </p:nvSpPr>
        <p:spPr>
          <a:xfrm>
            <a:off x="8138160" y="1417320"/>
            <a:ext cx="914400" cy="914400"/>
          </a:xfrm>
          <a:prstGeom prst="roundRect">
            <a:avLst>
              <a:gd name="adj" fmla="val 10000"/>
            </a:avLst>
          </a:prstGeom>
          <a:solidFill>
            <a:schemeClr val="accent1">
              <a:alpha val="65000"/>
            </a:schemeClr>
          </a:solidFill>
          <a:ln/>
        </p:spPr>
        <p:txBody>
          <a:bodyPr/>
          <a:lstStyle/>
          <a:p>
            <a:endParaRPr lang="en-IN"/>
          </a:p>
        </p:txBody>
      </p:sp>
      <p:sp>
        <p:nvSpPr>
          <p:cNvPr id="6" name="cell-120"/>
          <p:cNvSpPr/>
          <p:nvPr/>
        </p:nvSpPr>
        <p:spPr>
          <a:xfrm>
            <a:off x="9217152" y="1417320"/>
            <a:ext cx="914400" cy="914400"/>
          </a:xfrm>
          <a:prstGeom prst="roundRect">
            <a:avLst>
              <a:gd name="adj" fmla="val 10000"/>
            </a:avLst>
          </a:prstGeom>
          <a:solidFill>
            <a:schemeClr val="accent1">
              <a:alpha val="48000"/>
            </a:schemeClr>
          </a:solidFill>
          <a:ln/>
        </p:spPr>
        <p:txBody>
          <a:bodyPr/>
          <a:lstStyle/>
          <a:p>
            <a:endParaRPr lang="en-IN"/>
          </a:p>
        </p:txBody>
      </p:sp>
      <p:sp>
        <p:nvSpPr>
          <p:cNvPr id="7" name="cell-121"/>
          <p:cNvSpPr/>
          <p:nvPr/>
        </p:nvSpPr>
        <p:spPr>
          <a:xfrm>
            <a:off x="10296144" y="1417320"/>
            <a:ext cx="914400" cy="914400"/>
          </a:xfrm>
          <a:prstGeom prst="roundRect">
            <a:avLst>
              <a:gd name="adj" fmla="val 10000"/>
            </a:avLst>
          </a:prstGeom>
          <a:solidFill>
            <a:schemeClr val="accent1">
              <a:alpha val="31000"/>
            </a:schemeClr>
          </a:solidFill>
          <a:ln/>
        </p:spPr>
        <p:txBody>
          <a:bodyPr/>
          <a:lstStyle/>
          <a:p>
            <a:endParaRPr lang="en-IN"/>
          </a:p>
        </p:txBody>
      </p:sp>
      <p:sp>
        <p:nvSpPr>
          <p:cNvPr id="8" name="cell-122"/>
          <p:cNvSpPr/>
          <p:nvPr/>
        </p:nvSpPr>
        <p:spPr>
          <a:xfrm>
            <a:off x="8138160" y="2496312"/>
            <a:ext cx="914400" cy="914400"/>
          </a:xfrm>
          <a:prstGeom prst="roundRect">
            <a:avLst>
              <a:gd name="adj" fmla="val 10000"/>
            </a:avLst>
          </a:prstGeom>
          <a:solidFill>
            <a:schemeClr val="accent1">
              <a:alpha val="59000"/>
            </a:schemeClr>
          </a:solidFill>
          <a:ln/>
        </p:spPr>
        <p:txBody>
          <a:bodyPr/>
          <a:lstStyle/>
          <a:p>
            <a:endParaRPr lang="en-IN"/>
          </a:p>
        </p:txBody>
      </p:sp>
      <p:sp>
        <p:nvSpPr>
          <p:cNvPr id="9" name="cell-123"/>
          <p:cNvSpPr/>
          <p:nvPr/>
        </p:nvSpPr>
        <p:spPr>
          <a:xfrm>
            <a:off x="9217152" y="2496312"/>
            <a:ext cx="914400" cy="914400"/>
          </a:xfrm>
          <a:prstGeom prst="roundRect">
            <a:avLst>
              <a:gd name="adj" fmla="val 10000"/>
            </a:avLst>
          </a:prstGeom>
          <a:solidFill>
            <a:schemeClr val="accent2"/>
          </a:solidFill>
          <a:ln/>
        </p:spPr>
        <p:txBody>
          <a:bodyPr/>
          <a:lstStyle/>
          <a:p>
            <a:endParaRPr lang="en-IN"/>
          </a:p>
        </p:txBody>
      </p:sp>
      <p:sp>
        <p:nvSpPr>
          <p:cNvPr id="10" name="cell-124"/>
          <p:cNvSpPr/>
          <p:nvPr/>
        </p:nvSpPr>
        <p:spPr>
          <a:xfrm>
            <a:off x="10296144" y="2496312"/>
            <a:ext cx="914400" cy="914400"/>
          </a:xfrm>
          <a:prstGeom prst="roundRect">
            <a:avLst>
              <a:gd name="adj" fmla="val 10000"/>
            </a:avLst>
          </a:prstGeom>
          <a:solidFill>
            <a:schemeClr val="accent1">
              <a:alpha val="25000"/>
            </a:schemeClr>
          </a:solidFill>
          <a:ln/>
        </p:spPr>
        <p:txBody>
          <a:bodyPr/>
          <a:lstStyle/>
          <a:p>
            <a:endParaRPr lang="en-IN"/>
          </a:p>
        </p:txBody>
      </p:sp>
      <p:sp>
        <p:nvSpPr>
          <p:cNvPr id="11" name="cell-125"/>
          <p:cNvSpPr/>
          <p:nvPr/>
        </p:nvSpPr>
        <p:spPr>
          <a:xfrm>
            <a:off x="8138160" y="3575304"/>
            <a:ext cx="914400" cy="914400"/>
          </a:xfrm>
          <a:prstGeom prst="roundRect">
            <a:avLst>
              <a:gd name="adj" fmla="val 10000"/>
            </a:avLst>
          </a:prstGeom>
          <a:solidFill>
            <a:schemeClr val="accent1">
              <a:alpha val="53000"/>
            </a:schemeClr>
          </a:solidFill>
          <a:ln/>
        </p:spPr>
        <p:txBody>
          <a:bodyPr/>
          <a:lstStyle/>
          <a:p>
            <a:endParaRPr lang="en-IN"/>
          </a:p>
        </p:txBody>
      </p:sp>
      <p:sp>
        <p:nvSpPr>
          <p:cNvPr id="12" name="cell-126"/>
          <p:cNvSpPr/>
          <p:nvPr/>
        </p:nvSpPr>
        <p:spPr>
          <a:xfrm>
            <a:off x="9217152" y="3575304"/>
            <a:ext cx="914400" cy="914400"/>
          </a:xfrm>
          <a:prstGeom prst="roundRect">
            <a:avLst>
              <a:gd name="adj" fmla="val 10000"/>
            </a:avLst>
          </a:prstGeom>
          <a:solidFill>
            <a:schemeClr val="accent1">
              <a:alpha val="36000"/>
            </a:schemeClr>
          </a:solidFill>
          <a:ln/>
        </p:spPr>
        <p:txBody>
          <a:bodyPr/>
          <a:lstStyle/>
          <a:p>
            <a:endParaRPr lang="en-IN"/>
          </a:p>
        </p:txBody>
      </p:sp>
      <p:sp>
        <p:nvSpPr>
          <p:cNvPr id="13" name="cell-127"/>
          <p:cNvSpPr/>
          <p:nvPr/>
        </p:nvSpPr>
        <p:spPr>
          <a:xfrm>
            <a:off x="10296144" y="3575304"/>
            <a:ext cx="914400" cy="914400"/>
          </a:xfrm>
          <a:prstGeom prst="roundRect">
            <a:avLst>
              <a:gd name="adj" fmla="val 10000"/>
            </a:avLst>
          </a:prstGeom>
          <a:solidFill>
            <a:schemeClr val="accent1">
              <a:alpha val="64000"/>
            </a:schemeClr>
          </a:solidFill>
          <a:ln/>
        </p:spPr>
        <p:txBody>
          <a:bodyPr/>
          <a:lstStyle/>
          <a:p>
            <a:endParaRPr lang="en-IN"/>
          </a:p>
        </p:txBody>
      </p:sp>
      <p:sp>
        <p:nvSpPr>
          <p:cNvPr id="14" name="cell-128"/>
          <p:cNvSpPr/>
          <p:nvPr/>
        </p:nvSpPr>
        <p:spPr>
          <a:xfrm>
            <a:off x="8138160" y="4654296"/>
            <a:ext cx="914400" cy="914400"/>
          </a:xfrm>
          <a:prstGeom prst="roundRect">
            <a:avLst>
              <a:gd name="adj" fmla="val 10000"/>
            </a:avLst>
          </a:prstGeom>
          <a:solidFill>
            <a:schemeClr val="accent1">
              <a:alpha val="47000"/>
            </a:schemeClr>
          </a:solidFill>
          <a:ln/>
        </p:spPr>
        <p:txBody>
          <a:bodyPr/>
          <a:lstStyle/>
          <a:p>
            <a:endParaRPr lang="en-IN"/>
          </a:p>
        </p:txBody>
      </p:sp>
      <p:sp>
        <p:nvSpPr>
          <p:cNvPr id="15" name="cell-129"/>
          <p:cNvSpPr/>
          <p:nvPr/>
        </p:nvSpPr>
        <p:spPr>
          <a:xfrm>
            <a:off x="9217152" y="4654296"/>
            <a:ext cx="914400" cy="914400"/>
          </a:xfrm>
          <a:prstGeom prst="roundRect">
            <a:avLst>
              <a:gd name="adj" fmla="val 10000"/>
            </a:avLst>
          </a:prstGeom>
          <a:solidFill>
            <a:schemeClr val="accent1">
              <a:alpha val="30000"/>
            </a:schemeClr>
          </a:solidFill>
          <a:ln/>
        </p:spPr>
        <p:txBody>
          <a:bodyPr/>
          <a:lstStyle/>
          <a:p>
            <a:endParaRPr lang="en-IN"/>
          </a:p>
        </p:txBody>
      </p:sp>
      <p:sp>
        <p:nvSpPr>
          <p:cNvPr id="16" name="cell-130"/>
          <p:cNvSpPr/>
          <p:nvPr/>
        </p:nvSpPr>
        <p:spPr>
          <a:xfrm>
            <a:off x="10296144" y="4654296"/>
            <a:ext cx="914400" cy="914400"/>
          </a:xfrm>
          <a:prstGeom prst="roundRect">
            <a:avLst>
              <a:gd name="adj" fmla="val 10000"/>
            </a:avLst>
          </a:prstGeom>
          <a:solidFill>
            <a:schemeClr val="accent1">
              <a:alpha val="58000"/>
            </a:schemeClr>
          </a:solidFill>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STEP 1 · EXPECTED COUNTS</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Expected counts come from the margins</a:t>
            </a:r>
            <a:endParaRPr lang="en-US" sz="3600" dirty="0"/>
          </a:p>
        </p:txBody>
      </p:sp>
      <p:sp>
        <p:nvSpPr>
          <p:cNvPr id="4" name="card-131"/>
          <p:cNvSpPr/>
          <p:nvPr/>
        </p:nvSpPr>
        <p:spPr>
          <a:xfrm>
            <a:off x="548640" y="1645920"/>
            <a:ext cx="5669280" cy="1920240"/>
          </a:xfrm>
          <a:prstGeom prst="roundRect">
            <a:avLst>
              <a:gd name="adj" fmla="val 5714"/>
            </a:avLst>
          </a:prstGeom>
          <a:solidFill>
            <a:schemeClr val="tx2"/>
          </a:solidFill>
          <a:ln/>
        </p:spPr>
        <p:txBody>
          <a:bodyPr/>
          <a:lstStyle/>
          <a:p>
            <a:endParaRPr lang="en-IN"/>
          </a:p>
        </p:txBody>
      </p:sp>
      <p:sp>
        <p:nvSpPr>
          <p:cNvPr id="5" name="text-132"/>
          <p:cNvSpPr txBox="1"/>
          <p:nvPr/>
        </p:nvSpPr>
        <p:spPr>
          <a:xfrm>
            <a:off x="822960" y="1965960"/>
            <a:ext cx="5212080" cy="640080"/>
          </a:xfrm>
          <a:prstGeom prst="rect">
            <a:avLst/>
          </a:prstGeom>
          <a:noFill/>
          <a:ln/>
        </p:spPr>
        <p:txBody>
          <a:bodyPr wrap="square" lIns="0" tIns="0" rIns="0" bIns="0" rtlCol="0" anchor="t"/>
          <a:lstStyle/>
          <a:p>
            <a:pPr marL="0" indent="0">
              <a:buNone/>
            </a:pPr>
            <a:r>
              <a:rPr lang="en-US" sz="2600" b="1" dirty="0">
                <a:solidFill>
                  <a:schemeClr val="bg1"/>
                </a:solidFill>
                <a:latin typeface="Cambria" pitchFamily="34" charset="0"/>
                <a:ea typeface="Cambria" pitchFamily="34" charset="-122"/>
                <a:cs typeface="Cambria" pitchFamily="34" charset="-120"/>
              </a:rPr>
              <a:t>E  =  (Row total × Column total) ÷ n</a:t>
            </a:r>
            <a:endParaRPr lang="en-US" sz="2600" dirty="0"/>
          </a:p>
        </p:txBody>
      </p:sp>
      <p:sp>
        <p:nvSpPr>
          <p:cNvPr id="6" name="text-133"/>
          <p:cNvSpPr txBox="1"/>
          <p:nvPr/>
        </p:nvSpPr>
        <p:spPr>
          <a:xfrm>
            <a:off x="822960" y="2697480"/>
            <a:ext cx="5212080" cy="457200"/>
          </a:xfrm>
          <a:prstGeom prst="rect">
            <a:avLst/>
          </a:prstGeom>
          <a:noFill/>
          <a:ln/>
        </p:spPr>
        <p:txBody>
          <a:bodyPr wrap="square" lIns="0" tIns="0" rIns="0" bIns="0" rtlCol="0" anchor="t"/>
          <a:lstStyle/>
          <a:p>
            <a:pPr marL="0" indent="0">
              <a:buNone/>
            </a:pPr>
            <a:r>
              <a:rPr lang="en-US" sz="1500" dirty="0">
                <a:solidFill>
                  <a:schemeClr val="accent6"/>
                </a:solidFill>
              </a:rPr>
              <a:t>The count we'd expect in a cell if H₀ were true</a:t>
            </a:r>
            <a:endParaRPr lang="en-US" sz="1500" dirty="0"/>
          </a:p>
        </p:txBody>
      </p:sp>
      <p:sp>
        <p:nvSpPr>
          <p:cNvPr id="7" name="text-134"/>
          <p:cNvSpPr txBox="1"/>
          <p:nvPr/>
        </p:nvSpPr>
        <p:spPr>
          <a:xfrm>
            <a:off x="548640" y="3840480"/>
            <a:ext cx="5669280" cy="1371600"/>
          </a:xfrm>
          <a:prstGeom prst="rect">
            <a:avLst/>
          </a:prstGeom>
          <a:noFill/>
          <a:ln/>
        </p:spPr>
        <p:txBody>
          <a:bodyPr wrap="square" lIns="0" tIns="0" rIns="0" bIns="0" rtlCol="0" anchor="t"/>
          <a:lstStyle/>
          <a:p>
            <a:pPr marL="0" indent="0">
              <a:buNone/>
            </a:pPr>
            <a:r>
              <a:rPr lang="en-US" sz="1600" b="1" dirty="0">
                <a:solidFill>
                  <a:schemeClr val="accent1"/>
                </a:solidFill>
              </a:rPr>
              <a:t>Why this formula? </a:t>
            </a:r>
            <a:r>
              <a:rPr lang="en-US" sz="1600" dirty="0">
                <a:solidFill>
                  <a:schemeClr val="tx1"/>
                </a:solidFill>
              </a:rPr>
              <a:t>Independence means probabilities multiply: P(row and column) = P(row) × P(column). Multiply by n and you get n × (R/n) × (C/n), which simplifies to R × C ÷ n.</a:t>
            </a:r>
            <a:endParaRPr lang="en-US" sz="1600" dirty="0"/>
          </a:p>
        </p:txBody>
      </p:sp>
      <p:graphicFrame>
        <p:nvGraphicFramePr>
          <p:cNvPr id="11" name="table-135"/>
          <p:cNvGraphicFramePr>
            <a:graphicFrameLocks noGrp="1"/>
          </p:cNvGraphicFramePr>
          <p:nvPr>
            <p:extLst>
              <p:ext uri="{D42A27DB-BD31-4B8C-83A1-F6EECF244321}">
                <p14:modId xmlns:p14="http://schemas.microsoft.com/office/powerpoint/2010/main" val="1579011935"/>
              </p:ext>
            </p:extLst>
          </p:nvPr>
        </p:nvGraphicFramePr>
        <p:xfrm>
          <a:off x="6675120" y="1645920"/>
          <a:ext cx="4937760" cy="2286000"/>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57200">
                <a:tc>
                  <a:txBody>
                    <a:bodyPr/>
                    <a:lstStyle/>
                    <a:p>
                      <a:pPr marL="0" indent="0" algn="l">
                        <a:buNone/>
                      </a:pPr>
                      <a:r>
                        <a:rPr lang="en-US" sz="1500" b="1" dirty="0">
                          <a:solidFill>
                            <a:schemeClr val="bg1"/>
                          </a:solidFill>
                          <a:latin typeface="Calibri" pitchFamily="34" charset="0"/>
                          <a:ea typeface="Calibri" pitchFamily="34" charset="-122"/>
                          <a:cs typeface="Calibri" pitchFamily="34" charset="-120"/>
                        </a:rPr>
                        <a:t>Age group</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Under 30</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2"/>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178</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490</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5720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30–49</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273</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183</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456</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50 &amp; above</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224</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270</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494</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809</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6"/>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631</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1,440</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9" name="card-136"/>
          <p:cNvSpPr/>
          <p:nvPr/>
        </p:nvSpPr>
        <p:spPr>
          <a:xfrm>
            <a:off x="6675120" y="4206240"/>
            <a:ext cx="4937760" cy="1920240"/>
          </a:xfrm>
          <a:prstGeom prst="roundRect">
            <a:avLst>
              <a:gd name="adj" fmla="val 5714"/>
            </a:avLst>
          </a:prstGeom>
          <a:solidFill>
            <a:schemeClr val="bg2"/>
          </a:solidFill>
          <a:ln/>
        </p:spPr>
        <p:txBody>
          <a:bodyPr/>
          <a:lstStyle/>
          <a:p>
            <a:endParaRPr lang="en-IN"/>
          </a:p>
        </p:txBody>
      </p:sp>
      <p:sp>
        <p:nvSpPr>
          <p:cNvPr id="10" name="text-137"/>
          <p:cNvSpPr txBox="1"/>
          <p:nvPr/>
        </p:nvSpPr>
        <p:spPr>
          <a:xfrm>
            <a:off x="6949440" y="4389120"/>
            <a:ext cx="4480560" cy="1645920"/>
          </a:xfrm>
          <a:prstGeom prst="rect">
            <a:avLst/>
          </a:prstGeom>
          <a:noFill/>
          <a:ln/>
        </p:spPr>
        <p:txBody>
          <a:bodyPr wrap="square" lIns="0" tIns="0" rIns="0" bIns="0" rtlCol="0" anchor="t"/>
          <a:lstStyle/>
          <a:p>
            <a:pPr marL="0" indent="0">
              <a:buNone/>
            </a:pPr>
            <a:r>
              <a:rPr lang="en-US" sz="1600" b="1" dirty="0">
                <a:solidFill>
                  <a:schemeClr val="accent1"/>
                </a:solidFill>
              </a:rPr>
              <a:t>Under 30 × Yes</a:t>
            </a:r>
            <a:endParaRPr lang="en-US" sz="1600" dirty="0"/>
          </a:p>
          <a:p>
            <a:pPr marL="0" indent="0">
              <a:buNone/>
            </a:pPr>
            <a:r>
              <a:rPr lang="en-US" sz="2200" dirty="0">
                <a:solidFill>
                  <a:schemeClr val="tx1"/>
                </a:solidFill>
                <a:latin typeface="Cambria" pitchFamily="34" charset="0"/>
                <a:ea typeface="Cambria" pitchFamily="34" charset="-122"/>
                <a:cs typeface="Cambria" pitchFamily="34" charset="-120"/>
              </a:rPr>
              <a:t>490 × 809 ÷ 1,440</a:t>
            </a:r>
            <a:endParaRPr lang="en-US" sz="1600" dirty="0"/>
          </a:p>
          <a:p>
            <a:pPr marL="0" indent="0">
              <a:buNone/>
            </a:pPr>
            <a:r>
              <a:rPr lang="en-US" sz="3000" b="1" dirty="0">
                <a:solidFill>
                  <a:schemeClr val="tx2"/>
                </a:solidFill>
                <a:latin typeface="Cambria" pitchFamily="34" charset="0"/>
                <a:ea typeface="Cambria" pitchFamily="34" charset="-122"/>
                <a:cs typeface="Cambria" pitchFamily="34" charset="-120"/>
              </a:rPr>
              <a:t>= 275.28</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STEP 1 · EXPECTED COUNTS</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Observed vs expected, side by side</a:t>
            </a:r>
            <a:endParaRPr lang="en-US" sz="3600" dirty="0"/>
          </a:p>
        </p:txBody>
      </p:sp>
      <p:sp>
        <p:nvSpPr>
          <p:cNvPr id="4" name="text-138"/>
          <p:cNvSpPr txBox="1"/>
          <p:nvPr/>
        </p:nvSpPr>
        <p:spPr>
          <a:xfrm>
            <a:off x="548640" y="1600200"/>
            <a:ext cx="530352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Observed (O)</a:t>
            </a:r>
            <a:endParaRPr lang="en-US" sz="1800" dirty="0"/>
          </a:p>
        </p:txBody>
      </p:sp>
      <p:graphicFrame>
        <p:nvGraphicFramePr>
          <p:cNvPr id="12" name="table-139"/>
          <p:cNvGraphicFramePr>
            <a:graphicFrameLocks noGrp="1"/>
          </p:cNvGraphicFramePr>
          <p:nvPr>
            <p:extLst>
              <p:ext uri="{D42A27DB-BD31-4B8C-83A1-F6EECF244321}">
                <p14:modId xmlns:p14="http://schemas.microsoft.com/office/powerpoint/2010/main" val="1579011935"/>
              </p:ext>
            </p:extLst>
          </p:nvPr>
        </p:nvGraphicFramePr>
        <p:xfrm>
          <a:off x="548640" y="2057400"/>
          <a:ext cx="5303520" cy="2286000"/>
        </p:xfrm>
        <a:graphic>
          <a:graphicData uri="http://schemas.openxmlformats.org/drawingml/2006/table">
            <a:tbl>
              <a:tblPr/>
              <a:tblGrid>
                <a:gridCol w="1828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chemeClr val="bg1"/>
                          </a:solidFill>
                          <a:latin typeface="Calibri" pitchFamily="34" charset="0"/>
                          <a:ea typeface="Calibri" pitchFamily="34" charset="-122"/>
                          <a:cs typeface="Calibri" pitchFamily="34" charset="-120"/>
                        </a:rPr>
                        <a:t>Age group</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Total</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Under 30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312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178</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490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30–49</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273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183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456</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50 &amp; above</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224</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270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494</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Total</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809</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631</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1,440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6" name="text-140"/>
          <p:cNvSpPr txBox="1"/>
          <p:nvPr/>
        </p:nvSpPr>
        <p:spPr>
          <a:xfrm>
            <a:off x="6309360" y="1600200"/>
            <a:ext cx="530352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Expected if independent (E)</a:t>
            </a:r>
            <a:endParaRPr lang="en-US" sz="1800" dirty="0"/>
          </a:p>
        </p:txBody>
      </p:sp>
      <p:graphicFrame>
        <p:nvGraphicFramePr>
          <p:cNvPr id="23" name="table-141"/>
          <p:cNvGraphicFramePr>
            <a:graphicFrameLocks noGrp="1"/>
          </p:cNvGraphicFramePr>
          <p:nvPr>
            <p:extLst>
              <p:ext uri="{D42A27DB-BD31-4B8C-83A1-F6EECF244321}">
                <p14:modId xmlns:p14="http://schemas.microsoft.com/office/powerpoint/2010/main" val="1579011935"/>
              </p:ext>
            </p:extLst>
          </p:nvPr>
        </p:nvGraphicFramePr>
        <p:xfrm>
          <a:off x="6309360" y="2057400"/>
          <a:ext cx="5303520" cy="2286000"/>
        </p:xfrm>
        <a:graphic>
          <a:graphicData uri="http://schemas.openxmlformats.org/drawingml/2006/table">
            <a:tbl>
              <a:tblPr/>
              <a:tblGrid>
                <a:gridCol w="1828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57200">
                <a:tc>
                  <a:txBody>
                    <a:bodyPr/>
                    <a:lstStyle/>
                    <a:p>
                      <a:pPr marL="0" indent="0" algn="l">
                        <a:buNone/>
                      </a:pPr>
                      <a:r>
                        <a:rPr lang="en-US" sz="1600" b="1" dirty="0">
                          <a:solidFill>
                            <a:schemeClr val="bg1"/>
                          </a:solidFill>
                          <a:latin typeface="Calibri" pitchFamily="34" charset="0"/>
                          <a:ea typeface="Calibri" pitchFamily="34" charset="-122"/>
                          <a:cs typeface="Calibri" pitchFamily="34" charset="-120"/>
                        </a:rPr>
                        <a:t>Age group</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Total</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Under 30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275.28</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214.72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490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30–49</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256.18</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199.82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456</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50 &amp; above</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277.53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216.47</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494</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Total</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809</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631</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1,440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8" name="card-142"/>
          <p:cNvSpPr/>
          <p:nvPr/>
        </p:nvSpPr>
        <p:spPr>
          <a:xfrm>
            <a:off x="548640" y="4572000"/>
            <a:ext cx="5303520" cy="1554480"/>
          </a:xfrm>
          <a:prstGeom prst="roundRect">
            <a:avLst>
              <a:gd name="adj" fmla="val 7059"/>
            </a:avLst>
          </a:prstGeom>
          <a:solidFill>
            <a:schemeClr val="bg2"/>
          </a:solidFill>
          <a:ln/>
        </p:spPr>
        <p:txBody>
          <a:bodyPr/>
          <a:lstStyle/>
          <a:p>
            <a:endParaRPr lang="en-IN"/>
          </a:p>
        </p:txBody>
      </p:sp>
      <p:sp>
        <p:nvSpPr>
          <p:cNvPr id="9" name="badge-143"/>
          <p:cNvSpPr/>
          <p:nvPr/>
        </p:nvSpPr>
        <p:spPr>
          <a:xfrm>
            <a:off x="822960" y="4846320"/>
            <a:ext cx="548640" cy="548640"/>
          </a:xfrm>
          <a:prstGeom prst="ellipse">
            <a:avLst/>
          </a:prstGeom>
          <a:solidFill>
            <a:schemeClr val="accent1"/>
          </a:solidFill>
          <a:ln/>
        </p:spPr>
        <p:txBody>
          <a:bodyPr/>
          <a:lstStyle/>
          <a:p>
            <a:endParaRPr lang="en-IN"/>
          </a:p>
        </p:txBody>
      </p:sp>
      <p:pic>
        <p:nvPicPr>
          <p:cNvPr id="10" name="icon-144" descr="preencoded.png"/>
          <p:cNvPicPr>
            <a:picLocks noChangeAspect="1"/>
          </p:cNvPicPr>
          <p:nvPr/>
        </p:nvPicPr>
        <p:blipFill>
          <a:blip r:embed="rId3"/>
          <a:stretch>
            <a:fillRect/>
          </a:stretch>
        </p:blipFill>
        <p:spPr>
          <a:xfrm>
            <a:off x="954634" y="4977994"/>
            <a:ext cx="285293" cy="285293"/>
          </a:xfrm>
          <a:prstGeom prst="rect">
            <a:avLst/>
          </a:prstGeom>
        </p:spPr>
      </p:pic>
      <p:sp>
        <p:nvSpPr>
          <p:cNvPr id="11" name="text-145"/>
          <p:cNvSpPr txBox="1"/>
          <p:nvPr/>
        </p:nvSpPr>
        <p:spPr>
          <a:xfrm>
            <a:off x="1600200" y="4800600"/>
            <a:ext cx="4023360" cy="365760"/>
          </a:xfrm>
          <a:prstGeom prst="rect">
            <a:avLst/>
          </a:prstGeom>
          <a:noFill/>
          <a:ln/>
        </p:spPr>
        <p:txBody>
          <a:bodyPr wrap="square" lIns="0" tIns="0" rIns="0" bIns="0" rtlCol="0" anchor="t"/>
          <a:lstStyle/>
          <a:p>
            <a:pPr marL="0" indent="0">
              <a:buNone/>
            </a:pPr>
            <a:r>
              <a:rPr lang="en-US" sz="1700" b="1" dirty="0">
                <a:solidFill>
                  <a:schemeClr val="tx2"/>
                </a:solidFill>
              </a:rPr>
              <a:t>Totals match</a:t>
            </a:r>
            <a:endParaRPr lang="en-US" sz="1700" dirty="0"/>
          </a:p>
        </p:txBody>
      </p:sp>
      <p:sp>
        <p:nvSpPr>
          <p:cNvPr id="5" name="text-146"/>
          <p:cNvSpPr txBox="1"/>
          <p:nvPr/>
        </p:nvSpPr>
        <p:spPr>
          <a:xfrm>
            <a:off x="1600200" y="5166360"/>
            <a:ext cx="4069080" cy="868680"/>
          </a:xfrm>
          <a:prstGeom prst="rect">
            <a:avLst/>
          </a:prstGeom>
          <a:noFill/>
          <a:ln/>
        </p:spPr>
        <p:txBody>
          <a:bodyPr wrap="square" lIns="0" tIns="0" rIns="0" bIns="0" rtlCol="0" anchor="t"/>
          <a:lstStyle/>
          <a:p>
            <a:pPr marL="0" indent="0">
              <a:buNone/>
            </a:pPr>
            <a:r>
              <a:rPr lang="en-US" sz="1400" dirty="0">
                <a:solidFill>
                  <a:schemeClr val="tx1"/>
                </a:solidFill>
              </a:rPr>
              <a:t>Expected row and column totals equal the observed ones, give or take rounding. If they don't, recheck the arithmetic.</a:t>
            </a:r>
            <a:endParaRPr lang="en-US" sz="1400" dirty="0"/>
          </a:p>
        </p:txBody>
      </p:sp>
      <p:sp>
        <p:nvSpPr>
          <p:cNvPr id="13" name="card-147"/>
          <p:cNvSpPr/>
          <p:nvPr/>
        </p:nvSpPr>
        <p:spPr>
          <a:xfrm>
            <a:off x="6309360" y="4572000"/>
            <a:ext cx="5303520" cy="1554480"/>
          </a:xfrm>
          <a:prstGeom prst="roundRect">
            <a:avLst>
              <a:gd name="adj" fmla="val 7059"/>
            </a:avLst>
          </a:prstGeom>
          <a:solidFill>
            <a:schemeClr val="bg2"/>
          </a:solidFill>
          <a:ln/>
        </p:spPr>
        <p:txBody>
          <a:bodyPr/>
          <a:lstStyle/>
          <a:p>
            <a:endParaRPr lang="en-IN"/>
          </a:p>
        </p:txBody>
      </p:sp>
      <p:sp>
        <p:nvSpPr>
          <p:cNvPr id="14" name="badge-148"/>
          <p:cNvSpPr/>
          <p:nvPr/>
        </p:nvSpPr>
        <p:spPr>
          <a:xfrm>
            <a:off x="6583680" y="4846320"/>
            <a:ext cx="548640" cy="548640"/>
          </a:xfrm>
          <a:prstGeom prst="ellipse">
            <a:avLst/>
          </a:prstGeom>
          <a:solidFill>
            <a:schemeClr val="accent1"/>
          </a:solidFill>
          <a:ln/>
        </p:spPr>
        <p:txBody>
          <a:bodyPr/>
          <a:lstStyle/>
          <a:p>
            <a:endParaRPr lang="en-IN"/>
          </a:p>
        </p:txBody>
      </p:sp>
      <p:pic>
        <p:nvPicPr>
          <p:cNvPr id="15" name="icon-149" descr="preencoded.png"/>
          <p:cNvPicPr>
            <a:picLocks noChangeAspect="1"/>
          </p:cNvPicPr>
          <p:nvPr/>
        </p:nvPicPr>
        <p:blipFill>
          <a:blip r:embed="rId3"/>
          <a:stretch>
            <a:fillRect/>
          </a:stretch>
        </p:blipFill>
        <p:spPr>
          <a:xfrm>
            <a:off x="6715354" y="4977994"/>
            <a:ext cx="285293" cy="285293"/>
          </a:xfrm>
          <a:prstGeom prst="rect">
            <a:avLst/>
          </a:prstGeom>
        </p:spPr>
      </p:pic>
      <p:sp>
        <p:nvSpPr>
          <p:cNvPr id="16" name="text-150"/>
          <p:cNvSpPr txBox="1"/>
          <p:nvPr/>
        </p:nvSpPr>
        <p:spPr>
          <a:xfrm>
            <a:off x="7360920" y="4800600"/>
            <a:ext cx="4023360" cy="365760"/>
          </a:xfrm>
          <a:prstGeom prst="rect">
            <a:avLst/>
          </a:prstGeom>
          <a:noFill/>
          <a:ln/>
        </p:spPr>
        <p:txBody>
          <a:bodyPr wrap="square" lIns="0" tIns="0" rIns="0" bIns="0" rtlCol="0" anchor="t"/>
          <a:lstStyle/>
          <a:p>
            <a:pPr marL="0" indent="0">
              <a:buNone/>
            </a:pPr>
            <a:r>
              <a:rPr lang="en-US" sz="1700" b="1" dirty="0">
                <a:solidFill>
                  <a:schemeClr val="tx2"/>
                </a:solidFill>
              </a:rPr>
              <a:t>All E ≥ 5</a:t>
            </a:r>
            <a:endParaRPr lang="en-US" sz="1700" dirty="0"/>
          </a:p>
        </p:txBody>
      </p:sp>
      <p:sp>
        <p:nvSpPr>
          <p:cNvPr id="17" name="text-151"/>
          <p:cNvSpPr txBox="1"/>
          <p:nvPr/>
        </p:nvSpPr>
        <p:spPr>
          <a:xfrm>
            <a:off x="7360920" y="5166360"/>
            <a:ext cx="4069080" cy="868680"/>
          </a:xfrm>
          <a:prstGeom prst="rect">
            <a:avLst/>
          </a:prstGeom>
          <a:noFill/>
          <a:ln/>
        </p:spPr>
        <p:txBody>
          <a:bodyPr wrap="square" lIns="0" tIns="0" rIns="0" bIns="0" rtlCol="0" anchor="t"/>
          <a:lstStyle/>
          <a:p>
            <a:pPr marL="0" indent="0">
              <a:buNone/>
            </a:pPr>
            <a:r>
              <a:rPr lang="en-US" sz="1400" dirty="0">
                <a:solidFill>
                  <a:schemeClr val="tx1"/>
                </a:solidFill>
              </a:rPr>
              <a:t>The smallest expected count is 199.82, far above 5, so the test is valid here.</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STEP 2 · THE TEST STATISTIC</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Add up the surprises: the χ² statistic</a:t>
            </a:r>
            <a:endParaRPr lang="en-US" sz="3600" dirty="0"/>
          </a:p>
        </p:txBody>
      </p:sp>
      <p:graphicFrame>
        <p:nvGraphicFramePr>
          <p:cNvPr id="13" name="table-152"/>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4096512"/>
        </p:xfrm>
        <a:graphic>
          <a:graphicData uri="http://schemas.openxmlformats.org/drawingml/2006/table">
            <a:tbl>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12064">
                <a:tc>
                  <a:txBody>
                    <a:bodyPr/>
                    <a:lstStyle/>
                    <a:p>
                      <a:pPr marL="0" indent="0" algn="l">
                        <a:buNone/>
                      </a:pPr>
                      <a:r>
                        <a:rPr lang="en-US" sz="1600" b="1" dirty="0">
                          <a:solidFill>
                            <a:schemeClr val="bg1"/>
                          </a:solidFill>
                          <a:latin typeface="Calibri" pitchFamily="34" charset="0"/>
                          <a:ea typeface="Calibri" pitchFamily="34" charset="-122"/>
                          <a:cs typeface="Calibri" pitchFamily="34" charset="-120"/>
                        </a:rPr>
                        <a:t>Cell</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O</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E</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(O − E)² ÷ E</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12064">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Under 30 · Yes</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312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275.28</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4.90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2064">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Under 30 · No</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178</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214.72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6.28</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2064">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30–49 · Yes</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273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256.18</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1.10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2064">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30–49 · No</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183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199.82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1.42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2064">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50 &amp; above · Yes</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224</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277.53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10.33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2"/>
                    </a:solidFill>
                  </a:tcPr>
                </a:tc>
                <a:extLst>
                  <a:ext uri="{0D108BD9-81ED-4DB2-BD59-A6C34878D82A}">
                    <a16:rowId xmlns:a16="http://schemas.microsoft.com/office/drawing/2014/main" val="10005"/>
                  </a:ext>
                </a:extLst>
              </a:tr>
              <a:tr h="512064">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50 &amp; above · No</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270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216.47</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13.24</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2"/>
                    </a:solidFill>
                  </a:tcPr>
                </a:tc>
                <a:extLst>
                  <a:ext uri="{0D108BD9-81ED-4DB2-BD59-A6C34878D82A}">
                    <a16:rowId xmlns:a16="http://schemas.microsoft.com/office/drawing/2014/main" val="10006"/>
                  </a:ext>
                </a:extLst>
              </a:tr>
              <a:tr h="512064">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Total</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1,440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1,440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χ² = 37.26</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5" name="card-153"/>
          <p:cNvSpPr/>
          <p:nvPr/>
        </p:nvSpPr>
        <p:spPr>
          <a:xfrm>
            <a:off x="7498080" y="1645920"/>
            <a:ext cx="4114800" cy="1828800"/>
          </a:xfrm>
          <a:prstGeom prst="roundRect">
            <a:avLst>
              <a:gd name="adj" fmla="val 6000"/>
            </a:avLst>
          </a:prstGeom>
          <a:solidFill>
            <a:schemeClr val="tx2"/>
          </a:solidFill>
          <a:ln/>
        </p:spPr>
        <p:txBody>
          <a:bodyPr/>
          <a:lstStyle/>
          <a:p>
            <a:endParaRPr lang="en-IN"/>
          </a:p>
        </p:txBody>
      </p:sp>
      <p:sp>
        <p:nvSpPr>
          <p:cNvPr id="6" name="text-154"/>
          <p:cNvSpPr txBox="1"/>
          <p:nvPr/>
        </p:nvSpPr>
        <p:spPr>
          <a:xfrm>
            <a:off x="7726680" y="1920240"/>
            <a:ext cx="3657600" cy="548640"/>
          </a:xfrm>
          <a:prstGeom prst="rect">
            <a:avLst/>
          </a:prstGeom>
          <a:noFill/>
          <a:ln/>
        </p:spPr>
        <p:txBody>
          <a:bodyPr wrap="square" lIns="0" tIns="0" rIns="0" bIns="0" rtlCol="0" anchor="t"/>
          <a:lstStyle/>
          <a:p>
            <a:pPr marL="0" indent="0" algn="ctr">
              <a:buNone/>
            </a:pPr>
            <a:r>
              <a:rPr lang="en-US" sz="2600" b="1" dirty="0">
                <a:solidFill>
                  <a:schemeClr val="bg1"/>
                </a:solidFill>
                <a:latin typeface="Cambria" pitchFamily="34" charset="0"/>
                <a:ea typeface="Cambria" pitchFamily="34" charset="-122"/>
                <a:cs typeface="Cambria" pitchFamily="34" charset="-120"/>
              </a:rPr>
              <a:t>χ²  =  Σ (O − E)² ÷ E</a:t>
            </a:r>
            <a:endParaRPr lang="en-US" sz="2600" dirty="0"/>
          </a:p>
        </p:txBody>
      </p:sp>
      <p:sp>
        <p:nvSpPr>
          <p:cNvPr id="7" name="text-155"/>
          <p:cNvSpPr txBox="1"/>
          <p:nvPr/>
        </p:nvSpPr>
        <p:spPr>
          <a:xfrm>
            <a:off x="7726680" y="2606040"/>
            <a:ext cx="3657600" cy="457200"/>
          </a:xfrm>
          <a:prstGeom prst="rect">
            <a:avLst/>
          </a:prstGeom>
          <a:noFill/>
          <a:ln/>
        </p:spPr>
        <p:txBody>
          <a:bodyPr wrap="square" lIns="0" tIns="0" rIns="0" bIns="0" rtlCol="0" anchor="t"/>
          <a:lstStyle/>
          <a:p>
            <a:pPr marL="0" indent="0" algn="ctr">
              <a:buNone/>
            </a:pPr>
            <a:r>
              <a:rPr lang="en-US" sz="1400" dirty="0">
                <a:solidFill>
                  <a:schemeClr val="accent6"/>
                </a:solidFill>
              </a:rPr>
              <a:t>Sum over every cell of the table</a:t>
            </a:r>
            <a:endParaRPr lang="en-US" sz="1400" dirty="0"/>
          </a:p>
        </p:txBody>
      </p:sp>
      <p:sp>
        <p:nvSpPr>
          <p:cNvPr id="8" name="text-156"/>
          <p:cNvSpPr txBox="1"/>
          <p:nvPr/>
        </p:nvSpPr>
        <p:spPr>
          <a:xfrm>
            <a:off x="7498080" y="3703320"/>
            <a:ext cx="4114800" cy="1828800"/>
          </a:xfrm>
          <a:prstGeom prst="rect">
            <a:avLst/>
          </a:prstGeom>
          <a:noFill/>
          <a:ln/>
        </p:spPr>
        <p:txBody>
          <a:bodyPr wrap="square" lIns="0" tIns="0" rIns="0" bIns="0" rtlCol="0" anchor="t"/>
          <a:lstStyle/>
          <a:p>
            <a:pPr marL="0" indent="0">
              <a:spcAft>
                <a:spcPts val="800"/>
              </a:spcAft>
              <a:buNone/>
            </a:pPr>
            <a:r>
              <a:rPr lang="en-US" sz="1500" b="1" dirty="0">
                <a:solidFill>
                  <a:schemeClr val="accent1"/>
                </a:solidFill>
              </a:rPr>
              <a:t>Squaring </a:t>
            </a:r>
            <a:r>
              <a:rPr lang="en-US" sz="1500" dirty="0">
                <a:solidFill>
                  <a:schemeClr val="tx1"/>
                </a:solidFill>
              </a:rPr>
              <a:t>removes the sign, so over and under both count.</a:t>
            </a:r>
            <a:endParaRPr lang="en-US" sz="1500" dirty="0"/>
          </a:p>
          <a:p>
            <a:pPr marL="0" indent="0">
              <a:spcAft>
                <a:spcPts val="800"/>
              </a:spcAft>
              <a:buNone/>
            </a:pPr>
            <a:r>
              <a:rPr lang="en-US" sz="1500" b="1" dirty="0">
                <a:solidFill>
                  <a:schemeClr val="accent1"/>
                </a:solidFill>
              </a:rPr>
              <a:t>Dividing by E </a:t>
            </a:r>
            <a:r>
              <a:rPr lang="en-US" sz="1500" dirty="0">
                <a:solidFill>
                  <a:schemeClr val="tx1"/>
                </a:solidFill>
              </a:rPr>
              <a:t>scales each gap to the size of its cell.</a:t>
            </a:r>
            <a:endParaRPr lang="en-US" sz="1500" dirty="0"/>
          </a:p>
          <a:p>
            <a:pPr marL="0" indent="0">
              <a:spcAft>
                <a:spcPts val="800"/>
              </a:spcAft>
              <a:buNone/>
            </a:pPr>
            <a:r>
              <a:rPr lang="en-US" sz="1500" b="1" dirty="0">
                <a:solidFill>
                  <a:schemeClr val="accent3"/>
                </a:solidFill>
              </a:rPr>
              <a:t>The 50 &amp; above row </a:t>
            </a:r>
            <a:r>
              <a:rPr lang="en-US" sz="1500" dirty="0">
                <a:solidFill>
                  <a:schemeClr val="tx1"/>
                </a:solidFill>
              </a:rPr>
              <a:t>supplies 23.6 of the 37.26 total.</a:t>
            </a:r>
            <a:endParaRPr lang="en-US" sz="1500" dirty="0"/>
          </a:p>
        </p:txBody>
      </p:sp>
      <p:sp>
        <p:nvSpPr>
          <p:cNvPr id="9" name="text-157"/>
          <p:cNvSpPr txBox="1"/>
          <p:nvPr/>
        </p:nvSpPr>
        <p:spPr>
          <a:xfrm>
            <a:off x="7498080" y="5623560"/>
            <a:ext cx="4114800" cy="548640"/>
          </a:xfrm>
          <a:prstGeom prst="rect">
            <a:avLst/>
          </a:prstGeom>
          <a:noFill/>
          <a:ln/>
        </p:spPr>
        <p:txBody>
          <a:bodyPr wrap="square" lIns="0" tIns="0" rIns="0" bIns="0" rtlCol="0" anchor="t"/>
          <a:lstStyle/>
          <a:p>
            <a:pPr marL="0" indent="0">
              <a:buNone/>
            </a:pPr>
            <a:r>
              <a:rPr lang="en-US" sz="1200" i="1" dirty="0">
                <a:solidFill>
                  <a:schemeClr val="accent5"/>
                </a:solidFill>
              </a:rPr>
              <a:t>Rounded parts add to 37.27, the unrounded total is 37.26. The video quotes both.</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STEP 3 · DEGREES OF FREEDOM</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How many cells are actually free?</a:t>
            </a:r>
            <a:endParaRPr lang="en-US" sz="3600" dirty="0"/>
          </a:p>
        </p:txBody>
      </p:sp>
      <p:graphicFrame>
        <p:nvGraphicFramePr>
          <p:cNvPr id="14" name="table-158"/>
          <p:cNvGraphicFramePr>
            <a:graphicFrameLocks noGrp="1"/>
          </p:cNvGraphicFramePr>
          <p:nvPr>
            <p:extLst>
              <p:ext uri="{D42A27DB-BD31-4B8C-83A1-F6EECF244321}">
                <p14:modId xmlns:p14="http://schemas.microsoft.com/office/powerpoint/2010/main" val="1579011935"/>
              </p:ext>
            </p:extLst>
          </p:nvPr>
        </p:nvGraphicFramePr>
        <p:xfrm>
          <a:off x="548640" y="1645920"/>
          <a:ext cx="6400800" cy="283464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66928">
                <a:tc>
                  <a:txBody>
                    <a:bodyPr/>
                    <a:lstStyle/>
                    <a:p>
                      <a:pPr marL="0" indent="0" algn="l">
                        <a:buNone/>
                      </a:pPr>
                      <a:r>
                        <a:rPr lang="en-US" sz="1600" b="1" dirty="0">
                          <a:solidFill>
                            <a:schemeClr val="bg1"/>
                          </a:solidFill>
                          <a:latin typeface="Calibri" pitchFamily="34" charset="0"/>
                          <a:ea typeface="Calibri" pitchFamily="34" charset="-122"/>
                          <a:cs typeface="Calibri" pitchFamily="34" charset="-120"/>
                        </a:rPr>
                        <a:t>Age group</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Total</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Under 30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312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2"/>
                    </a:solidFill>
                  </a:tcPr>
                </a:tc>
                <a:tc>
                  <a:txBody>
                    <a:bodyPr/>
                    <a:lstStyle/>
                    <a:p>
                      <a:pPr marL="0" indent="0" algn="ctr">
                        <a:buNone/>
                      </a:pPr>
                      <a:r>
                        <a:rPr lang="en-US" sz="1600" dirty="0">
                          <a:solidFill>
                            <a:schemeClr val="accent5"/>
                          </a:solidFill>
                          <a:latin typeface="Calibri" pitchFamily="34" charset="0"/>
                          <a:ea typeface="Calibri" pitchFamily="34" charset="-122"/>
                          <a:cs typeface="Calibri" pitchFamily="34" charset="-120"/>
                        </a:rPr>
                        <a:t>490 − 312</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490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30–49</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273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accent2"/>
                    </a:solidFill>
                  </a:tcPr>
                </a:tc>
                <a:tc>
                  <a:txBody>
                    <a:bodyPr/>
                    <a:lstStyle/>
                    <a:p>
                      <a:pPr marL="0" indent="0" algn="ctr">
                        <a:buNone/>
                      </a:pPr>
                      <a:r>
                        <a:rPr lang="en-US" sz="1600" dirty="0">
                          <a:solidFill>
                            <a:schemeClr val="accent5"/>
                          </a:solidFill>
                          <a:latin typeface="Calibri" pitchFamily="34" charset="0"/>
                          <a:ea typeface="Calibri" pitchFamily="34" charset="-122"/>
                          <a:cs typeface="Calibri" pitchFamily="34" charset="-120"/>
                        </a:rPr>
                        <a:t>456 − 273</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456</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50 &amp; above</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accent5"/>
                          </a:solidFill>
                          <a:latin typeface="Calibri" pitchFamily="34" charset="0"/>
                          <a:ea typeface="Calibri" pitchFamily="34" charset="-122"/>
                          <a:cs typeface="Calibri" pitchFamily="34" charset="-120"/>
                        </a:rPr>
                        <a:t>809 − 585</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dirty="0">
                          <a:solidFill>
                            <a:schemeClr val="accent5"/>
                          </a:solidFill>
                          <a:latin typeface="Calibri" pitchFamily="34" charset="0"/>
                          <a:ea typeface="Calibri" pitchFamily="34" charset="-122"/>
                          <a:cs typeface="Calibri" pitchFamily="34" charset="-120"/>
                        </a:rPr>
                        <a:t>494 − 224</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dirty="0">
                          <a:solidFill>
                            <a:schemeClr val="tx1"/>
                          </a:solidFill>
                          <a:latin typeface="Calibri" pitchFamily="34" charset="0"/>
                          <a:ea typeface="Calibri" pitchFamily="34" charset="-122"/>
                          <a:cs typeface="Calibri" pitchFamily="34" charset="-120"/>
                        </a:rPr>
                        <a:t>494</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lgn="l">
                        <a:buNone/>
                      </a:pPr>
                      <a:r>
                        <a:rPr lang="en-US" sz="1600" b="1" dirty="0">
                          <a:solidFill>
                            <a:schemeClr val="tx1"/>
                          </a:solidFill>
                          <a:latin typeface="Calibri" pitchFamily="34" charset="0"/>
                          <a:ea typeface="Calibri" pitchFamily="34" charset="-122"/>
                          <a:cs typeface="Calibri" pitchFamily="34" charset="-120"/>
                        </a:rPr>
                        <a:t>Total</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809</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631</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1,440</a:t>
                      </a:r>
                      <a:endParaRPr lang="en-US" sz="16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key-159"/>
          <p:cNvSpPr/>
          <p:nvPr/>
        </p:nvSpPr>
        <p:spPr>
          <a:xfrm>
            <a:off x="548640" y="4709160"/>
            <a:ext cx="365760" cy="365760"/>
          </a:xfrm>
          <a:prstGeom prst="roundRect">
            <a:avLst>
              <a:gd name="adj" fmla="val 15000"/>
            </a:avLst>
          </a:prstGeom>
          <a:solidFill>
            <a:schemeClr val="accent2"/>
          </a:solidFill>
          <a:ln w="9525">
            <a:solidFill>
              <a:srgbClr val="D5E4E2"/>
            </a:solidFill>
            <a:prstDash val="solid"/>
          </a:ln>
        </p:spPr>
        <p:txBody>
          <a:bodyPr/>
          <a:lstStyle/>
          <a:p>
            <a:endParaRPr lang="en-IN"/>
          </a:p>
        </p:txBody>
      </p:sp>
      <p:sp>
        <p:nvSpPr>
          <p:cNvPr id="6" name="text-160"/>
          <p:cNvSpPr txBox="1"/>
          <p:nvPr/>
        </p:nvSpPr>
        <p:spPr>
          <a:xfrm>
            <a:off x="1051560" y="4727448"/>
            <a:ext cx="2743200" cy="365760"/>
          </a:xfrm>
          <a:prstGeom prst="rect">
            <a:avLst/>
          </a:prstGeom>
          <a:noFill/>
          <a:ln/>
        </p:spPr>
        <p:txBody>
          <a:bodyPr wrap="square" lIns="0" tIns="0" rIns="0" bIns="0" rtlCol="0" anchor="t"/>
          <a:lstStyle/>
          <a:p>
            <a:pPr marL="0" indent="0">
              <a:buNone/>
            </a:pPr>
            <a:r>
              <a:rPr lang="en-US" sz="1400" dirty="0">
                <a:solidFill>
                  <a:schemeClr val="tx1"/>
                </a:solidFill>
              </a:rPr>
              <a:t>Free choice: pick any value</a:t>
            </a:r>
            <a:endParaRPr lang="en-US" sz="1400" dirty="0"/>
          </a:p>
        </p:txBody>
      </p:sp>
      <p:sp>
        <p:nvSpPr>
          <p:cNvPr id="7" name="key-161"/>
          <p:cNvSpPr/>
          <p:nvPr/>
        </p:nvSpPr>
        <p:spPr>
          <a:xfrm>
            <a:off x="3749040" y="4709160"/>
            <a:ext cx="365760" cy="365760"/>
          </a:xfrm>
          <a:prstGeom prst="roundRect">
            <a:avLst>
              <a:gd name="adj" fmla="val 15000"/>
            </a:avLst>
          </a:prstGeom>
          <a:solidFill>
            <a:schemeClr val="bg2"/>
          </a:solidFill>
          <a:ln w="9525">
            <a:solidFill>
              <a:srgbClr val="D5E4E2"/>
            </a:solidFill>
            <a:prstDash val="solid"/>
          </a:ln>
        </p:spPr>
        <p:txBody>
          <a:bodyPr/>
          <a:lstStyle/>
          <a:p>
            <a:endParaRPr lang="en-IN"/>
          </a:p>
        </p:txBody>
      </p:sp>
      <p:sp>
        <p:nvSpPr>
          <p:cNvPr id="8" name="text-162"/>
          <p:cNvSpPr txBox="1"/>
          <p:nvPr/>
        </p:nvSpPr>
        <p:spPr>
          <a:xfrm>
            <a:off x="4251960" y="4727448"/>
            <a:ext cx="2743200" cy="365760"/>
          </a:xfrm>
          <a:prstGeom prst="rect">
            <a:avLst/>
          </a:prstGeom>
          <a:noFill/>
          <a:ln/>
        </p:spPr>
        <p:txBody>
          <a:bodyPr wrap="square" lIns="0" tIns="0" rIns="0" bIns="0" rtlCol="0" anchor="t"/>
          <a:lstStyle/>
          <a:p>
            <a:pPr marL="0" indent="0">
              <a:buNone/>
            </a:pPr>
            <a:r>
              <a:rPr lang="en-US" sz="1400" dirty="0">
                <a:solidFill>
                  <a:schemeClr val="tx1"/>
                </a:solidFill>
              </a:rPr>
              <a:t>Forced by the totals</a:t>
            </a:r>
            <a:endParaRPr lang="en-US" sz="1400" dirty="0"/>
          </a:p>
        </p:txBody>
      </p:sp>
      <p:sp>
        <p:nvSpPr>
          <p:cNvPr id="9" name="text-163"/>
          <p:cNvSpPr txBox="1"/>
          <p:nvPr/>
        </p:nvSpPr>
        <p:spPr>
          <a:xfrm>
            <a:off x="548640" y="5303520"/>
            <a:ext cx="6400800" cy="731520"/>
          </a:xfrm>
          <a:prstGeom prst="rect">
            <a:avLst/>
          </a:prstGeom>
          <a:noFill/>
          <a:ln/>
        </p:spPr>
        <p:txBody>
          <a:bodyPr wrap="square" lIns="0" tIns="0" rIns="0" bIns="0" rtlCol="0" anchor="t"/>
          <a:lstStyle/>
          <a:p>
            <a:pPr marL="0" indent="0">
              <a:buNone/>
            </a:pPr>
            <a:r>
              <a:rPr lang="en-US" sz="1600" b="1" dirty="0">
                <a:solidFill>
                  <a:schemeClr val="accent1"/>
                </a:solidFill>
              </a:rPr>
              <a:t>Once the margins are fixed, two cells decide the whole table.</a:t>
            </a:r>
            <a:endParaRPr lang="en-US" sz="1600" dirty="0"/>
          </a:p>
        </p:txBody>
      </p:sp>
      <p:sp>
        <p:nvSpPr>
          <p:cNvPr id="10" name="card-164"/>
          <p:cNvSpPr/>
          <p:nvPr/>
        </p:nvSpPr>
        <p:spPr>
          <a:xfrm>
            <a:off x="7406640" y="1645920"/>
            <a:ext cx="4206240" cy="2103120"/>
          </a:xfrm>
          <a:prstGeom prst="roundRect">
            <a:avLst>
              <a:gd name="adj" fmla="val 5217"/>
            </a:avLst>
          </a:prstGeom>
          <a:solidFill>
            <a:schemeClr val="tx2"/>
          </a:solidFill>
          <a:ln/>
        </p:spPr>
        <p:txBody>
          <a:bodyPr/>
          <a:lstStyle/>
          <a:p>
            <a:endParaRPr lang="en-IN"/>
          </a:p>
        </p:txBody>
      </p:sp>
      <p:sp>
        <p:nvSpPr>
          <p:cNvPr id="11" name="text-165"/>
          <p:cNvSpPr txBox="1"/>
          <p:nvPr/>
        </p:nvSpPr>
        <p:spPr>
          <a:xfrm>
            <a:off x="7680960" y="1920240"/>
            <a:ext cx="3749040" cy="155448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df = (r − 1)(c − 1)</a:t>
            </a:r>
            <a:endParaRPr lang="en-US" sz="2600" dirty="0"/>
          </a:p>
          <a:p>
            <a:pPr marL="0" indent="0" algn="ctr">
              <a:buNone/>
            </a:pPr>
            <a:r>
              <a:rPr lang="en-US" sz="2600" b="1" dirty="0">
                <a:solidFill>
                  <a:schemeClr val="accent2"/>
                </a:solidFill>
                <a:latin typeface="Cambria" pitchFamily="34" charset="0"/>
                <a:ea typeface="Cambria" pitchFamily="34" charset="-122"/>
                <a:cs typeface="Cambria" pitchFamily="34" charset="-120"/>
              </a:rPr>
              <a:t>= (3 − 1)(2 − 1) = 2</a:t>
            </a:r>
            <a:endParaRPr lang="en-US" sz="2600" dirty="0"/>
          </a:p>
        </p:txBody>
      </p:sp>
      <p:graphicFrame>
        <p:nvGraphicFramePr>
          <p:cNvPr id="27" name="table-166"/>
          <p:cNvGraphicFramePr>
            <a:graphicFrameLocks noGrp="1"/>
          </p:cNvGraphicFramePr>
          <p:nvPr>
            <p:extLst>
              <p:ext uri="{D42A27DB-BD31-4B8C-83A1-F6EECF244321}">
                <p14:modId xmlns:p14="http://schemas.microsoft.com/office/powerpoint/2010/main" val="1579011935"/>
              </p:ext>
            </p:extLst>
          </p:nvPr>
        </p:nvGraphicFramePr>
        <p:xfrm>
          <a:off x="7406640" y="4023360"/>
          <a:ext cx="4206240" cy="2057400"/>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11480">
                <a:tc>
                  <a:txBody>
                    <a:bodyPr/>
                    <a:lstStyle/>
                    <a:p>
                      <a:pPr marL="0" indent="0" algn="l">
                        <a:buNone/>
                      </a:pPr>
                      <a:r>
                        <a:rPr lang="en-US" sz="1500" b="1" dirty="0">
                          <a:solidFill>
                            <a:schemeClr val="bg1"/>
                          </a:solidFill>
                          <a:latin typeface="Calibri" pitchFamily="34" charset="0"/>
                          <a:ea typeface="Calibri" pitchFamily="34" charset="-122"/>
                          <a:cs typeface="Calibri" pitchFamily="34" charset="-120"/>
                        </a:rPr>
                        <a:t>Table size</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df</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2 × 2</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3 × 3</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4 × 3</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5 × 4</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STEP 5 · DECIDE</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Two routes to the same decision</a:t>
            </a:r>
            <a:endParaRPr lang="en-US" sz="3600" dirty="0"/>
          </a:p>
        </p:txBody>
      </p:sp>
      <p:sp>
        <p:nvSpPr>
          <p:cNvPr id="4" name="card-180"/>
          <p:cNvSpPr/>
          <p:nvPr/>
        </p:nvSpPr>
        <p:spPr>
          <a:xfrm>
            <a:off x="548640" y="1645920"/>
            <a:ext cx="5303520" cy="3246120"/>
          </a:xfrm>
          <a:prstGeom prst="roundRect">
            <a:avLst>
              <a:gd name="adj" fmla="val 3380"/>
            </a:avLst>
          </a:prstGeom>
          <a:solidFill>
            <a:schemeClr val="bg2"/>
          </a:solidFill>
          <a:ln/>
        </p:spPr>
        <p:txBody>
          <a:bodyPr/>
          <a:lstStyle/>
          <a:p>
            <a:endParaRPr lang="en-IN"/>
          </a:p>
        </p:txBody>
      </p:sp>
      <p:sp>
        <p:nvSpPr>
          <p:cNvPr id="5" name="text-181"/>
          <p:cNvSpPr txBox="1"/>
          <p:nvPr/>
        </p:nvSpPr>
        <p:spPr>
          <a:xfrm>
            <a:off x="868680" y="1828800"/>
            <a:ext cx="4663440" cy="4114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Critical value route</a:t>
            </a:r>
            <a:endParaRPr lang="en-US" sz="2200" dirty="0"/>
          </a:p>
        </p:txBody>
      </p:sp>
      <p:sp>
        <p:nvSpPr>
          <p:cNvPr id="6" name="text-182"/>
          <p:cNvSpPr txBox="1"/>
          <p:nvPr/>
        </p:nvSpPr>
        <p:spPr>
          <a:xfrm>
            <a:off x="868680" y="2240280"/>
            <a:ext cx="4663440" cy="320040"/>
          </a:xfrm>
          <a:prstGeom prst="rect">
            <a:avLst/>
          </a:prstGeom>
          <a:noFill/>
          <a:ln/>
        </p:spPr>
        <p:txBody>
          <a:bodyPr wrap="square" lIns="0" tIns="0" rIns="0" bIns="0" rtlCol="0" anchor="t"/>
          <a:lstStyle/>
          <a:p>
            <a:pPr marL="0" indent="0">
              <a:buNone/>
            </a:pPr>
            <a:r>
              <a:rPr lang="en-US" sz="1300" dirty="0">
                <a:solidFill>
                  <a:schemeClr val="accent5"/>
                </a:solidFill>
              </a:rPr>
              <a:t>From a χ² table or Excel</a:t>
            </a:r>
            <a:endParaRPr lang="en-US" sz="1300" dirty="0"/>
          </a:p>
        </p:txBody>
      </p:sp>
      <p:sp>
        <p:nvSpPr>
          <p:cNvPr id="7" name="text-183"/>
          <p:cNvSpPr txBox="1"/>
          <p:nvPr/>
        </p:nvSpPr>
        <p:spPr>
          <a:xfrm>
            <a:off x="868680" y="2743200"/>
            <a:ext cx="3017520" cy="411480"/>
          </a:xfrm>
          <a:prstGeom prst="rect">
            <a:avLst/>
          </a:prstGeom>
          <a:noFill/>
          <a:ln/>
        </p:spPr>
        <p:txBody>
          <a:bodyPr wrap="square" lIns="0" tIns="0" rIns="0" bIns="0" rtlCol="0" anchor="t"/>
          <a:lstStyle/>
          <a:p>
            <a:pPr marL="0" indent="0">
              <a:buNone/>
            </a:pPr>
            <a:r>
              <a:rPr lang="en-US" sz="1500" dirty="0">
                <a:solidFill>
                  <a:schemeClr val="tx1"/>
                </a:solidFill>
              </a:rPr>
              <a:t>Critical value (df = 2, α = .05)</a:t>
            </a:r>
            <a:endParaRPr lang="en-US" sz="1500" dirty="0"/>
          </a:p>
        </p:txBody>
      </p:sp>
      <p:sp>
        <p:nvSpPr>
          <p:cNvPr id="8" name="text-184"/>
          <p:cNvSpPr txBox="1"/>
          <p:nvPr/>
        </p:nvSpPr>
        <p:spPr>
          <a:xfrm>
            <a:off x="3657600" y="2743200"/>
            <a:ext cx="1920240" cy="411480"/>
          </a:xfrm>
          <a:prstGeom prst="rect">
            <a:avLst/>
          </a:prstGeom>
          <a:noFill/>
          <a:ln/>
        </p:spPr>
        <p:txBody>
          <a:bodyPr wrap="square" lIns="0" tIns="0" rIns="0" bIns="0" rtlCol="0" anchor="t"/>
          <a:lstStyle/>
          <a:p>
            <a:pPr marL="0" indent="0" algn="r">
              <a:buNone/>
            </a:pPr>
            <a:r>
              <a:rPr lang="en-US" sz="1500" b="1" dirty="0">
                <a:solidFill>
                  <a:schemeClr val="accent1"/>
                </a:solidFill>
              </a:rPr>
              <a:t>5.99</a:t>
            </a:r>
            <a:endParaRPr lang="en-US" sz="1500" dirty="0"/>
          </a:p>
        </p:txBody>
      </p:sp>
      <p:sp>
        <p:nvSpPr>
          <p:cNvPr id="9" name="text-185"/>
          <p:cNvSpPr txBox="1"/>
          <p:nvPr/>
        </p:nvSpPr>
        <p:spPr>
          <a:xfrm>
            <a:off x="868680" y="3218688"/>
            <a:ext cx="3017520" cy="411480"/>
          </a:xfrm>
          <a:prstGeom prst="rect">
            <a:avLst/>
          </a:prstGeom>
          <a:noFill/>
          <a:ln/>
        </p:spPr>
        <p:txBody>
          <a:bodyPr wrap="square" lIns="0" tIns="0" rIns="0" bIns="0" rtlCol="0" anchor="t"/>
          <a:lstStyle/>
          <a:p>
            <a:pPr marL="0" indent="0">
              <a:buNone/>
            </a:pPr>
            <a:r>
              <a:rPr lang="en-US" sz="1500" dirty="0">
                <a:solidFill>
                  <a:schemeClr val="tx1"/>
                </a:solidFill>
              </a:rPr>
              <a:t>Our statistic</a:t>
            </a:r>
            <a:endParaRPr lang="en-US" sz="1500" dirty="0"/>
          </a:p>
        </p:txBody>
      </p:sp>
      <p:sp>
        <p:nvSpPr>
          <p:cNvPr id="10" name="text-186"/>
          <p:cNvSpPr txBox="1"/>
          <p:nvPr/>
        </p:nvSpPr>
        <p:spPr>
          <a:xfrm>
            <a:off x="3657600" y="3218688"/>
            <a:ext cx="1920240" cy="411480"/>
          </a:xfrm>
          <a:prstGeom prst="rect">
            <a:avLst/>
          </a:prstGeom>
          <a:noFill/>
          <a:ln/>
        </p:spPr>
        <p:txBody>
          <a:bodyPr wrap="square" lIns="0" tIns="0" rIns="0" bIns="0" rtlCol="0" anchor="t"/>
          <a:lstStyle/>
          <a:p>
            <a:pPr marL="0" indent="0" algn="r">
              <a:buNone/>
            </a:pPr>
            <a:r>
              <a:rPr lang="en-US" sz="1500" b="1" dirty="0">
                <a:solidFill>
                  <a:schemeClr val="accent1"/>
                </a:solidFill>
              </a:rPr>
              <a:t>37.26</a:t>
            </a:r>
            <a:endParaRPr lang="en-US" sz="1500" dirty="0"/>
          </a:p>
        </p:txBody>
      </p:sp>
      <p:sp>
        <p:nvSpPr>
          <p:cNvPr id="11" name="text-187"/>
          <p:cNvSpPr txBox="1"/>
          <p:nvPr/>
        </p:nvSpPr>
        <p:spPr>
          <a:xfrm>
            <a:off x="868680" y="3694176"/>
            <a:ext cx="3017520" cy="411480"/>
          </a:xfrm>
          <a:prstGeom prst="rect">
            <a:avLst/>
          </a:prstGeom>
          <a:noFill/>
          <a:ln/>
        </p:spPr>
        <p:txBody>
          <a:bodyPr wrap="square" lIns="0" tIns="0" rIns="0" bIns="0" rtlCol="0" anchor="t"/>
          <a:lstStyle/>
          <a:p>
            <a:pPr marL="0" indent="0">
              <a:buNone/>
            </a:pPr>
            <a:r>
              <a:rPr lang="en-US" sz="1500" dirty="0">
                <a:solidFill>
                  <a:schemeClr val="tx1"/>
                </a:solidFill>
              </a:rPr>
              <a:t>Rule</a:t>
            </a:r>
            <a:endParaRPr lang="en-US" sz="1500" dirty="0"/>
          </a:p>
        </p:txBody>
      </p:sp>
      <p:sp>
        <p:nvSpPr>
          <p:cNvPr id="12" name="text-188"/>
          <p:cNvSpPr txBox="1"/>
          <p:nvPr/>
        </p:nvSpPr>
        <p:spPr>
          <a:xfrm>
            <a:off x="3657600" y="3694176"/>
            <a:ext cx="1920240" cy="411480"/>
          </a:xfrm>
          <a:prstGeom prst="rect">
            <a:avLst/>
          </a:prstGeom>
          <a:noFill/>
          <a:ln/>
        </p:spPr>
        <p:txBody>
          <a:bodyPr wrap="square" lIns="0" tIns="0" rIns="0" bIns="0" rtlCol="0" anchor="t"/>
          <a:lstStyle/>
          <a:p>
            <a:pPr marL="0" indent="0" algn="r">
              <a:buNone/>
            </a:pPr>
            <a:r>
              <a:rPr lang="en-US" sz="1500" b="1" dirty="0">
                <a:solidFill>
                  <a:schemeClr val="accent1"/>
                </a:solidFill>
              </a:rPr>
              <a:t>Reject H₀ if χ² &gt; 5.99</a:t>
            </a:r>
            <a:endParaRPr lang="en-US" sz="1500" dirty="0"/>
          </a:p>
        </p:txBody>
      </p:sp>
      <p:sp>
        <p:nvSpPr>
          <p:cNvPr id="13" name="pill-189"/>
          <p:cNvSpPr txBox="1"/>
          <p:nvPr/>
        </p:nvSpPr>
        <p:spPr>
          <a:xfrm>
            <a:off x="868680" y="4251960"/>
            <a:ext cx="4663440" cy="457200"/>
          </a:xfrm>
          <a:prstGeom prst="roundRect">
            <a:avLst>
              <a:gd name="adj" fmla="val 50000"/>
            </a:avLst>
          </a:prstGeom>
          <a:solidFill>
            <a:schemeClr val="accent1"/>
          </a:solidFill>
          <a:ln/>
        </p:spPr>
        <p:txBody>
          <a:bodyPr wrap="square" lIns="0" tIns="0" rIns="0" bIns="0" rtlCol="0" anchor="ctr"/>
          <a:lstStyle/>
          <a:p>
            <a:pPr marL="0" indent="0" algn="ctr">
              <a:buNone/>
            </a:pPr>
            <a:r>
              <a:rPr lang="en-US" sz="1600" b="1" dirty="0">
                <a:solidFill>
                  <a:schemeClr val="bg1"/>
                </a:solidFill>
              </a:rPr>
              <a:t>37.26 &gt; 5.99  →  Reject H₀</a:t>
            </a:r>
            <a:endParaRPr lang="en-US" sz="1600" dirty="0"/>
          </a:p>
        </p:txBody>
      </p:sp>
      <p:sp>
        <p:nvSpPr>
          <p:cNvPr id="14" name="card-190"/>
          <p:cNvSpPr/>
          <p:nvPr/>
        </p:nvSpPr>
        <p:spPr>
          <a:xfrm>
            <a:off x="6309360" y="1645920"/>
            <a:ext cx="5303520" cy="3246120"/>
          </a:xfrm>
          <a:prstGeom prst="roundRect">
            <a:avLst>
              <a:gd name="adj" fmla="val 3380"/>
            </a:avLst>
          </a:prstGeom>
          <a:solidFill>
            <a:schemeClr val="bg2"/>
          </a:solidFill>
          <a:ln/>
        </p:spPr>
        <p:txBody>
          <a:bodyPr/>
          <a:lstStyle/>
          <a:p>
            <a:endParaRPr lang="en-IN"/>
          </a:p>
        </p:txBody>
      </p:sp>
      <p:sp>
        <p:nvSpPr>
          <p:cNvPr id="15" name="text-191"/>
          <p:cNvSpPr txBox="1"/>
          <p:nvPr/>
        </p:nvSpPr>
        <p:spPr>
          <a:xfrm>
            <a:off x="6629400" y="1828800"/>
            <a:ext cx="4663440" cy="4114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p-value route</a:t>
            </a:r>
            <a:endParaRPr lang="en-US" sz="2200" dirty="0"/>
          </a:p>
        </p:txBody>
      </p:sp>
      <p:sp>
        <p:nvSpPr>
          <p:cNvPr id="16" name="text-192"/>
          <p:cNvSpPr txBox="1"/>
          <p:nvPr/>
        </p:nvSpPr>
        <p:spPr>
          <a:xfrm>
            <a:off x="6629400" y="2240280"/>
            <a:ext cx="4663440" cy="320040"/>
          </a:xfrm>
          <a:prstGeom prst="rect">
            <a:avLst/>
          </a:prstGeom>
          <a:noFill/>
          <a:ln/>
        </p:spPr>
        <p:txBody>
          <a:bodyPr wrap="square" lIns="0" tIns="0" rIns="0" bIns="0" rtlCol="0" anchor="t"/>
          <a:lstStyle/>
          <a:p>
            <a:pPr marL="0" indent="0">
              <a:buNone/>
            </a:pPr>
            <a:r>
              <a:rPr lang="en-US" sz="1300" dirty="0">
                <a:solidFill>
                  <a:schemeClr val="accent5"/>
                </a:solidFill>
              </a:rPr>
              <a:t>From software</a:t>
            </a:r>
            <a:endParaRPr lang="en-US" sz="1300" dirty="0"/>
          </a:p>
        </p:txBody>
      </p:sp>
      <p:sp>
        <p:nvSpPr>
          <p:cNvPr id="17" name="text-193"/>
          <p:cNvSpPr txBox="1"/>
          <p:nvPr/>
        </p:nvSpPr>
        <p:spPr>
          <a:xfrm>
            <a:off x="6629400" y="2743200"/>
            <a:ext cx="3017520" cy="411480"/>
          </a:xfrm>
          <a:prstGeom prst="rect">
            <a:avLst/>
          </a:prstGeom>
          <a:noFill/>
          <a:ln/>
        </p:spPr>
        <p:txBody>
          <a:bodyPr wrap="square" lIns="0" tIns="0" rIns="0" bIns="0" rtlCol="0" anchor="t"/>
          <a:lstStyle/>
          <a:p>
            <a:pPr marL="0" indent="0">
              <a:buNone/>
            </a:pPr>
            <a:r>
              <a:rPr lang="en-US" sz="1500" dirty="0">
                <a:solidFill>
                  <a:schemeClr val="tx1"/>
                </a:solidFill>
              </a:rPr>
              <a:t>p = P(χ² ≥ 37.26)</a:t>
            </a:r>
            <a:endParaRPr lang="en-US" sz="1500" dirty="0"/>
          </a:p>
        </p:txBody>
      </p:sp>
      <p:sp>
        <p:nvSpPr>
          <p:cNvPr id="18" name="text-194"/>
          <p:cNvSpPr txBox="1"/>
          <p:nvPr/>
        </p:nvSpPr>
        <p:spPr>
          <a:xfrm>
            <a:off x="9418320" y="2743200"/>
            <a:ext cx="1920240" cy="411480"/>
          </a:xfrm>
          <a:prstGeom prst="rect">
            <a:avLst/>
          </a:prstGeom>
          <a:noFill/>
          <a:ln/>
        </p:spPr>
        <p:txBody>
          <a:bodyPr wrap="square" lIns="0" tIns="0" rIns="0" bIns="0" rtlCol="0" anchor="t"/>
          <a:lstStyle/>
          <a:p>
            <a:pPr marL="0" indent="0" algn="r">
              <a:buNone/>
            </a:pPr>
            <a:r>
              <a:rPr lang="en-US" sz="1500" b="1" dirty="0">
                <a:solidFill>
                  <a:schemeClr val="accent1"/>
                </a:solidFill>
              </a:rPr>
              <a:t>≈ 0.000000008</a:t>
            </a:r>
            <a:endParaRPr lang="en-US" sz="1500" dirty="0"/>
          </a:p>
        </p:txBody>
      </p:sp>
      <p:sp>
        <p:nvSpPr>
          <p:cNvPr id="19" name="text-195"/>
          <p:cNvSpPr txBox="1"/>
          <p:nvPr/>
        </p:nvSpPr>
        <p:spPr>
          <a:xfrm>
            <a:off x="6629400" y="3218688"/>
            <a:ext cx="3017520" cy="411480"/>
          </a:xfrm>
          <a:prstGeom prst="rect">
            <a:avLst/>
          </a:prstGeom>
          <a:noFill/>
          <a:ln/>
        </p:spPr>
        <p:txBody>
          <a:bodyPr wrap="square" lIns="0" tIns="0" rIns="0" bIns="0" rtlCol="0" anchor="t"/>
          <a:lstStyle/>
          <a:p>
            <a:pPr marL="0" indent="0">
              <a:buNone/>
            </a:pPr>
            <a:r>
              <a:rPr lang="en-US" sz="1500" dirty="0">
                <a:solidFill>
                  <a:schemeClr val="tx1"/>
                </a:solidFill>
              </a:rPr>
              <a:t>Significance level</a:t>
            </a:r>
            <a:endParaRPr lang="en-US" sz="1500" dirty="0"/>
          </a:p>
        </p:txBody>
      </p:sp>
      <p:sp>
        <p:nvSpPr>
          <p:cNvPr id="20" name="text-196"/>
          <p:cNvSpPr txBox="1"/>
          <p:nvPr/>
        </p:nvSpPr>
        <p:spPr>
          <a:xfrm>
            <a:off x="9418320" y="3218688"/>
            <a:ext cx="1920240" cy="411480"/>
          </a:xfrm>
          <a:prstGeom prst="rect">
            <a:avLst/>
          </a:prstGeom>
          <a:noFill/>
          <a:ln/>
        </p:spPr>
        <p:txBody>
          <a:bodyPr wrap="square" lIns="0" tIns="0" rIns="0" bIns="0" rtlCol="0" anchor="t"/>
          <a:lstStyle/>
          <a:p>
            <a:pPr marL="0" indent="0" algn="r">
              <a:buNone/>
            </a:pPr>
            <a:r>
              <a:rPr lang="en-US" sz="1500" b="1" dirty="0">
                <a:solidFill>
                  <a:schemeClr val="accent1"/>
                </a:solidFill>
              </a:rPr>
              <a:t>α = 0.05</a:t>
            </a:r>
            <a:endParaRPr lang="en-US" sz="1500" dirty="0"/>
          </a:p>
        </p:txBody>
      </p:sp>
      <p:sp>
        <p:nvSpPr>
          <p:cNvPr id="21" name="text-197"/>
          <p:cNvSpPr txBox="1"/>
          <p:nvPr/>
        </p:nvSpPr>
        <p:spPr>
          <a:xfrm>
            <a:off x="6629400" y="3694176"/>
            <a:ext cx="3017520" cy="411480"/>
          </a:xfrm>
          <a:prstGeom prst="rect">
            <a:avLst/>
          </a:prstGeom>
          <a:noFill/>
          <a:ln/>
        </p:spPr>
        <p:txBody>
          <a:bodyPr wrap="square" lIns="0" tIns="0" rIns="0" bIns="0" rtlCol="0" anchor="t"/>
          <a:lstStyle/>
          <a:p>
            <a:pPr marL="0" indent="0">
              <a:buNone/>
            </a:pPr>
            <a:r>
              <a:rPr lang="en-US" sz="1500" dirty="0">
                <a:solidFill>
                  <a:schemeClr val="tx1"/>
                </a:solidFill>
              </a:rPr>
              <a:t>Rule</a:t>
            </a:r>
            <a:endParaRPr lang="en-US" sz="1500" dirty="0"/>
          </a:p>
        </p:txBody>
      </p:sp>
      <p:sp>
        <p:nvSpPr>
          <p:cNvPr id="22" name="text-198"/>
          <p:cNvSpPr txBox="1"/>
          <p:nvPr/>
        </p:nvSpPr>
        <p:spPr>
          <a:xfrm>
            <a:off x="9418320" y="3694176"/>
            <a:ext cx="1920240" cy="411480"/>
          </a:xfrm>
          <a:prstGeom prst="rect">
            <a:avLst/>
          </a:prstGeom>
          <a:noFill/>
          <a:ln/>
        </p:spPr>
        <p:txBody>
          <a:bodyPr wrap="square" lIns="0" tIns="0" rIns="0" bIns="0" rtlCol="0" anchor="t"/>
          <a:lstStyle/>
          <a:p>
            <a:pPr marL="0" indent="0" algn="r">
              <a:buNone/>
            </a:pPr>
            <a:r>
              <a:rPr lang="en-US" sz="1500" b="1" dirty="0">
                <a:solidFill>
                  <a:schemeClr val="accent1"/>
                </a:solidFill>
              </a:rPr>
              <a:t>Reject H₀ if p &lt; α</a:t>
            </a:r>
            <a:endParaRPr lang="en-US" sz="1500" dirty="0"/>
          </a:p>
        </p:txBody>
      </p:sp>
      <p:sp>
        <p:nvSpPr>
          <p:cNvPr id="23" name="pill-199"/>
          <p:cNvSpPr txBox="1"/>
          <p:nvPr/>
        </p:nvSpPr>
        <p:spPr>
          <a:xfrm>
            <a:off x="6629400" y="4251960"/>
            <a:ext cx="4663440" cy="457200"/>
          </a:xfrm>
          <a:prstGeom prst="roundRect">
            <a:avLst>
              <a:gd name="adj" fmla="val 50000"/>
            </a:avLst>
          </a:prstGeom>
          <a:solidFill>
            <a:schemeClr val="accent1"/>
          </a:solidFill>
          <a:ln/>
        </p:spPr>
        <p:txBody>
          <a:bodyPr wrap="square" lIns="0" tIns="0" rIns="0" bIns="0" rtlCol="0" anchor="ctr"/>
          <a:lstStyle/>
          <a:p>
            <a:pPr marL="0" indent="0" algn="ctr">
              <a:buNone/>
            </a:pPr>
            <a:r>
              <a:rPr lang="en-US" sz="1600" b="1" dirty="0">
                <a:solidFill>
                  <a:schemeClr val="bg1"/>
                </a:solidFill>
              </a:rPr>
              <a:t>p &lt; 0.05  →  Reject H₀</a:t>
            </a:r>
            <a:endParaRPr lang="en-US" sz="1600" dirty="0"/>
          </a:p>
        </p:txBody>
      </p:sp>
      <p:sp>
        <p:nvSpPr>
          <p:cNvPr id="24" name="card-200"/>
          <p:cNvSpPr/>
          <p:nvPr/>
        </p:nvSpPr>
        <p:spPr>
          <a:xfrm>
            <a:off x="548640" y="5120640"/>
            <a:ext cx="11064240" cy="1005840"/>
          </a:xfrm>
          <a:prstGeom prst="roundRect">
            <a:avLst>
              <a:gd name="adj" fmla="val 10909"/>
            </a:avLst>
          </a:prstGeom>
          <a:solidFill>
            <a:schemeClr val="tx2"/>
          </a:solidFill>
          <a:ln/>
        </p:spPr>
        <p:txBody>
          <a:bodyPr/>
          <a:lstStyle/>
          <a:p>
            <a:endParaRPr lang="en-IN"/>
          </a:p>
        </p:txBody>
      </p:sp>
      <p:sp>
        <p:nvSpPr>
          <p:cNvPr id="25" name="text-201"/>
          <p:cNvSpPr txBox="1"/>
          <p:nvPr/>
        </p:nvSpPr>
        <p:spPr>
          <a:xfrm>
            <a:off x="868680" y="5212080"/>
            <a:ext cx="10424160" cy="822960"/>
          </a:xfrm>
          <a:prstGeom prst="rect">
            <a:avLst/>
          </a:prstGeom>
          <a:noFill/>
          <a:ln/>
        </p:spPr>
        <p:txBody>
          <a:bodyPr wrap="square" lIns="0" tIns="0" rIns="0" bIns="0" rtlCol="0" anchor="ctr"/>
          <a:lstStyle/>
          <a:p>
            <a:pPr marL="0" indent="0">
              <a:buNone/>
            </a:pPr>
            <a:r>
              <a:rPr lang="en-US" sz="1600" b="1" dirty="0">
                <a:solidFill>
                  <a:schemeClr val="accent2"/>
                </a:solidFill>
              </a:rPr>
              <a:t>Conclusion in context: </a:t>
            </a:r>
            <a:r>
              <a:rPr lang="en-US" sz="1600" dirty="0">
                <a:solidFill>
                  <a:schemeClr val="bg1"/>
                </a:solidFill>
              </a:rPr>
              <a:t>age and AI usage are associated. The pattern of AI use differs across age groups, and chance is a poor explanation for a gap this size.</a:t>
            </a:r>
            <a:endParaRPr lang="en-US" sz="1600" dirty="0"/>
          </a:p>
        </p:txBody>
      </p:sp>
      <p:sp>
        <p:nvSpPr>
          <p:cNvPr id="26"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1E5815-D54C-487F-A054-6D4930ADE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E0984B0-70CC-E404-26FE-E40680C862F0}"/>
              </a:ext>
            </a:extLst>
          </p:cNvPr>
          <p:cNvPicPr>
            <a:picLocks noChangeAspect="1"/>
          </p:cNvPicPr>
          <p:nvPr/>
        </p:nvPicPr>
        <p:blipFill>
          <a:blip r:embed="rId2"/>
          <a:stretch>
            <a:fillRect/>
          </a:stretch>
        </p:blipFill>
        <p:spPr>
          <a:xfrm>
            <a:off x="643467" y="1177541"/>
            <a:ext cx="9240039" cy="4502920"/>
          </a:xfrm>
          <a:prstGeom prst="rect">
            <a:avLst/>
          </a:prstGeom>
        </p:spPr>
      </p:pic>
      <p:sp>
        <p:nvSpPr>
          <p:cNvPr id="10" name="Freeform: Shape 9">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08496"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Tree>
    <p:extLst>
      <p:ext uri="{BB962C8B-B14F-4D97-AF65-F5344CB8AC3E}">
        <p14:creationId xmlns:p14="http://schemas.microsoft.com/office/powerpoint/2010/main" val="887292474"/>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C2C7BE-E2BD-B73E-A282-E142323EEADD}"/>
              </a:ext>
            </a:extLst>
          </p:cNvPr>
          <p:cNvPicPr>
            <a:picLocks noChangeAspect="1"/>
          </p:cNvPicPr>
          <p:nvPr/>
        </p:nvPicPr>
        <p:blipFill>
          <a:blip r:embed="rId2"/>
          <a:stretch>
            <a:fillRect/>
          </a:stretch>
        </p:blipFill>
        <p:spPr>
          <a:xfrm>
            <a:off x="1651518" y="376856"/>
            <a:ext cx="8888964" cy="5587106"/>
          </a:xfrm>
          <a:prstGeom prst="rect">
            <a:avLst/>
          </a:prstGeom>
        </p:spPr>
      </p:pic>
    </p:spTree>
    <p:extLst>
      <p:ext uri="{BB962C8B-B14F-4D97-AF65-F5344CB8AC3E}">
        <p14:creationId xmlns:p14="http://schemas.microsoft.com/office/powerpoint/2010/main" val="3050804673"/>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EDAF1A-9655-B42D-D4D2-71702568FED0}"/>
              </a:ext>
            </a:extLst>
          </p:cNvPr>
          <p:cNvPicPr>
            <a:picLocks noChangeAspect="1"/>
          </p:cNvPicPr>
          <p:nvPr/>
        </p:nvPicPr>
        <p:blipFill>
          <a:blip r:embed="rId2"/>
          <a:stretch>
            <a:fillRect/>
          </a:stretch>
        </p:blipFill>
        <p:spPr>
          <a:xfrm>
            <a:off x="1751045" y="426908"/>
            <a:ext cx="8689910" cy="5541165"/>
          </a:xfrm>
          <a:prstGeom prst="rect">
            <a:avLst/>
          </a:prstGeom>
        </p:spPr>
      </p:pic>
    </p:spTree>
    <p:extLst>
      <p:ext uri="{BB962C8B-B14F-4D97-AF65-F5344CB8AC3E}">
        <p14:creationId xmlns:p14="http://schemas.microsoft.com/office/powerpoint/2010/main" val="1805642207"/>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6B77B5-02A5-489A-3798-0571AF61494E}"/>
              </a:ext>
            </a:extLst>
          </p:cNvPr>
          <p:cNvPicPr>
            <a:picLocks noChangeAspect="1"/>
          </p:cNvPicPr>
          <p:nvPr/>
        </p:nvPicPr>
        <p:blipFill>
          <a:blip r:embed="rId2"/>
          <a:stretch>
            <a:fillRect/>
          </a:stretch>
        </p:blipFill>
        <p:spPr>
          <a:xfrm>
            <a:off x="1661535" y="715346"/>
            <a:ext cx="8868931" cy="4777274"/>
          </a:xfrm>
          <a:prstGeom prst="rect">
            <a:avLst/>
          </a:prstGeom>
        </p:spPr>
      </p:pic>
    </p:spTree>
    <p:extLst>
      <p:ext uri="{BB962C8B-B14F-4D97-AF65-F5344CB8AC3E}">
        <p14:creationId xmlns:p14="http://schemas.microsoft.com/office/powerpoint/2010/main" val="406399700"/>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5FA8E1-40D3-9E7E-720F-7E885A098AC6}"/>
              </a:ext>
            </a:extLst>
          </p:cNvPr>
          <p:cNvPicPr>
            <a:picLocks noChangeAspect="1"/>
          </p:cNvPicPr>
          <p:nvPr/>
        </p:nvPicPr>
        <p:blipFill>
          <a:blip r:embed="rId2"/>
          <a:stretch>
            <a:fillRect/>
          </a:stretch>
        </p:blipFill>
        <p:spPr>
          <a:xfrm>
            <a:off x="1662153" y="783772"/>
            <a:ext cx="8813015" cy="5257834"/>
          </a:xfrm>
          <a:prstGeom prst="rect">
            <a:avLst/>
          </a:prstGeom>
        </p:spPr>
      </p:pic>
    </p:spTree>
    <p:extLst>
      <p:ext uri="{BB962C8B-B14F-4D97-AF65-F5344CB8AC3E}">
        <p14:creationId xmlns:p14="http://schemas.microsoft.com/office/powerpoint/2010/main" val="1820570928"/>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CASE 10 · CAMPUS PLACEMENT</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Does specialisation decide placement?</a:t>
            </a:r>
            <a:endParaRPr lang="en-US" sz="3600" dirty="0"/>
          </a:p>
        </p:txBody>
      </p:sp>
      <p:sp>
        <p:nvSpPr>
          <p:cNvPr id="4" name="card-778"/>
          <p:cNvSpPr/>
          <p:nvPr/>
        </p:nvSpPr>
        <p:spPr>
          <a:xfrm>
            <a:off x="548640" y="1645920"/>
            <a:ext cx="5120640" cy="4480560"/>
          </a:xfrm>
          <a:prstGeom prst="roundRect">
            <a:avLst>
              <a:gd name="adj" fmla="val 2449"/>
            </a:avLst>
          </a:prstGeom>
          <a:solidFill>
            <a:schemeClr val="bg2"/>
          </a:solidFill>
          <a:ln/>
        </p:spPr>
        <p:txBody>
          <a:bodyPr/>
          <a:lstStyle/>
          <a:p>
            <a:endParaRPr lang="en-IN"/>
          </a:p>
        </p:txBody>
      </p:sp>
      <p:sp>
        <p:nvSpPr>
          <p:cNvPr id="5" name="badge-779"/>
          <p:cNvSpPr/>
          <p:nvPr/>
        </p:nvSpPr>
        <p:spPr>
          <a:xfrm>
            <a:off x="822960" y="1874520"/>
            <a:ext cx="685800" cy="685800"/>
          </a:xfrm>
          <a:prstGeom prst="ellipse">
            <a:avLst/>
          </a:prstGeom>
          <a:solidFill>
            <a:schemeClr val="accent1"/>
          </a:solidFill>
          <a:ln/>
        </p:spPr>
        <p:txBody>
          <a:bodyPr/>
          <a:lstStyle/>
          <a:p>
            <a:endParaRPr lang="en-IN"/>
          </a:p>
        </p:txBody>
      </p:sp>
      <p:pic>
        <p:nvPicPr>
          <p:cNvPr id="6" name="icon-780" descr="preencoded.png"/>
          <p:cNvPicPr>
            <a:picLocks noChangeAspect="1"/>
          </p:cNvPicPr>
          <p:nvPr/>
        </p:nvPicPr>
        <p:blipFill>
          <a:blip r:embed="rId3"/>
          <a:stretch>
            <a:fillRect/>
          </a:stretch>
        </p:blipFill>
        <p:spPr>
          <a:xfrm>
            <a:off x="987552" y="2039112"/>
            <a:ext cx="356616" cy="356616"/>
          </a:xfrm>
          <a:prstGeom prst="rect">
            <a:avLst/>
          </a:prstGeom>
        </p:spPr>
      </p:pic>
      <p:sp>
        <p:nvSpPr>
          <p:cNvPr id="7" name="text-781"/>
          <p:cNvSpPr txBox="1"/>
          <p:nvPr/>
        </p:nvSpPr>
        <p:spPr>
          <a:xfrm>
            <a:off x="1691640" y="1920240"/>
            <a:ext cx="3749040" cy="5943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The situation</a:t>
            </a:r>
            <a:endParaRPr lang="en-US" sz="1800" dirty="0"/>
          </a:p>
        </p:txBody>
      </p:sp>
      <p:sp>
        <p:nvSpPr>
          <p:cNvPr id="8" name="text-782"/>
          <p:cNvSpPr txBox="1"/>
          <p:nvPr/>
        </p:nvSpPr>
        <p:spPr>
          <a:xfrm>
            <a:off x="822960" y="2697480"/>
            <a:ext cx="4617720" cy="832104"/>
          </a:xfrm>
          <a:prstGeom prst="rect">
            <a:avLst/>
          </a:prstGeom>
          <a:noFill/>
          <a:ln/>
        </p:spPr>
        <p:txBody>
          <a:bodyPr wrap="square" lIns="0" tIns="0" rIns="0" bIns="0" rtlCol="0" anchor="t"/>
          <a:lstStyle/>
          <a:p>
            <a:pPr marL="0" indent="0">
              <a:buNone/>
            </a:pPr>
            <a:r>
              <a:rPr lang="en-US" sz="1500" dirty="0">
                <a:solidFill>
                  <a:schemeClr val="tx1"/>
                </a:solidFill>
              </a:rPr>
              <a:t>A business school's MBA batch of 120 has finished final placements. The placement office recorded each student's specialisation and outcome.</a:t>
            </a:r>
            <a:endParaRPr lang="en-US" sz="1500" dirty="0"/>
          </a:p>
        </p:txBody>
      </p:sp>
      <p:sp>
        <p:nvSpPr>
          <p:cNvPr id="9" name="text-783"/>
          <p:cNvSpPr txBox="1"/>
          <p:nvPr/>
        </p:nvSpPr>
        <p:spPr>
          <a:xfrm>
            <a:off x="822960" y="3803904"/>
            <a:ext cx="4617720" cy="914400"/>
          </a:xfrm>
          <a:prstGeom prst="rect">
            <a:avLst/>
          </a:prstGeom>
          <a:noFill/>
          <a:ln/>
        </p:spPr>
        <p:txBody>
          <a:bodyPr wrap="square" lIns="0" tIns="0" rIns="0" bIns="0" rtlCol="0" anchor="t"/>
          <a:lstStyle/>
          <a:p>
            <a:pPr marL="0" indent="0">
              <a:buNone/>
            </a:pPr>
            <a:r>
              <a:rPr lang="en-US" sz="1500" b="1" dirty="0">
                <a:solidFill>
                  <a:schemeClr val="accent1"/>
                </a:solidFill>
              </a:rPr>
              <a:t>The question  </a:t>
            </a:r>
            <a:r>
              <a:rPr lang="en-US" sz="1500" dirty="0">
                <a:solidFill>
                  <a:schemeClr val="tx1"/>
                </a:solidFill>
              </a:rPr>
              <a:t>A faculty member argues that specialisation decides placement. Test it, but check the assumptions first.</a:t>
            </a:r>
            <a:endParaRPr lang="en-US" sz="1500" dirty="0"/>
          </a:p>
        </p:txBody>
      </p:sp>
      <p:sp>
        <p:nvSpPr>
          <p:cNvPr id="10" name="text-784"/>
          <p:cNvSpPr txBox="1"/>
          <p:nvPr/>
        </p:nvSpPr>
        <p:spPr>
          <a:xfrm>
            <a:off x="822960" y="5074920"/>
            <a:ext cx="4617720" cy="960120"/>
          </a:xfrm>
          <a:prstGeom prst="rect">
            <a:avLst/>
          </a:prstGeom>
          <a:noFill/>
          <a:ln/>
        </p:spPr>
        <p:txBody>
          <a:bodyPr wrap="square" lIns="0" tIns="0" rIns="0" bIns="0" rtlCol="0" anchor="t"/>
          <a:lstStyle/>
          <a:p>
            <a:pPr marL="0" indent="0">
              <a:buNone/>
            </a:pPr>
            <a:r>
              <a:rPr lang="en-US" sz="1400" b="1" dirty="0">
                <a:solidFill>
                  <a:schemeClr val="accent3"/>
                </a:solidFill>
              </a:rPr>
              <a:t>Your task: </a:t>
            </a:r>
            <a:r>
              <a:rPr lang="en-US" sz="1400" dirty="0">
                <a:solidFill>
                  <a:schemeClr val="tx1"/>
                </a:solidFill>
              </a:rPr>
              <a:t>state H₀ and H₁, check assumptions, compute E and χ², decide at α = 0.05, and name the cells driving the result.</a:t>
            </a:r>
            <a:endParaRPr lang="en-US" sz="1400" dirty="0"/>
          </a:p>
        </p:txBody>
      </p:sp>
      <p:sp>
        <p:nvSpPr>
          <p:cNvPr id="11" name="text-785"/>
          <p:cNvSpPr txBox="1"/>
          <p:nvPr/>
        </p:nvSpPr>
        <p:spPr>
          <a:xfrm>
            <a:off x="6035040" y="1600200"/>
            <a:ext cx="557784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Observed counts</a:t>
            </a:r>
            <a:endParaRPr lang="en-US" sz="1800" dirty="0"/>
          </a:p>
        </p:txBody>
      </p:sp>
      <p:graphicFrame>
        <p:nvGraphicFramePr>
          <p:cNvPr id="50" name="table-786"/>
          <p:cNvGraphicFramePr>
            <a:graphicFrameLocks noGrp="1"/>
          </p:cNvGraphicFramePr>
          <p:nvPr>
            <p:extLst>
              <p:ext uri="{D42A27DB-BD31-4B8C-83A1-F6EECF244321}">
                <p14:modId xmlns:p14="http://schemas.microsoft.com/office/powerpoint/2010/main" val="1579011935"/>
              </p:ext>
            </p:extLst>
          </p:nvPr>
        </p:nvGraphicFramePr>
        <p:xfrm>
          <a:off x="6035040" y="2057400"/>
          <a:ext cx="5577840" cy="2523744"/>
        </p:xfrm>
        <a:graphic>
          <a:graphicData uri="http://schemas.openxmlformats.org/drawingml/2006/table">
            <a:tbl>
              <a:tblPr/>
              <a:tblGrid>
                <a:gridCol w="1874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420624">
                <a:tc>
                  <a:txBody>
                    <a:bodyPr/>
                    <a:lstStyle/>
                    <a:p>
                      <a:pPr marL="0" indent="0" algn="l">
                        <a:buNone/>
                      </a:pPr>
                      <a:r>
                        <a:rPr lang="en-US" sz="1500" b="1" dirty="0">
                          <a:solidFill>
                            <a:schemeClr val="bg1"/>
                          </a:solidFill>
                          <a:latin typeface="Calibri" pitchFamily="34" charset="0"/>
                          <a:ea typeface="Calibri" pitchFamily="34" charset="-122"/>
                          <a:cs typeface="Calibri" pitchFamily="34" charset="-120"/>
                        </a:rPr>
                        <a:t>Specialisation</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Placed</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Not placed</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20624">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Marketing</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30</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35</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0624">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Finance</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35</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40</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0624">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HR</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0624">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Business Analytics</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23</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dirty="0">
                          <a:solidFill>
                            <a:schemeClr val="tx1"/>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20624">
                <a:tc>
                  <a:txBody>
                    <a:bodyPr/>
                    <a:lstStyle/>
                    <a:p>
                      <a:pPr marL="0" indent="0" algn="l">
                        <a:buNone/>
                      </a:pPr>
                      <a:r>
                        <a:rPr lang="en-US" sz="1500" b="1" dirty="0">
                          <a:solidFill>
                            <a:schemeClr val="tx1"/>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104</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120</a:t>
                      </a:r>
                      <a:endParaRPr lang="en-US" sz="1500" dirty="0">
                        <a:latin typeface="Calibri" charset="0"/>
                        <a:ea typeface="Calibri" charset="0"/>
                        <a:cs typeface="Calibri" charset="0"/>
                      </a:endParaRPr>
                    </a:p>
                  </a:txBody>
                  <a:tcPr marL="73152" marR="73152" marT="0" marB="0" anchor="ctr">
                    <a:lnL w="9525" cap="flat" cmpd="sng" algn="ctr">
                      <a:solidFill>
                        <a:srgbClr val="D5E4E2"/>
                      </a:solidFill>
                      <a:prstDash val="solid"/>
                      <a:round/>
                      <a:headEnd type="none" w="med" len="med"/>
                      <a:tailEnd type="none" w="med" len="med"/>
                    </a:lnL>
                    <a:lnR w="9525" cap="flat" cmpd="sng" algn="ctr">
                      <a:solidFill>
                        <a:srgbClr val="D5E4E2"/>
                      </a:solidFill>
                      <a:prstDash val="solid"/>
                      <a:round/>
                      <a:headEnd type="none" w="med" len="med"/>
                      <a:tailEnd type="none" w="med" len="med"/>
                    </a:lnR>
                    <a:lnT w="9525" cap="flat" cmpd="sng" algn="ctr">
                      <a:solidFill>
                        <a:srgbClr val="D5E4E2"/>
                      </a:solidFill>
                      <a:prstDash val="solid"/>
                      <a:round/>
                      <a:headEnd type="none" w="med" len="med"/>
                      <a:tailEnd type="none" w="med" len="med"/>
                    </a:lnT>
                    <a:lnB w="9525" cap="flat" cmpd="sng" algn="ctr">
                      <a:solidFill>
                        <a:srgbClr val="D5E4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13" name="text-787"/>
          <p:cNvSpPr txBox="1"/>
          <p:nvPr/>
        </p:nvSpPr>
        <p:spPr>
          <a:xfrm>
            <a:off x="6035040" y="4672584"/>
            <a:ext cx="5577840" cy="274320"/>
          </a:xfrm>
          <a:prstGeom prst="rect">
            <a:avLst/>
          </a:prstGeom>
          <a:noFill/>
          <a:ln/>
        </p:spPr>
        <p:txBody>
          <a:bodyPr wrap="square" lIns="0" tIns="0" rIns="0" bIns="0" rtlCol="0" anchor="t"/>
          <a:lstStyle/>
          <a:p>
            <a:pPr marL="0" indent="0">
              <a:buNone/>
            </a:pPr>
            <a:r>
              <a:rPr lang="en-US" sz="1100" i="1" dirty="0">
                <a:solidFill>
                  <a:schemeClr val="accent5"/>
                </a:solidFill>
              </a:rPr>
              <a:t>Illustrative data  ·  α = 0.05</a:t>
            </a:r>
            <a:endParaRPr lang="en-US" sz="1100" dirty="0"/>
          </a:p>
        </p:txBody>
      </p:sp>
      <p:sp>
        <p:nvSpPr>
          <p:cNvPr id="14" name="card-788"/>
          <p:cNvSpPr/>
          <p:nvPr/>
        </p:nvSpPr>
        <p:spPr>
          <a:xfrm>
            <a:off x="6035040" y="5084064"/>
            <a:ext cx="5577840" cy="1042416"/>
          </a:xfrm>
          <a:prstGeom prst="roundRect">
            <a:avLst>
              <a:gd name="adj" fmla="val 10526"/>
            </a:avLst>
          </a:prstGeom>
          <a:solidFill>
            <a:schemeClr val="tx2"/>
          </a:solidFill>
          <a:ln/>
        </p:spPr>
        <p:txBody>
          <a:bodyPr/>
          <a:lstStyle/>
          <a:p>
            <a:endParaRPr lang="en-IN"/>
          </a:p>
        </p:txBody>
      </p:sp>
      <p:pic>
        <p:nvPicPr>
          <p:cNvPr id="15" name="icon-789" descr="preencoded.png"/>
          <p:cNvPicPr>
            <a:picLocks noChangeAspect="1"/>
          </p:cNvPicPr>
          <p:nvPr/>
        </p:nvPicPr>
        <p:blipFill>
          <a:blip r:embed="rId4"/>
          <a:stretch>
            <a:fillRect/>
          </a:stretch>
        </p:blipFill>
        <p:spPr>
          <a:xfrm>
            <a:off x="6309360" y="5312664"/>
            <a:ext cx="411480" cy="411480"/>
          </a:xfrm>
          <a:prstGeom prst="rect">
            <a:avLst/>
          </a:prstGeom>
        </p:spPr>
      </p:pic>
      <p:sp>
        <p:nvSpPr>
          <p:cNvPr id="16" name="text-790"/>
          <p:cNvSpPr txBox="1"/>
          <p:nvPr/>
        </p:nvSpPr>
        <p:spPr>
          <a:xfrm>
            <a:off x="6949440" y="5266944"/>
            <a:ext cx="4434840" cy="722376"/>
          </a:xfrm>
          <a:prstGeom prst="rect">
            <a:avLst/>
          </a:prstGeom>
          <a:noFill/>
          <a:ln/>
        </p:spPr>
        <p:txBody>
          <a:bodyPr wrap="square" lIns="0" tIns="0" rIns="0" bIns="0" rtlCol="0" anchor="t"/>
          <a:lstStyle/>
          <a:p>
            <a:pPr marL="0" indent="0">
              <a:buNone/>
            </a:pPr>
            <a:r>
              <a:rPr lang="en-US" sz="1500" b="1" dirty="0">
                <a:solidFill>
                  <a:schemeClr val="accent2"/>
                </a:solidFill>
              </a:rPr>
              <a:t>Think about it</a:t>
            </a:r>
            <a:endParaRPr lang="en-US" sz="1500" dirty="0"/>
          </a:p>
          <a:p>
            <a:pPr marL="0" indent="0">
              <a:buNone/>
            </a:pPr>
            <a:r>
              <a:rPr lang="en-US" sz="1500" dirty="0">
                <a:solidFill>
                  <a:schemeClr val="bg1"/>
                </a:solidFill>
              </a:rPr>
              <a:t>Compute the expected 'Not placed' counts before anything else. What do you notice?</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CHOOSING THE TEST</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Which chi-square test fits your question?</a:t>
            </a:r>
            <a:endParaRPr lang="en-US" sz="3600" dirty="0"/>
          </a:p>
        </p:txBody>
      </p:sp>
      <p:sp>
        <p:nvSpPr>
          <p:cNvPr id="4" name="card-369"/>
          <p:cNvSpPr/>
          <p:nvPr/>
        </p:nvSpPr>
        <p:spPr>
          <a:xfrm>
            <a:off x="548640" y="1645920"/>
            <a:ext cx="3474720" cy="3566160"/>
          </a:xfrm>
          <a:prstGeom prst="roundRect">
            <a:avLst>
              <a:gd name="adj" fmla="val 3158"/>
            </a:avLst>
          </a:prstGeom>
          <a:solidFill>
            <a:schemeClr val="bg2"/>
          </a:solidFill>
          <a:ln/>
        </p:spPr>
        <p:txBody>
          <a:bodyPr/>
          <a:lstStyle/>
          <a:p>
            <a:endParaRPr lang="en-IN"/>
          </a:p>
        </p:txBody>
      </p:sp>
      <p:sp>
        <p:nvSpPr>
          <p:cNvPr id="5" name="text-370"/>
          <p:cNvSpPr txBox="1"/>
          <p:nvPr/>
        </p:nvSpPr>
        <p:spPr>
          <a:xfrm>
            <a:off x="822960" y="1828800"/>
            <a:ext cx="2926080" cy="45720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Goodness of fit</a:t>
            </a:r>
            <a:endParaRPr lang="en-US" sz="2200" dirty="0"/>
          </a:p>
        </p:txBody>
      </p:sp>
      <p:sp>
        <p:nvSpPr>
          <p:cNvPr id="6" name="text-371"/>
          <p:cNvSpPr txBox="1"/>
          <p:nvPr/>
        </p:nvSpPr>
        <p:spPr>
          <a:xfrm>
            <a:off x="822960" y="2377440"/>
            <a:ext cx="2926080" cy="777240"/>
          </a:xfrm>
          <a:prstGeom prst="rect">
            <a:avLst/>
          </a:prstGeom>
          <a:noFill/>
          <a:ln/>
        </p:spPr>
        <p:txBody>
          <a:bodyPr wrap="square" lIns="0" tIns="0" rIns="0" bIns="0" rtlCol="0" anchor="t"/>
          <a:lstStyle/>
          <a:p>
            <a:pPr marL="0" indent="0">
              <a:buNone/>
            </a:pPr>
            <a:r>
              <a:rPr lang="en-US" sz="1500" dirty="0">
                <a:solidFill>
                  <a:schemeClr val="tx1"/>
                </a:solidFill>
              </a:rPr>
              <a:t>One variable against a claimed distribution</a:t>
            </a:r>
            <a:endParaRPr lang="en-US" sz="1500" dirty="0"/>
          </a:p>
        </p:txBody>
      </p:sp>
      <p:sp>
        <p:nvSpPr>
          <p:cNvPr id="7" name="text-372"/>
          <p:cNvSpPr txBox="1"/>
          <p:nvPr/>
        </p:nvSpPr>
        <p:spPr>
          <a:xfrm>
            <a:off x="822960" y="3246120"/>
            <a:ext cx="2926080" cy="1005840"/>
          </a:xfrm>
          <a:prstGeom prst="rect">
            <a:avLst/>
          </a:prstGeom>
          <a:noFill/>
          <a:ln/>
        </p:spPr>
        <p:txBody>
          <a:bodyPr wrap="square" lIns="0" tIns="0" rIns="0" bIns="0" rtlCol="0" anchor="t"/>
          <a:lstStyle/>
          <a:p>
            <a:pPr marL="0" indent="0">
              <a:buNone/>
            </a:pPr>
            <a:r>
              <a:rPr lang="en-US" sz="1500" b="1" dirty="0">
                <a:solidFill>
                  <a:schemeClr val="accent1"/>
                </a:solidFill>
              </a:rPr>
              <a:t>Example</a:t>
            </a:r>
            <a:endParaRPr lang="en-US" sz="1500" dirty="0"/>
          </a:p>
          <a:p>
            <a:pPr marL="0" indent="0">
              <a:buNone/>
            </a:pPr>
            <a:r>
              <a:rPr lang="en-US" sz="1500" dirty="0">
                <a:solidFill>
                  <a:schemeClr val="tx1"/>
                </a:solidFill>
              </a:rPr>
              <a:t>Are complaints spread evenly across the week?</a:t>
            </a:r>
            <a:endParaRPr lang="en-US" sz="1500" dirty="0"/>
          </a:p>
        </p:txBody>
      </p:sp>
      <p:sp>
        <p:nvSpPr>
          <p:cNvPr id="8" name="text-373"/>
          <p:cNvSpPr txBox="1"/>
          <p:nvPr/>
        </p:nvSpPr>
        <p:spPr>
          <a:xfrm>
            <a:off x="822960" y="4434840"/>
            <a:ext cx="2926080" cy="45720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df = k − 1</a:t>
            </a:r>
            <a:endParaRPr lang="en-US" sz="1800" dirty="0"/>
          </a:p>
        </p:txBody>
      </p:sp>
      <p:sp>
        <p:nvSpPr>
          <p:cNvPr id="9" name="card-374"/>
          <p:cNvSpPr/>
          <p:nvPr/>
        </p:nvSpPr>
        <p:spPr>
          <a:xfrm>
            <a:off x="4343400" y="1645920"/>
            <a:ext cx="3474720" cy="3566160"/>
          </a:xfrm>
          <a:prstGeom prst="roundRect">
            <a:avLst>
              <a:gd name="adj" fmla="val 3158"/>
            </a:avLst>
          </a:prstGeom>
          <a:solidFill>
            <a:schemeClr val="tx2"/>
          </a:solidFill>
          <a:ln/>
        </p:spPr>
        <p:txBody>
          <a:bodyPr/>
          <a:lstStyle/>
          <a:p>
            <a:endParaRPr lang="en-IN"/>
          </a:p>
        </p:txBody>
      </p:sp>
      <p:sp>
        <p:nvSpPr>
          <p:cNvPr id="10" name="text-375"/>
          <p:cNvSpPr txBox="1"/>
          <p:nvPr/>
        </p:nvSpPr>
        <p:spPr>
          <a:xfrm>
            <a:off x="4617720" y="1828800"/>
            <a:ext cx="292608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Independence</a:t>
            </a:r>
            <a:endParaRPr lang="en-US" sz="2200" dirty="0"/>
          </a:p>
        </p:txBody>
      </p:sp>
      <p:sp>
        <p:nvSpPr>
          <p:cNvPr id="11" name="text-376"/>
          <p:cNvSpPr txBox="1"/>
          <p:nvPr/>
        </p:nvSpPr>
        <p:spPr>
          <a:xfrm>
            <a:off x="4617720" y="2377440"/>
            <a:ext cx="2926080" cy="777240"/>
          </a:xfrm>
          <a:prstGeom prst="rect">
            <a:avLst/>
          </a:prstGeom>
          <a:noFill/>
          <a:ln/>
        </p:spPr>
        <p:txBody>
          <a:bodyPr wrap="square" lIns="0" tIns="0" rIns="0" bIns="0" rtlCol="0" anchor="t"/>
          <a:lstStyle/>
          <a:p>
            <a:pPr marL="0" indent="0">
              <a:buNone/>
            </a:pPr>
            <a:r>
              <a:rPr lang="en-US" sz="1500" dirty="0">
                <a:solidFill>
                  <a:schemeClr val="bg1"/>
                </a:solidFill>
              </a:rPr>
              <a:t>One sample, classified on two variables</a:t>
            </a:r>
            <a:endParaRPr lang="en-US" sz="1500" dirty="0"/>
          </a:p>
        </p:txBody>
      </p:sp>
      <p:sp>
        <p:nvSpPr>
          <p:cNvPr id="12" name="text-377"/>
          <p:cNvSpPr txBox="1"/>
          <p:nvPr/>
        </p:nvSpPr>
        <p:spPr>
          <a:xfrm>
            <a:off x="4617720" y="3246120"/>
            <a:ext cx="2926080" cy="1005840"/>
          </a:xfrm>
          <a:prstGeom prst="rect">
            <a:avLst/>
          </a:prstGeom>
          <a:noFill/>
          <a:ln/>
        </p:spPr>
        <p:txBody>
          <a:bodyPr wrap="square" lIns="0" tIns="0" rIns="0" bIns="0" rtlCol="0" anchor="t"/>
          <a:lstStyle/>
          <a:p>
            <a:pPr marL="0" indent="0">
              <a:buNone/>
            </a:pPr>
            <a:r>
              <a:rPr lang="en-US" sz="1500" b="1" dirty="0">
                <a:solidFill>
                  <a:schemeClr val="accent4"/>
                </a:solidFill>
              </a:rPr>
              <a:t>Example</a:t>
            </a:r>
            <a:endParaRPr lang="en-US" sz="1500" dirty="0"/>
          </a:p>
          <a:p>
            <a:pPr marL="0" indent="0">
              <a:buNone/>
            </a:pPr>
            <a:r>
              <a:rPr lang="en-US" sz="1500" dirty="0">
                <a:solidFill>
                  <a:schemeClr val="bg1"/>
                </a:solidFill>
              </a:rPr>
              <a:t>Is age linked to AI usage?</a:t>
            </a:r>
            <a:endParaRPr lang="en-US" sz="1500" dirty="0"/>
          </a:p>
        </p:txBody>
      </p:sp>
      <p:sp>
        <p:nvSpPr>
          <p:cNvPr id="13" name="text-378"/>
          <p:cNvSpPr txBox="1"/>
          <p:nvPr/>
        </p:nvSpPr>
        <p:spPr>
          <a:xfrm>
            <a:off x="4617720" y="4434840"/>
            <a:ext cx="2926080" cy="457200"/>
          </a:xfrm>
          <a:prstGeom prst="rect">
            <a:avLst/>
          </a:prstGeom>
          <a:noFill/>
          <a:ln/>
        </p:spPr>
        <p:txBody>
          <a:bodyPr wrap="square" lIns="0" tIns="0" rIns="0" bIns="0" rtlCol="0" anchor="t"/>
          <a:lstStyle/>
          <a:p>
            <a:pPr marL="0" indent="0">
              <a:buNone/>
            </a:pPr>
            <a:r>
              <a:rPr lang="en-US" sz="1800" b="1" dirty="0">
                <a:solidFill>
                  <a:schemeClr val="accent2"/>
                </a:solidFill>
                <a:latin typeface="Cambria" pitchFamily="34" charset="0"/>
                <a:ea typeface="Cambria" pitchFamily="34" charset="-122"/>
                <a:cs typeface="Cambria" pitchFamily="34" charset="-120"/>
              </a:rPr>
              <a:t>df = (r − 1)(c − 1)</a:t>
            </a:r>
            <a:endParaRPr lang="en-US" sz="1800" dirty="0"/>
          </a:p>
        </p:txBody>
      </p:sp>
      <p:sp>
        <p:nvSpPr>
          <p:cNvPr id="14" name="card-379"/>
          <p:cNvSpPr/>
          <p:nvPr/>
        </p:nvSpPr>
        <p:spPr>
          <a:xfrm>
            <a:off x="8138160" y="1645920"/>
            <a:ext cx="3474720" cy="3566160"/>
          </a:xfrm>
          <a:prstGeom prst="roundRect">
            <a:avLst>
              <a:gd name="adj" fmla="val 3158"/>
            </a:avLst>
          </a:prstGeom>
          <a:solidFill>
            <a:schemeClr val="bg2"/>
          </a:solidFill>
          <a:ln/>
        </p:spPr>
        <p:txBody>
          <a:bodyPr/>
          <a:lstStyle/>
          <a:p>
            <a:endParaRPr lang="en-IN"/>
          </a:p>
        </p:txBody>
      </p:sp>
      <p:sp>
        <p:nvSpPr>
          <p:cNvPr id="15" name="text-380"/>
          <p:cNvSpPr txBox="1"/>
          <p:nvPr/>
        </p:nvSpPr>
        <p:spPr>
          <a:xfrm>
            <a:off x="8412480" y="1828800"/>
            <a:ext cx="2926080" cy="45720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Homogeneity</a:t>
            </a:r>
            <a:endParaRPr lang="en-US" sz="2200" dirty="0"/>
          </a:p>
        </p:txBody>
      </p:sp>
      <p:sp>
        <p:nvSpPr>
          <p:cNvPr id="16" name="text-381"/>
          <p:cNvSpPr txBox="1"/>
          <p:nvPr/>
        </p:nvSpPr>
        <p:spPr>
          <a:xfrm>
            <a:off x="8412480" y="2377440"/>
            <a:ext cx="2926080" cy="777240"/>
          </a:xfrm>
          <a:prstGeom prst="rect">
            <a:avLst/>
          </a:prstGeom>
          <a:noFill/>
          <a:ln/>
        </p:spPr>
        <p:txBody>
          <a:bodyPr wrap="square" lIns="0" tIns="0" rIns="0" bIns="0" rtlCol="0" anchor="t"/>
          <a:lstStyle/>
          <a:p>
            <a:pPr marL="0" indent="0">
              <a:buNone/>
            </a:pPr>
            <a:r>
              <a:rPr lang="en-US" sz="1500" dirty="0">
                <a:solidFill>
                  <a:schemeClr val="tx1"/>
                </a:solidFill>
              </a:rPr>
              <a:t>Separate samples from each group, one variable</a:t>
            </a:r>
            <a:endParaRPr lang="en-US" sz="1500" dirty="0"/>
          </a:p>
        </p:txBody>
      </p:sp>
      <p:sp>
        <p:nvSpPr>
          <p:cNvPr id="17" name="text-382"/>
          <p:cNvSpPr txBox="1"/>
          <p:nvPr/>
        </p:nvSpPr>
        <p:spPr>
          <a:xfrm>
            <a:off x="8412480" y="3246120"/>
            <a:ext cx="2926080" cy="1005840"/>
          </a:xfrm>
          <a:prstGeom prst="rect">
            <a:avLst/>
          </a:prstGeom>
          <a:noFill/>
          <a:ln/>
        </p:spPr>
        <p:txBody>
          <a:bodyPr wrap="square" lIns="0" tIns="0" rIns="0" bIns="0" rtlCol="0" anchor="t"/>
          <a:lstStyle/>
          <a:p>
            <a:pPr marL="0" indent="0">
              <a:buNone/>
            </a:pPr>
            <a:r>
              <a:rPr lang="en-US" sz="1500" b="1" dirty="0">
                <a:solidFill>
                  <a:schemeClr val="accent1"/>
                </a:solidFill>
              </a:rPr>
              <a:t>Example</a:t>
            </a:r>
            <a:endParaRPr lang="en-US" sz="1500" dirty="0"/>
          </a:p>
          <a:p>
            <a:pPr marL="0" indent="0">
              <a:buNone/>
            </a:pPr>
            <a:r>
              <a:rPr lang="en-US" sz="1500" dirty="0">
                <a:solidFill>
                  <a:schemeClr val="tx1"/>
                </a:solidFill>
              </a:rPr>
              <a:t>Do three cities share the same payment mix?</a:t>
            </a:r>
            <a:endParaRPr lang="en-US" sz="1500" dirty="0"/>
          </a:p>
        </p:txBody>
      </p:sp>
      <p:sp>
        <p:nvSpPr>
          <p:cNvPr id="18" name="text-383"/>
          <p:cNvSpPr txBox="1"/>
          <p:nvPr/>
        </p:nvSpPr>
        <p:spPr>
          <a:xfrm>
            <a:off x="8412480" y="4434840"/>
            <a:ext cx="2926080" cy="45720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df = (r − 1)(c − 1)</a:t>
            </a:r>
            <a:endParaRPr lang="en-US" sz="1800" dirty="0"/>
          </a:p>
        </p:txBody>
      </p:sp>
      <p:sp>
        <p:nvSpPr>
          <p:cNvPr id="19" name="card-384"/>
          <p:cNvSpPr/>
          <p:nvPr/>
        </p:nvSpPr>
        <p:spPr>
          <a:xfrm>
            <a:off x="548640" y="5440680"/>
            <a:ext cx="11064240" cy="685800"/>
          </a:xfrm>
          <a:prstGeom prst="roundRect">
            <a:avLst>
              <a:gd name="adj" fmla="val 16000"/>
            </a:avLst>
          </a:prstGeom>
          <a:solidFill>
            <a:schemeClr val="bg2"/>
          </a:solidFill>
          <a:ln/>
        </p:spPr>
        <p:txBody>
          <a:bodyPr/>
          <a:lstStyle/>
          <a:p>
            <a:endParaRPr lang="en-IN"/>
          </a:p>
        </p:txBody>
      </p:sp>
      <p:sp>
        <p:nvSpPr>
          <p:cNvPr id="20" name="text-385"/>
          <p:cNvSpPr txBox="1"/>
          <p:nvPr/>
        </p:nvSpPr>
        <p:spPr>
          <a:xfrm>
            <a:off x="822960" y="5440680"/>
            <a:ext cx="10607040" cy="685800"/>
          </a:xfrm>
          <a:prstGeom prst="rect">
            <a:avLst/>
          </a:prstGeom>
          <a:noFill/>
          <a:ln/>
        </p:spPr>
        <p:txBody>
          <a:bodyPr wrap="square" lIns="0" tIns="0" rIns="0" bIns="0" rtlCol="0" anchor="ctr"/>
          <a:lstStyle/>
          <a:p>
            <a:pPr marL="0" indent="0">
              <a:buNone/>
            </a:pPr>
            <a:r>
              <a:rPr lang="en-US" sz="1500" b="1" dirty="0">
                <a:solidFill>
                  <a:schemeClr val="tx1"/>
                </a:solidFill>
              </a:rPr>
              <a:t>Independence and homogeneity use identical arithmetic; </a:t>
            </a:r>
            <a:r>
              <a:rPr lang="en-US" sz="1500" dirty="0">
                <a:solidFill>
                  <a:schemeClr val="tx1"/>
                </a:solidFill>
              </a:rPr>
              <a:t>they differ in how the sample was drawn. Paired yes/no data on the same people → McNemar's test.</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686800"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SOFTWARE</a:t>
            </a:r>
            <a:endParaRPr lang="en-US" sz="1200" dirty="0"/>
          </a:p>
        </p:txBody>
      </p:sp>
      <p:sp>
        <p:nvSpPr>
          <p:cNvPr id="3" name="Text 0"/>
          <p:cNvSpPr>
            <a:spLocks noGrp="1"/>
          </p:cNvSpPr>
          <p:nvPr>
            <p:ph type="title" idx="101" hasCustomPrompt="1"/>
          </p:nvPr>
        </p:nvSpPr>
        <p:spPr>
          <a:xfrm>
            <a:off x="548640" y="658368"/>
            <a:ext cx="11064240" cy="731520"/>
          </a:xfrm>
          <a:prstGeom prst="rect">
            <a:avLst/>
          </a:prstGeom>
          <a:noFill/>
          <a:ln/>
        </p:spPr>
        <p:txBody>
          <a:bodyPr wrap="square" lIns="0" tIns="0" rIns="0" bIns="0" rtlCol="0" anchor="t"/>
          <a:lstStyle/>
          <a:p>
            <a:pPr marL="0" indent="0" algn="l">
              <a:buNone/>
            </a:pPr>
            <a:r>
              <a:rPr lang="en-US" sz="3600" b="1" dirty="0">
                <a:solidFill>
                  <a:schemeClr val="tx2"/>
                </a:solidFill>
              </a:rPr>
              <a:t>Running it in Excel, Python, R and SPSS</a:t>
            </a:r>
            <a:endParaRPr lang="en-US" sz="3600" dirty="0"/>
          </a:p>
        </p:txBody>
      </p:sp>
      <p:sp>
        <p:nvSpPr>
          <p:cNvPr id="4" name="card-386"/>
          <p:cNvSpPr/>
          <p:nvPr/>
        </p:nvSpPr>
        <p:spPr>
          <a:xfrm>
            <a:off x="548640" y="1645920"/>
            <a:ext cx="5394960" cy="2103120"/>
          </a:xfrm>
          <a:prstGeom prst="roundRect">
            <a:avLst>
              <a:gd name="adj" fmla="val 5217"/>
            </a:avLst>
          </a:prstGeom>
          <a:solidFill>
            <a:schemeClr val="bg2"/>
          </a:solidFill>
          <a:ln/>
        </p:spPr>
        <p:txBody>
          <a:bodyPr/>
          <a:lstStyle/>
          <a:p>
            <a:endParaRPr lang="en-IN"/>
          </a:p>
        </p:txBody>
      </p:sp>
      <p:sp>
        <p:nvSpPr>
          <p:cNvPr id="5" name="badge-387"/>
          <p:cNvSpPr/>
          <p:nvPr/>
        </p:nvSpPr>
        <p:spPr>
          <a:xfrm>
            <a:off x="777240" y="1828800"/>
            <a:ext cx="548640" cy="548640"/>
          </a:xfrm>
          <a:prstGeom prst="ellipse">
            <a:avLst/>
          </a:prstGeom>
          <a:solidFill>
            <a:schemeClr val="accent1"/>
          </a:solidFill>
          <a:ln/>
        </p:spPr>
        <p:txBody>
          <a:bodyPr/>
          <a:lstStyle/>
          <a:p>
            <a:endParaRPr lang="en-IN"/>
          </a:p>
        </p:txBody>
      </p:sp>
      <p:pic>
        <p:nvPicPr>
          <p:cNvPr id="6" name="icon-388" descr="preencoded.png"/>
          <p:cNvPicPr>
            <a:picLocks noChangeAspect="1"/>
          </p:cNvPicPr>
          <p:nvPr/>
        </p:nvPicPr>
        <p:blipFill>
          <a:blip r:embed="rId3"/>
          <a:stretch>
            <a:fillRect/>
          </a:stretch>
        </p:blipFill>
        <p:spPr>
          <a:xfrm>
            <a:off x="908914" y="1960474"/>
            <a:ext cx="285293" cy="285293"/>
          </a:xfrm>
          <a:prstGeom prst="rect">
            <a:avLst/>
          </a:prstGeom>
        </p:spPr>
      </p:pic>
      <p:sp>
        <p:nvSpPr>
          <p:cNvPr id="7" name="text-389"/>
          <p:cNvSpPr txBox="1"/>
          <p:nvPr/>
        </p:nvSpPr>
        <p:spPr>
          <a:xfrm>
            <a:off x="1508760" y="1847088"/>
            <a:ext cx="4114800" cy="50292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Excel</a:t>
            </a:r>
            <a:endParaRPr lang="en-US" sz="1800" dirty="0"/>
          </a:p>
        </p:txBody>
      </p:sp>
      <p:sp>
        <p:nvSpPr>
          <p:cNvPr id="8" name="text-390"/>
          <p:cNvSpPr txBox="1"/>
          <p:nvPr/>
        </p:nvSpPr>
        <p:spPr>
          <a:xfrm>
            <a:off x="822960" y="2468880"/>
            <a:ext cx="4937760" cy="868680"/>
          </a:xfrm>
          <a:prstGeom prst="rect">
            <a:avLst/>
          </a:prstGeom>
          <a:noFill/>
          <a:ln/>
        </p:spPr>
        <p:txBody>
          <a:bodyPr wrap="square" lIns="0" tIns="0" rIns="0" bIns="0" rtlCol="0" anchor="t"/>
          <a:lstStyle/>
          <a:p>
            <a:pPr marL="0" indent="0">
              <a:buNone/>
            </a:pPr>
            <a:r>
              <a:rPr lang="en-US" sz="1300" dirty="0">
                <a:solidFill>
                  <a:schemeClr val="tx2"/>
                </a:solidFill>
                <a:latin typeface="Courier New" pitchFamily="34" charset="0"/>
                <a:ea typeface="Courier New" pitchFamily="34" charset="-122"/>
                <a:cs typeface="Courier New" pitchFamily="34" charset="-120"/>
              </a:rPr>
              <a:t>=CHISQ.TEST(observed, expected)  → p</a:t>
            </a:r>
            <a:endParaRPr lang="en-US" sz="1300" dirty="0"/>
          </a:p>
          <a:p>
            <a:pPr marL="0" indent="0">
              <a:buNone/>
            </a:pPr>
            <a:r>
              <a:rPr lang="en-US" sz="1300" dirty="0">
                <a:solidFill>
                  <a:schemeClr val="tx2"/>
                </a:solidFill>
                <a:latin typeface="Courier New" pitchFamily="34" charset="0"/>
                <a:ea typeface="Courier New" pitchFamily="34" charset="-122"/>
                <a:cs typeface="Courier New" pitchFamily="34" charset="-120"/>
              </a:rPr>
              <a:t>=CHISQ.INV.RT(0.05, df)  → cutoff</a:t>
            </a:r>
            <a:endParaRPr lang="en-US" sz="1300" dirty="0"/>
          </a:p>
          <a:p>
            <a:pPr marL="0" indent="0">
              <a:buNone/>
            </a:pPr>
            <a:r>
              <a:rPr lang="en-US" sz="1300" dirty="0">
                <a:solidFill>
                  <a:schemeClr val="tx2"/>
                </a:solidFill>
                <a:latin typeface="Courier New" pitchFamily="34" charset="0"/>
                <a:ea typeface="Courier New" pitchFamily="34" charset="-122"/>
                <a:cs typeface="Courier New" pitchFamily="34" charset="-120"/>
              </a:rPr>
              <a:t>=CHISQ.DIST.RT(chi2, df)  → p</a:t>
            </a:r>
            <a:endParaRPr lang="en-US" sz="1300" dirty="0"/>
          </a:p>
        </p:txBody>
      </p:sp>
      <p:sp>
        <p:nvSpPr>
          <p:cNvPr id="9" name="text-391"/>
          <p:cNvSpPr txBox="1"/>
          <p:nvPr/>
        </p:nvSpPr>
        <p:spPr>
          <a:xfrm>
            <a:off x="822960" y="3337560"/>
            <a:ext cx="4937760" cy="320040"/>
          </a:xfrm>
          <a:prstGeom prst="rect">
            <a:avLst/>
          </a:prstGeom>
          <a:noFill/>
          <a:ln/>
        </p:spPr>
        <p:txBody>
          <a:bodyPr wrap="square" lIns="0" tIns="0" rIns="0" bIns="0" rtlCol="0" anchor="t"/>
          <a:lstStyle/>
          <a:p>
            <a:pPr marL="0" indent="0">
              <a:buNone/>
            </a:pPr>
            <a:r>
              <a:rPr lang="en-US" sz="1200" i="1" dirty="0">
                <a:solidFill>
                  <a:schemeClr val="accent5"/>
                </a:solidFill>
              </a:rPr>
              <a:t>Build the expected table first with =R*C/n.</a:t>
            </a:r>
            <a:endParaRPr lang="en-US" sz="1200" dirty="0"/>
          </a:p>
        </p:txBody>
      </p:sp>
      <p:sp>
        <p:nvSpPr>
          <p:cNvPr id="10" name="card-392"/>
          <p:cNvSpPr/>
          <p:nvPr/>
        </p:nvSpPr>
        <p:spPr>
          <a:xfrm>
            <a:off x="6217920" y="1645920"/>
            <a:ext cx="5394960" cy="2103120"/>
          </a:xfrm>
          <a:prstGeom prst="roundRect">
            <a:avLst>
              <a:gd name="adj" fmla="val 5217"/>
            </a:avLst>
          </a:prstGeom>
          <a:solidFill>
            <a:schemeClr val="bg2"/>
          </a:solidFill>
          <a:ln/>
        </p:spPr>
        <p:txBody>
          <a:bodyPr/>
          <a:lstStyle/>
          <a:p>
            <a:endParaRPr lang="en-IN"/>
          </a:p>
        </p:txBody>
      </p:sp>
      <p:sp>
        <p:nvSpPr>
          <p:cNvPr id="11" name="badge-393"/>
          <p:cNvSpPr/>
          <p:nvPr/>
        </p:nvSpPr>
        <p:spPr>
          <a:xfrm>
            <a:off x="6446520" y="1828800"/>
            <a:ext cx="548640" cy="548640"/>
          </a:xfrm>
          <a:prstGeom prst="ellipse">
            <a:avLst/>
          </a:prstGeom>
          <a:solidFill>
            <a:schemeClr val="accent1"/>
          </a:solidFill>
          <a:ln/>
        </p:spPr>
        <p:txBody>
          <a:bodyPr/>
          <a:lstStyle/>
          <a:p>
            <a:endParaRPr lang="en-IN"/>
          </a:p>
        </p:txBody>
      </p:sp>
      <p:pic>
        <p:nvPicPr>
          <p:cNvPr id="12" name="icon-394" descr="preencoded.png"/>
          <p:cNvPicPr>
            <a:picLocks noChangeAspect="1"/>
          </p:cNvPicPr>
          <p:nvPr/>
        </p:nvPicPr>
        <p:blipFill>
          <a:blip r:embed="rId4"/>
          <a:stretch>
            <a:fillRect/>
          </a:stretch>
        </p:blipFill>
        <p:spPr>
          <a:xfrm>
            <a:off x="6578194" y="1960474"/>
            <a:ext cx="285293" cy="285293"/>
          </a:xfrm>
          <a:prstGeom prst="rect">
            <a:avLst/>
          </a:prstGeom>
        </p:spPr>
      </p:pic>
      <p:sp>
        <p:nvSpPr>
          <p:cNvPr id="13" name="text-395"/>
          <p:cNvSpPr txBox="1"/>
          <p:nvPr/>
        </p:nvSpPr>
        <p:spPr>
          <a:xfrm>
            <a:off x="7178040" y="1847088"/>
            <a:ext cx="4114800" cy="50292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Python (SciPy)</a:t>
            </a:r>
            <a:endParaRPr lang="en-US" sz="1800" dirty="0"/>
          </a:p>
        </p:txBody>
      </p:sp>
      <p:sp>
        <p:nvSpPr>
          <p:cNvPr id="14" name="text-396"/>
          <p:cNvSpPr txBox="1"/>
          <p:nvPr/>
        </p:nvSpPr>
        <p:spPr>
          <a:xfrm>
            <a:off x="6492240" y="2468880"/>
            <a:ext cx="4937760" cy="868680"/>
          </a:xfrm>
          <a:prstGeom prst="rect">
            <a:avLst/>
          </a:prstGeom>
          <a:noFill/>
          <a:ln/>
        </p:spPr>
        <p:txBody>
          <a:bodyPr wrap="square" lIns="0" tIns="0" rIns="0" bIns="0" rtlCol="0" anchor="t"/>
          <a:lstStyle/>
          <a:p>
            <a:pPr marL="0" indent="0">
              <a:buNone/>
            </a:pPr>
            <a:r>
              <a:rPr lang="en-US" sz="1300" dirty="0">
                <a:solidFill>
                  <a:schemeClr val="tx2"/>
                </a:solidFill>
                <a:latin typeface="Courier New" pitchFamily="34" charset="0"/>
                <a:ea typeface="Courier New" pitchFamily="34" charset="-122"/>
                <a:cs typeface="Courier New" pitchFamily="34" charset="-120"/>
              </a:rPr>
              <a:t>from scipy.stats import chi2_contingency</a:t>
            </a:r>
            <a:endParaRPr lang="en-US" sz="1300" dirty="0"/>
          </a:p>
          <a:p>
            <a:pPr marL="0" indent="0">
              <a:buNone/>
            </a:pPr>
            <a:r>
              <a:rPr lang="en-US" sz="1300" dirty="0">
                <a:solidFill>
                  <a:schemeClr val="tx2"/>
                </a:solidFill>
                <a:latin typeface="Courier New" pitchFamily="34" charset="0"/>
                <a:ea typeface="Courier New" pitchFamily="34" charset="-122"/>
                <a:cs typeface="Courier New" pitchFamily="34" charset="-120"/>
              </a:rPr>
              <a:t>chi2, p, dof, exp = chi2_contingency(</a:t>
            </a:r>
            <a:endParaRPr lang="en-US" sz="1300" dirty="0"/>
          </a:p>
          <a:p>
            <a:pPr marL="0" indent="0">
              <a:buNone/>
            </a:pPr>
            <a:r>
              <a:rPr lang="en-US" sz="1300" dirty="0">
                <a:solidFill>
                  <a:schemeClr val="tx2"/>
                </a:solidFill>
                <a:latin typeface="Courier New" pitchFamily="34" charset="0"/>
                <a:ea typeface="Courier New" pitchFamily="34" charset="-122"/>
                <a:cs typeface="Courier New" pitchFamily="34" charset="-120"/>
              </a:rPr>
              <a:t>    table, correction=False)</a:t>
            </a:r>
            <a:endParaRPr lang="en-US" sz="1300" dirty="0"/>
          </a:p>
        </p:txBody>
      </p:sp>
      <p:sp>
        <p:nvSpPr>
          <p:cNvPr id="15" name="text-397"/>
          <p:cNvSpPr txBox="1"/>
          <p:nvPr/>
        </p:nvSpPr>
        <p:spPr>
          <a:xfrm>
            <a:off x="6492240" y="3337560"/>
            <a:ext cx="4937760" cy="320040"/>
          </a:xfrm>
          <a:prstGeom prst="rect">
            <a:avLst/>
          </a:prstGeom>
          <a:noFill/>
          <a:ln/>
        </p:spPr>
        <p:txBody>
          <a:bodyPr wrap="square" lIns="0" tIns="0" rIns="0" bIns="0" rtlCol="0" anchor="t"/>
          <a:lstStyle/>
          <a:p>
            <a:pPr marL="0" indent="0">
              <a:buNone/>
            </a:pPr>
            <a:r>
              <a:rPr lang="en-US" sz="1200" i="1" dirty="0">
                <a:solidFill>
                  <a:schemeClr val="accent5"/>
                </a:solidFill>
              </a:rPr>
              <a:t>correction=False matches hand calculations.</a:t>
            </a:r>
            <a:endParaRPr lang="en-US" sz="1200" dirty="0"/>
          </a:p>
        </p:txBody>
      </p:sp>
      <p:sp>
        <p:nvSpPr>
          <p:cNvPr id="16" name="card-398"/>
          <p:cNvSpPr/>
          <p:nvPr/>
        </p:nvSpPr>
        <p:spPr>
          <a:xfrm>
            <a:off x="548640" y="3931920"/>
            <a:ext cx="5394960" cy="2103120"/>
          </a:xfrm>
          <a:prstGeom prst="roundRect">
            <a:avLst>
              <a:gd name="adj" fmla="val 5217"/>
            </a:avLst>
          </a:prstGeom>
          <a:solidFill>
            <a:schemeClr val="bg2"/>
          </a:solidFill>
          <a:ln/>
        </p:spPr>
        <p:txBody>
          <a:bodyPr/>
          <a:lstStyle/>
          <a:p>
            <a:endParaRPr lang="en-IN"/>
          </a:p>
        </p:txBody>
      </p:sp>
      <p:sp>
        <p:nvSpPr>
          <p:cNvPr id="17" name="badge-399"/>
          <p:cNvSpPr/>
          <p:nvPr/>
        </p:nvSpPr>
        <p:spPr>
          <a:xfrm>
            <a:off x="777240" y="4114800"/>
            <a:ext cx="548640" cy="548640"/>
          </a:xfrm>
          <a:prstGeom prst="ellipse">
            <a:avLst/>
          </a:prstGeom>
          <a:solidFill>
            <a:schemeClr val="accent1"/>
          </a:solidFill>
          <a:ln/>
        </p:spPr>
        <p:txBody>
          <a:bodyPr/>
          <a:lstStyle/>
          <a:p>
            <a:endParaRPr lang="en-IN"/>
          </a:p>
        </p:txBody>
      </p:sp>
      <p:pic>
        <p:nvPicPr>
          <p:cNvPr id="18" name="icon-400" descr="preencoded.png"/>
          <p:cNvPicPr>
            <a:picLocks noChangeAspect="1"/>
          </p:cNvPicPr>
          <p:nvPr/>
        </p:nvPicPr>
        <p:blipFill>
          <a:blip r:embed="rId5"/>
          <a:stretch>
            <a:fillRect/>
          </a:stretch>
        </p:blipFill>
        <p:spPr>
          <a:xfrm>
            <a:off x="908914" y="4246474"/>
            <a:ext cx="285293" cy="285293"/>
          </a:xfrm>
          <a:prstGeom prst="rect">
            <a:avLst/>
          </a:prstGeom>
        </p:spPr>
      </p:pic>
      <p:sp>
        <p:nvSpPr>
          <p:cNvPr id="19" name="text-401"/>
          <p:cNvSpPr txBox="1"/>
          <p:nvPr/>
        </p:nvSpPr>
        <p:spPr>
          <a:xfrm>
            <a:off x="1508760" y="4133088"/>
            <a:ext cx="4114800" cy="50292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R</a:t>
            </a:r>
            <a:endParaRPr lang="en-US" sz="1800" dirty="0"/>
          </a:p>
        </p:txBody>
      </p:sp>
      <p:sp>
        <p:nvSpPr>
          <p:cNvPr id="20" name="text-402"/>
          <p:cNvSpPr txBox="1"/>
          <p:nvPr/>
        </p:nvSpPr>
        <p:spPr>
          <a:xfrm>
            <a:off x="822960" y="4754880"/>
            <a:ext cx="4937760" cy="868680"/>
          </a:xfrm>
          <a:prstGeom prst="rect">
            <a:avLst/>
          </a:prstGeom>
          <a:noFill/>
          <a:ln/>
        </p:spPr>
        <p:txBody>
          <a:bodyPr wrap="square" lIns="0" tIns="0" rIns="0" bIns="0" rtlCol="0" anchor="t"/>
          <a:lstStyle/>
          <a:p>
            <a:pPr marL="0" indent="0">
              <a:buNone/>
            </a:pPr>
            <a:r>
              <a:rPr lang="en-US" sz="1300" dirty="0">
                <a:solidFill>
                  <a:schemeClr val="tx2"/>
                </a:solidFill>
                <a:latin typeface="Courier New" pitchFamily="34" charset="0"/>
                <a:ea typeface="Courier New" pitchFamily="34" charset="-122"/>
                <a:cs typeface="Courier New" pitchFamily="34" charset="-120"/>
              </a:rPr>
              <a:t>res &lt;- chisq.test(tbl, correct = FALSE)</a:t>
            </a:r>
            <a:endParaRPr lang="en-US" sz="1300" dirty="0"/>
          </a:p>
          <a:p>
            <a:pPr marL="0" indent="0">
              <a:buNone/>
            </a:pPr>
            <a:r>
              <a:rPr lang="en-US" sz="1300" dirty="0">
                <a:solidFill>
                  <a:schemeClr val="tx2"/>
                </a:solidFill>
                <a:latin typeface="Courier New" pitchFamily="34" charset="0"/>
                <a:ea typeface="Courier New" pitchFamily="34" charset="-122"/>
                <a:cs typeface="Courier New" pitchFamily="34" charset="-120"/>
              </a:rPr>
              <a:t>res$expected   # E table</a:t>
            </a:r>
            <a:endParaRPr lang="en-US" sz="1300" dirty="0"/>
          </a:p>
          <a:p>
            <a:pPr marL="0" indent="0">
              <a:buNone/>
            </a:pPr>
            <a:r>
              <a:rPr lang="en-US" sz="1300" dirty="0">
                <a:solidFill>
                  <a:schemeClr val="tx2"/>
                </a:solidFill>
                <a:latin typeface="Courier New" pitchFamily="34" charset="0"/>
                <a:ea typeface="Courier New" pitchFamily="34" charset="-122"/>
                <a:cs typeface="Courier New" pitchFamily="34" charset="-120"/>
              </a:rPr>
              <a:t>res$stdres     # adjusted residuals</a:t>
            </a:r>
            <a:endParaRPr lang="en-US" sz="1300" dirty="0"/>
          </a:p>
        </p:txBody>
      </p:sp>
      <p:sp>
        <p:nvSpPr>
          <p:cNvPr id="21" name="text-403"/>
          <p:cNvSpPr txBox="1"/>
          <p:nvPr/>
        </p:nvSpPr>
        <p:spPr>
          <a:xfrm>
            <a:off x="822960" y="5623560"/>
            <a:ext cx="4937760" cy="320040"/>
          </a:xfrm>
          <a:prstGeom prst="rect">
            <a:avLst/>
          </a:prstGeom>
          <a:noFill/>
          <a:ln/>
        </p:spPr>
        <p:txBody>
          <a:bodyPr wrap="square" lIns="0" tIns="0" rIns="0" bIns="0" rtlCol="0" anchor="t"/>
          <a:lstStyle/>
          <a:p>
            <a:pPr marL="0" indent="0">
              <a:buNone/>
            </a:pPr>
            <a:r>
              <a:rPr lang="en-US" sz="1200" i="1" dirty="0">
                <a:solidFill>
                  <a:schemeClr val="accent5"/>
                </a:solidFill>
              </a:rPr>
              <a:t>Yates is on by default for 2 × 2 tables.</a:t>
            </a:r>
            <a:endParaRPr lang="en-US" sz="1200" dirty="0"/>
          </a:p>
        </p:txBody>
      </p:sp>
      <p:sp>
        <p:nvSpPr>
          <p:cNvPr id="22" name="card-404"/>
          <p:cNvSpPr/>
          <p:nvPr/>
        </p:nvSpPr>
        <p:spPr>
          <a:xfrm>
            <a:off x="6217920" y="3931920"/>
            <a:ext cx="5394960" cy="2103120"/>
          </a:xfrm>
          <a:prstGeom prst="roundRect">
            <a:avLst>
              <a:gd name="adj" fmla="val 5217"/>
            </a:avLst>
          </a:prstGeom>
          <a:solidFill>
            <a:schemeClr val="bg2"/>
          </a:solidFill>
          <a:ln/>
        </p:spPr>
        <p:txBody>
          <a:bodyPr/>
          <a:lstStyle/>
          <a:p>
            <a:endParaRPr lang="en-IN"/>
          </a:p>
        </p:txBody>
      </p:sp>
      <p:sp>
        <p:nvSpPr>
          <p:cNvPr id="23" name="badge-405"/>
          <p:cNvSpPr/>
          <p:nvPr/>
        </p:nvSpPr>
        <p:spPr>
          <a:xfrm>
            <a:off x="6446520" y="4114800"/>
            <a:ext cx="548640" cy="548640"/>
          </a:xfrm>
          <a:prstGeom prst="ellipse">
            <a:avLst/>
          </a:prstGeom>
          <a:solidFill>
            <a:schemeClr val="accent1"/>
          </a:solidFill>
          <a:ln/>
        </p:spPr>
        <p:txBody>
          <a:bodyPr/>
          <a:lstStyle/>
          <a:p>
            <a:endParaRPr lang="en-IN"/>
          </a:p>
        </p:txBody>
      </p:sp>
      <p:pic>
        <p:nvPicPr>
          <p:cNvPr id="24" name="icon-406" descr="preencoded.png"/>
          <p:cNvPicPr>
            <a:picLocks noChangeAspect="1"/>
          </p:cNvPicPr>
          <p:nvPr/>
        </p:nvPicPr>
        <p:blipFill>
          <a:blip r:embed="rId6"/>
          <a:stretch>
            <a:fillRect/>
          </a:stretch>
        </p:blipFill>
        <p:spPr>
          <a:xfrm>
            <a:off x="6578194" y="4246474"/>
            <a:ext cx="285293" cy="285293"/>
          </a:xfrm>
          <a:prstGeom prst="rect">
            <a:avLst/>
          </a:prstGeom>
        </p:spPr>
      </p:pic>
      <p:sp>
        <p:nvSpPr>
          <p:cNvPr id="25" name="text-407"/>
          <p:cNvSpPr txBox="1"/>
          <p:nvPr/>
        </p:nvSpPr>
        <p:spPr>
          <a:xfrm>
            <a:off x="7178040" y="4133088"/>
            <a:ext cx="4114800" cy="50292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SPSS</a:t>
            </a:r>
            <a:endParaRPr lang="en-US" sz="1800" dirty="0"/>
          </a:p>
        </p:txBody>
      </p:sp>
      <p:sp>
        <p:nvSpPr>
          <p:cNvPr id="26" name="text-408"/>
          <p:cNvSpPr txBox="1"/>
          <p:nvPr/>
        </p:nvSpPr>
        <p:spPr>
          <a:xfrm>
            <a:off x="6492240" y="4754880"/>
            <a:ext cx="4937760" cy="868680"/>
          </a:xfrm>
          <a:prstGeom prst="rect">
            <a:avLst/>
          </a:prstGeom>
          <a:noFill/>
          <a:ln/>
        </p:spPr>
        <p:txBody>
          <a:bodyPr wrap="square" lIns="0" tIns="0" rIns="0" bIns="0" rtlCol="0" anchor="t"/>
          <a:lstStyle/>
          <a:p>
            <a:pPr marL="0" indent="0">
              <a:buNone/>
            </a:pPr>
            <a:r>
              <a:rPr lang="en-US" sz="1300" dirty="0">
                <a:solidFill>
                  <a:schemeClr val="tx2"/>
                </a:solidFill>
                <a:latin typeface="Courier New" pitchFamily="34" charset="0"/>
                <a:ea typeface="Courier New" pitchFamily="34" charset="-122"/>
                <a:cs typeface="Courier New" pitchFamily="34" charset="-120"/>
              </a:rPr>
              <a:t>Analyze → Descriptive Statistics →</a:t>
            </a:r>
            <a:endParaRPr lang="en-US" sz="1300" dirty="0"/>
          </a:p>
          <a:p>
            <a:pPr marL="0" indent="0">
              <a:buNone/>
            </a:pPr>
            <a:r>
              <a:rPr lang="en-US" sz="1300" dirty="0">
                <a:solidFill>
                  <a:schemeClr val="tx2"/>
                </a:solidFill>
                <a:latin typeface="Courier New" pitchFamily="34" charset="0"/>
                <a:ea typeface="Courier New" pitchFamily="34" charset="-122"/>
                <a:cs typeface="Courier New" pitchFamily="34" charset="-120"/>
              </a:rPr>
              <a:t>Crosstabs → Statistics: Chi-square, Phi</a:t>
            </a:r>
            <a:endParaRPr lang="en-US" sz="1300" dirty="0"/>
          </a:p>
          <a:p>
            <a:pPr marL="0" indent="0">
              <a:buNone/>
            </a:pPr>
            <a:r>
              <a:rPr lang="en-US" sz="1300" dirty="0">
                <a:solidFill>
                  <a:schemeClr val="tx2"/>
                </a:solidFill>
                <a:latin typeface="Courier New" pitchFamily="34" charset="0"/>
                <a:ea typeface="Courier New" pitchFamily="34" charset="-122"/>
                <a:cs typeface="Courier New" pitchFamily="34" charset="-120"/>
              </a:rPr>
              <a:t>and Cramér's V → Cells: Adjusted std.</a:t>
            </a:r>
            <a:endParaRPr lang="en-US" sz="1300" dirty="0"/>
          </a:p>
        </p:txBody>
      </p:sp>
      <p:sp>
        <p:nvSpPr>
          <p:cNvPr id="27" name="text-409"/>
          <p:cNvSpPr txBox="1"/>
          <p:nvPr/>
        </p:nvSpPr>
        <p:spPr>
          <a:xfrm>
            <a:off x="6492240" y="5623560"/>
            <a:ext cx="4937760" cy="320040"/>
          </a:xfrm>
          <a:prstGeom prst="rect">
            <a:avLst/>
          </a:prstGeom>
          <a:noFill/>
          <a:ln/>
        </p:spPr>
        <p:txBody>
          <a:bodyPr wrap="square" lIns="0" tIns="0" rIns="0" bIns="0" rtlCol="0" anchor="t"/>
          <a:lstStyle/>
          <a:p>
            <a:pPr marL="0" indent="0">
              <a:buNone/>
            </a:pPr>
            <a:r>
              <a:rPr lang="en-US" sz="1200" i="1" dirty="0">
                <a:solidFill>
                  <a:schemeClr val="accent5"/>
                </a:solidFill>
              </a:rPr>
              <a:t>One dialog gives the whole expert package.</a:t>
            </a:r>
            <a:endParaRPr lang="en-US" sz="1200" dirty="0"/>
          </a:p>
        </p:txBody>
      </p:sp>
      <p:sp>
        <p:nvSpPr>
          <p:cNvPr id="28"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Chi Square MBA">
  <a:themeElements>
    <a:clrScheme name="Chi Square MBA">
      <a:dk1>
        <a:srgbClr val="1E2A2D"/>
      </a:dk1>
      <a:lt1>
        <a:srgbClr val="FFFFFF"/>
      </a:lt1>
      <a:dk2>
        <a:srgbClr val="102A2E"/>
      </a:dk2>
      <a:lt2>
        <a:srgbClr val="E8F1F0"/>
      </a:lt2>
      <a:accent1>
        <a:srgbClr val="1D6A6B"/>
      </a:accent1>
      <a:accent2>
        <a:srgbClr val="E9A23B"/>
      </a:accent2>
      <a:accent3>
        <a:srgbClr val="C2523C"/>
      </a:accent3>
      <a:accent4>
        <a:srgbClr val="8DB8B3"/>
      </a:accent4>
      <a:accent5>
        <a:srgbClr val="5E6E72"/>
      </a:accent5>
      <a:accent6>
        <a:srgbClr val="D5E4E2"/>
      </a:accent6>
      <a:hlink>
        <a:srgbClr val="1D6A6B"/>
      </a:hlink>
      <a:folHlink>
        <a:srgbClr val="5E6E72"/>
      </a:folHlink>
    </a:clrScheme>
    <a:fontScheme name="Chi Square MB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2152</Words>
  <Application>Microsoft Office PowerPoint</Application>
  <PresentationFormat>Widescreen</PresentationFormat>
  <Paragraphs>328</Paragraphs>
  <Slides>17</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Chi Square MBA</vt:lpstr>
      <vt:lpstr>The Chi-Square Test of Independence</vt:lpstr>
      <vt:lpstr>Anatomy of a contingency table</vt:lpstr>
      <vt:lpstr>The question, in plain English</vt:lpstr>
      <vt:lpstr>The mechanics</vt:lpstr>
      <vt:lpstr>Expected counts come from the margins</vt:lpstr>
      <vt:lpstr>Observed vs expected, side by side</vt:lpstr>
      <vt:lpstr>Add up the surprises: the χ² statistic</vt:lpstr>
      <vt:lpstr>How many cells are actually free?</vt:lpstr>
      <vt:lpstr>Two routes to the same decision</vt:lpstr>
      <vt:lpstr>PowerPoint Presentation</vt:lpstr>
      <vt:lpstr>PowerPoint Presentation</vt:lpstr>
      <vt:lpstr>PowerPoint Presentation</vt:lpstr>
      <vt:lpstr>PowerPoint Presentation</vt:lpstr>
      <vt:lpstr>PowerPoint Presentation</vt:lpstr>
      <vt:lpstr>Does specialisation decide placement?</vt:lpstr>
      <vt:lpstr>Which chi-square test fits your question?</vt:lpstr>
      <vt:lpstr>Running it in Excel, Python, R and SPSS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Chi-Square Test of Independence</dc:title>
  <dc:subject>MBA Business Statistics</dc:subject>
  <dc:creator>MBA Business Statistics</dc:creator>
  <cp:lastModifiedBy>Dr.  Puneet Kumar</cp:lastModifiedBy>
  <cp:revision>4</cp:revision>
  <dcterms:created xsi:type="dcterms:W3CDTF">2026-10-05T16:59:45Z</dcterms:created>
  <dcterms:modified xsi:type="dcterms:W3CDTF">2026-10-05T18:01:11Z</dcterms:modified>
</cp:coreProperties>
</file>