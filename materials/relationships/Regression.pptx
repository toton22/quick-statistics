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5"/>
  </p:notesMasterIdLst>
  <p:handoutMasterIdLst>
    <p:handoutMasterId r:id="rId76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3" r:id="rId42"/>
    <p:sldId id="314" r:id="rId43"/>
    <p:sldId id="315" r:id="rId44"/>
    <p:sldId id="316" r:id="rId45"/>
    <p:sldId id="317" r:id="rId46"/>
    <p:sldId id="312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281" r:id="rId67"/>
    <p:sldId id="337" r:id="rId68"/>
    <p:sldId id="338" r:id="rId69"/>
    <p:sldId id="339" r:id="rId70"/>
    <p:sldId id="293" r:id="rId71"/>
    <p:sldId id="294" r:id="rId72"/>
    <p:sldId id="295" r:id="rId73"/>
    <p:sldId id="296" r:id="rId7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365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4FA1A82-CB13-D2E4-576C-2210DD9069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838E17C-A366-DCF7-C7DE-61D53A78AD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4076333E-5D7A-FE72-D97F-FA29ACCC8FD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A1331087-8523-692E-0F27-64C489A6DE8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D074AFA-3800-43F5-9281-41CE6B0C587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9CF9E0B-A7C0-DBFF-8C4B-BEA88129BD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46F8646-4781-746C-1A8C-271BF2DF0FD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0D7FE42F-EC81-0B88-62FD-18B653652FC7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899C66C4-A5D9-F7B8-2ECA-06A16D2E621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C2891D9F-A807-AF0A-6119-88C6096745F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1AED7BC0-F20C-D4D3-CEC9-47E840C868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DF90C85-7E12-4E53-BB9D-929D012FB7A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60A3D4C-7635-1EB7-3A70-D87E1A46F4A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DE1D874-B099-E06D-C7FA-71CF8DB33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B8A0893-58BA-5A38-D733-D25FC3B9C9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95600" y="1371600"/>
            <a:ext cx="5867400" cy="22860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B505F45-F534-E354-8FBA-CF3C407AE4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5791200" cy="1447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 b="1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91267A79-A06B-02C2-DA7A-83D19088F7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6510BDD5-DAF9-3D30-34F8-5A3E47DC44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D2B4864B-24D9-402E-A3BD-5E2D89E04B9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5127" name="Line 7">
            <a:extLst>
              <a:ext uri="{FF2B5EF4-FFF2-40B4-BE49-F238E27FC236}">
                <a16:creationId xmlns:a16="http://schemas.microsoft.com/office/drawing/2014/main" id="{AA758C31-C16D-5C94-DFDF-EFC2663B4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990600"/>
            <a:ext cx="8610600" cy="0"/>
          </a:xfrm>
          <a:prstGeom prst="line">
            <a:avLst/>
          </a:prstGeom>
          <a:noFill/>
          <a:ln w="666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BB99388-B86A-7303-1A23-69452CFD446E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447800"/>
            <a:ext cx="2286000" cy="2514600"/>
            <a:chOff x="144" y="912"/>
            <a:chExt cx="1440" cy="1584"/>
          </a:xfrm>
        </p:grpSpPr>
        <p:sp>
          <p:nvSpPr>
            <p:cNvPr id="5129" name="Rectangle 9">
              <a:extLst>
                <a:ext uri="{FF2B5EF4-FFF2-40B4-BE49-F238E27FC236}">
                  <a16:creationId xmlns:a16="http://schemas.microsoft.com/office/drawing/2014/main" id="{ED0E1D9A-091E-D9D1-8D4F-99EC08582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12"/>
              <a:ext cx="52" cy="97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0" name="Rectangle 10">
              <a:extLst>
                <a:ext uri="{FF2B5EF4-FFF2-40B4-BE49-F238E27FC236}">
                  <a16:creationId xmlns:a16="http://schemas.microsoft.com/office/drawing/2014/main" id="{E488DCAB-D830-5BBE-D363-9C43D1B4A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" y="912"/>
              <a:ext cx="52" cy="86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1" name="Rectangle 11">
              <a:extLst>
                <a:ext uri="{FF2B5EF4-FFF2-40B4-BE49-F238E27FC236}">
                  <a16:creationId xmlns:a16="http://schemas.microsoft.com/office/drawing/2014/main" id="{EE477F07-1577-7863-C3D6-8DD7CC011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" y="912"/>
              <a:ext cx="52" cy="7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2" name="Rectangle 12">
              <a:extLst>
                <a:ext uri="{FF2B5EF4-FFF2-40B4-BE49-F238E27FC236}">
                  <a16:creationId xmlns:a16="http://schemas.microsoft.com/office/drawing/2014/main" id="{0357B12E-F2C8-75F4-FD51-010046A18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" y="912"/>
              <a:ext cx="52" cy="6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3" name="Rectangle 13">
              <a:extLst>
                <a:ext uri="{FF2B5EF4-FFF2-40B4-BE49-F238E27FC236}">
                  <a16:creationId xmlns:a16="http://schemas.microsoft.com/office/drawing/2014/main" id="{792F457C-08DA-9C54-3C1C-09270458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" y="912"/>
              <a:ext cx="52" cy="49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4" name="Rectangle 14">
              <a:extLst>
                <a:ext uri="{FF2B5EF4-FFF2-40B4-BE49-F238E27FC236}">
                  <a16:creationId xmlns:a16="http://schemas.microsoft.com/office/drawing/2014/main" id="{5A318755-52C5-9A49-A7D3-E69926903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" y="912"/>
              <a:ext cx="52" cy="36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5" name="Rectangle 15">
              <a:extLst>
                <a:ext uri="{FF2B5EF4-FFF2-40B4-BE49-F238E27FC236}">
                  <a16:creationId xmlns:a16="http://schemas.microsoft.com/office/drawing/2014/main" id="{E137293D-82AA-DA3E-54B9-E619B70FF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912"/>
              <a:ext cx="52" cy="2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6" name="Rectangle 16">
              <a:extLst>
                <a:ext uri="{FF2B5EF4-FFF2-40B4-BE49-F238E27FC236}">
                  <a16:creationId xmlns:a16="http://schemas.microsoft.com/office/drawing/2014/main" id="{3D841258-89CB-CD3B-2F8E-8013A3F1C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912"/>
              <a:ext cx="52" cy="1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7" name="Rectangle 17">
              <a:extLst>
                <a:ext uri="{FF2B5EF4-FFF2-40B4-BE49-F238E27FC236}">
                  <a16:creationId xmlns:a16="http://schemas.microsoft.com/office/drawing/2014/main" id="{0A8EF96D-D451-B9F3-5EA3-11CAD2F80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" y="912"/>
              <a:ext cx="49" cy="10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8" name="Rectangle 18">
              <a:extLst>
                <a:ext uri="{FF2B5EF4-FFF2-40B4-BE49-F238E27FC236}">
                  <a16:creationId xmlns:a16="http://schemas.microsoft.com/office/drawing/2014/main" id="{EC8EE044-82AD-620A-E044-49B9C9077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1" y="912"/>
              <a:ext cx="49" cy="12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9" name="Rectangle 19">
              <a:extLst>
                <a:ext uri="{FF2B5EF4-FFF2-40B4-BE49-F238E27FC236}">
                  <a16:creationId xmlns:a16="http://schemas.microsoft.com/office/drawing/2014/main" id="{203E2BCF-6BF8-3334-2F7A-ACA9F629A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912"/>
              <a:ext cx="49" cy="13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40" name="Rectangle 20">
              <a:extLst>
                <a:ext uri="{FF2B5EF4-FFF2-40B4-BE49-F238E27FC236}">
                  <a16:creationId xmlns:a16="http://schemas.microsoft.com/office/drawing/2014/main" id="{4B7E969A-B72A-8392-5C53-76EE7DEA5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8" y="912"/>
              <a:ext cx="52" cy="1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41" name="Rectangle 21">
              <a:extLst>
                <a:ext uri="{FF2B5EF4-FFF2-40B4-BE49-F238E27FC236}">
                  <a16:creationId xmlns:a16="http://schemas.microsoft.com/office/drawing/2014/main" id="{FCC7ED47-C3B9-D86E-0E7C-43A468297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5" y="912"/>
              <a:ext cx="49" cy="15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142" name="Line 22">
            <a:extLst>
              <a:ext uri="{FF2B5EF4-FFF2-40B4-BE49-F238E27FC236}">
                <a16:creationId xmlns:a16="http://schemas.microsoft.com/office/drawing/2014/main" id="{7B0FF7A3-51C6-76BA-AF70-8B4F6370D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6400800"/>
            <a:ext cx="861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6969-74AB-151F-0940-6754C3307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B5CF0-F1F7-987D-A93D-2274DCB9C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AF04B-0D03-FA0C-AD63-C9CCA73499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78246-3EAC-8ADE-C66E-DC78E9920C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6B5BF287-FD8B-4D3E-81FF-275EAA060D97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2187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6790-EDA4-A2D1-CE33-0516488E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7F3DF-A5C1-FDF2-235C-5CC50BCB9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F5294-E042-A00E-9C68-90C633C566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590E8-4D12-475A-E734-DA15703AD0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35609B9E-7DAB-4207-B06F-E21FAB7F3EEE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74700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0D61D-42BD-C63E-9790-37900EAB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1FFD6-4FD7-34B5-DC13-EA2B06427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1981200"/>
            <a:ext cx="3429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9C02F-6A58-79DB-AFB6-BCBA573CC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0" y="1981200"/>
            <a:ext cx="3429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90997-2FE6-DF22-121D-5E7D3413D1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A910D-0D22-1A90-F0E7-3746732FAE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0FD4F018-E10A-460C-9814-F07CB05AEA35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698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47C7B-0384-B19D-83AC-8D0243577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5F276-A87A-3F08-5C90-35C0D12A4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EBC30-C91B-F578-C362-5CD4426F5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548E2-1B6A-BE8B-9D93-C7E66B1BF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C9BF-3667-759A-3474-12E4F22B9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74334E-44B1-4F87-F5CC-F3E70BD4AB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3B7F9B-5984-E375-8980-DA635BA1A3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B71658CE-B232-459A-A285-24C2A8E27910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69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E74A-B5DD-17DD-B07F-B6379127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E1378-D61C-1CD5-9AE1-D96606A840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30978-B89A-CB14-09B1-F40040F1B2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82C5A0BF-963C-43B9-946A-BE512FC2E007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0683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ED559F-2A95-64B8-8EEF-3D2CFBE3E2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CF1B26-25C3-1E2C-35EB-B3487DD482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EA1B232A-5CE8-4F43-871E-409945070D62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0429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3B4E9-5137-779C-D2EC-DFA85FA4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95555-4EE5-1149-53E4-1B8216220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63C8F-E03E-ADBE-ACFB-C34FF66DB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8BED1-757F-AE09-5127-7884CD27F6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0EBFD-ED23-5936-8BE0-713F379FB2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80AFC605-86B3-4CA3-BBA5-2A623F4DF848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954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670B-2489-39B2-26D7-7E915EB25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966C6-01AA-79A9-6773-F173E18BC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9AFB3-5FCD-FE24-1778-5CC674C9F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017DE-501A-47F9-EFA0-CC40D95682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5AE7C-EF15-3839-10F9-E531863CCC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A7A48415-EE1F-48BD-9A29-C6AF29018129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8607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C0AE-9DC2-7C6F-F6CE-7486C768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B0D35-57C8-E92E-699E-08E2563B2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A88F1-05EF-CC28-835D-40DF646E82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42284-BFAE-FA3C-831A-D93BF5D09F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F6BF00FE-9D32-46A6-A89B-7938AD188B44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65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5DC0D-7366-F2DB-4314-9A160E22D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4200" y="457200"/>
            <a:ext cx="17526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D81D1-9349-740A-19D0-4FC2AD6FE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457200"/>
            <a:ext cx="51054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1EBE3-49DE-4A60-E188-576051FDF0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B34DE-7DDB-7490-B4C2-E0E3AFDB8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321F3C2A-EF71-4495-9DE0-CB07FC72699C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9744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0BFD-8E78-3C14-4165-AA954975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57200"/>
            <a:ext cx="7010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C27C3-78A0-4810-5FCD-0A0C6EB140A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676400" y="1981200"/>
            <a:ext cx="3429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FB4F3-FD06-DEC3-6261-1D4759C4E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0" y="1981200"/>
            <a:ext cx="3429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262C3-7047-789E-3227-4FC2E451ED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00" y="6477000"/>
            <a:ext cx="5715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38CE2-8528-2C5B-44D6-8EBDB1665A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81800" y="64770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5E6AA0DD-817C-411D-B1FE-BB9000E43EF5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6565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B08EC-B483-A84F-EADD-2A61A21C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57200"/>
            <a:ext cx="7010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1180FC-E11E-29DB-0418-3BA416EF4F5D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1676400" y="1981200"/>
            <a:ext cx="7010400" cy="41148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395F0-AB12-C333-3507-F5A36B5B0C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00" y="6477000"/>
            <a:ext cx="5715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3A57C-290C-5C15-39FE-81DE808ADC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81800" y="64770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 -</a:t>
            </a:r>
            <a:fld id="{ADC6D464-FFC6-44D2-9BF6-C28DA2DDAB49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872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2684E6D-0BA6-D373-BCEC-55F43CBC3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457200"/>
            <a:ext cx="7010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C559F7-4BCB-8F41-04D8-7019114F7C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76400" y="1981200"/>
            <a:ext cx="7010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BC70576D-E720-A65C-21C8-55A6980627F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571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2CADCBF-7003-7F69-9CEA-0A32B32499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altLang="en-US" dirty="0"/>
              <a:t> -</a:t>
            </a:r>
            <a:fld id="{A7831C86-DF1A-4E79-BDCE-E72DFCBC48BE}" type="slidenum">
              <a:rPr lang="en-US" altLang="en-US" smtClean="0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102" name="Line 6">
            <a:extLst>
              <a:ext uri="{FF2B5EF4-FFF2-40B4-BE49-F238E27FC236}">
                <a16:creationId xmlns:a16="http://schemas.microsoft.com/office/drawing/2014/main" id="{C9CE2510-B114-415D-F079-8F5F03C2B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6400800"/>
            <a:ext cx="861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3" name="Line 7">
            <a:extLst>
              <a:ext uri="{FF2B5EF4-FFF2-40B4-BE49-F238E27FC236}">
                <a16:creationId xmlns:a16="http://schemas.microsoft.com/office/drawing/2014/main" id="{3847EC7A-0B7D-EAAE-DD33-3DED6DC37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304800"/>
            <a:ext cx="86106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104" name="Group 8">
            <a:extLst>
              <a:ext uri="{FF2B5EF4-FFF2-40B4-BE49-F238E27FC236}">
                <a16:creationId xmlns:a16="http://schemas.microsoft.com/office/drawing/2014/main" id="{1AC99C10-8BBE-879A-1423-68819BF646E9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57200"/>
            <a:ext cx="1246188" cy="1371600"/>
            <a:chOff x="144" y="288"/>
            <a:chExt cx="785" cy="864"/>
          </a:xfrm>
        </p:grpSpPr>
        <p:sp>
          <p:nvSpPr>
            <p:cNvPr id="4105" name="Rectangle 9">
              <a:extLst>
                <a:ext uri="{FF2B5EF4-FFF2-40B4-BE49-F238E27FC236}">
                  <a16:creationId xmlns:a16="http://schemas.microsoft.com/office/drawing/2014/main" id="{1C919D78-DDCA-67B6-5A16-27EE60D36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" y="288"/>
              <a:ext cx="28" cy="5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06" name="Rectangle 10">
              <a:extLst>
                <a:ext uri="{FF2B5EF4-FFF2-40B4-BE49-F238E27FC236}">
                  <a16:creationId xmlns:a16="http://schemas.microsoft.com/office/drawing/2014/main" id="{B4FB528C-00AA-8A3D-4FB8-423C51EC3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288"/>
              <a:ext cx="28" cy="47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07" name="Rectangle 11">
              <a:extLst>
                <a:ext uri="{FF2B5EF4-FFF2-40B4-BE49-F238E27FC236}">
                  <a16:creationId xmlns:a16="http://schemas.microsoft.com/office/drawing/2014/main" id="{32680822-3941-7E6B-305C-34FA03F94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" y="288"/>
              <a:ext cx="28" cy="40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08" name="Rectangle 12">
              <a:extLst>
                <a:ext uri="{FF2B5EF4-FFF2-40B4-BE49-F238E27FC236}">
                  <a16:creationId xmlns:a16="http://schemas.microsoft.com/office/drawing/2014/main" id="{BDECB15D-FF23-8758-0A9C-F5B546299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" y="288"/>
              <a:ext cx="28" cy="3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09" name="Rectangle 13">
              <a:extLst>
                <a:ext uri="{FF2B5EF4-FFF2-40B4-BE49-F238E27FC236}">
                  <a16:creationId xmlns:a16="http://schemas.microsoft.com/office/drawing/2014/main" id="{D82FF551-09B5-46C1-57E4-D79C784B4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" y="288"/>
              <a:ext cx="28" cy="2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0" name="Rectangle 14">
              <a:extLst>
                <a:ext uri="{FF2B5EF4-FFF2-40B4-BE49-F238E27FC236}">
                  <a16:creationId xmlns:a16="http://schemas.microsoft.com/office/drawing/2014/main" id="{16573F7E-255E-D0CF-2988-8AC49AD14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" y="288"/>
              <a:ext cx="28" cy="19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1" name="Rectangle 15">
              <a:extLst>
                <a:ext uri="{FF2B5EF4-FFF2-40B4-BE49-F238E27FC236}">
                  <a16:creationId xmlns:a16="http://schemas.microsoft.com/office/drawing/2014/main" id="{0D15FB6C-7774-2ACB-86B6-4AECBC38A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" y="288"/>
              <a:ext cx="29" cy="1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2" name="Rectangle 16">
              <a:extLst>
                <a:ext uri="{FF2B5EF4-FFF2-40B4-BE49-F238E27FC236}">
                  <a16:creationId xmlns:a16="http://schemas.microsoft.com/office/drawing/2014/main" id="{C7A7E4A2-E0A7-4747-1FEA-296E19AC6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88"/>
              <a:ext cx="28" cy="6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3" name="Rectangle 17">
              <a:extLst>
                <a:ext uri="{FF2B5EF4-FFF2-40B4-BE49-F238E27FC236}">
                  <a16:creationId xmlns:a16="http://schemas.microsoft.com/office/drawing/2014/main" id="{3A92CDBA-37B5-AEB6-2E97-85548D96E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" y="288"/>
              <a:ext cx="26" cy="5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4" name="Rectangle 18">
              <a:extLst>
                <a:ext uri="{FF2B5EF4-FFF2-40B4-BE49-F238E27FC236}">
                  <a16:creationId xmlns:a16="http://schemas.microsoft.com/office/drawing/2014/main" id="{20A6BE33-0632-EDB8-357C-2C46EC06C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" y="288"/>
              <a:ext cx="26" cy="66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5" name="Rectangle 19">
              <a:extLst>
                <a:ext uri="{FF2B5EF4-FFF2-40B4-BE49-F238E27FC236}">
                  <a16:creationId xmlns:a16="http://schemas.microsoft.com/office/drawing/2014/main" id="{4EB68176-CA57-FCDD-BA6F-CE54F67F9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" y="288"/>
              <a:ext cx="27" cy="7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6" name="Rectangle 20">
              <a:extLst>
                <a:ext uri="{FF2B5EF4-FFF2-40B4-BE49-F238E27FC236}">
                  <a16:creationId xmlns:a16="http://schemas.microsoft.com/office/drawing/2014/main" id="{38351D5F-B94B-D12E-FC0B-FE416EFC7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288"/>
              <a:ext cx="28" cy="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7" name="Rectangle 21">
              <a:extLst>
                <a:ext uri="{FF2B5EF4-FFF2-40B4-BE49-F238E27FC236}">
                  <a16:creationId xmlns:a16="http://schemas.microsoft.com/office/drawing/2014/main" id="{6BCD7167-BC83-BFD0-0EE2-A81E152C9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" y="288"/>
              <a:ext cx="27" cy="8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9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§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§"/>
        <a:defRPr sz="25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§"/>
        <a:defRPr sz="22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7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5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20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5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8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0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5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C14B122-B0E4-A5FD-0B04-E213509C38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2F4124D-B10D-E149-C4E9-2D645ACF78C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8D0DFF10-BF71-4416-999B-D9070A389BFE}" type="slidenum">
              <a:rPr lang="en-US" altLang="en-US"/>
              <a:pPr/>
              <a:t>1</a:t>
            </a:fld>
            <a:endParaRPr lang="en-US" altLang="en-US" dirty="0"/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105A48C9-9758-61DE-6A8E-D3AB06DAD44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en-US" sz="4100" dirty="0">
                <a:solidFill>
                  <a:srgbClr val="0066FF"/>
                </a:solidFill>
              </a:rPr>
              <a:t>Statistics for Managers</a:t>
            </a:r>
            <a:br>
              <a:rPr lang="en-US" altLang="en-US" sz="4100" dirty="0">
                <a:solidFill>
                  <a:srgbClr val="0066FF"/>
                </a:solidFill>
              </a:rPr>
            </a:br>
            <a:r>
              <a:rPr lang="en-US" altLang="en-US" sz="4100" dirty="0">
                <a:solidFill>
                  <a:srgbClr val="0066FF"/>
                </a:solidFill>
              </a:rPr>
              <a:t>Using Microsoft® Excel </a:t>
            </a:r>
            <a:br>
              <a:rPr lang="en-US" altLang="en-US" sz="4100" dirty="0">
                <a:solidFill>
                  <a:srgbClr val="0066FF"/>
                </a:solidFill>
              </a:rPr>
            </a:br>
            <a:endParaRPr lang="en-US" altLang="en-US" sz="4100" dirty="0">
              <a:solidFill>
                <a:srgbClr val="0066FF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46DEE82-0BEC-F401-C3DC-FD74BA5833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en-US" dirty="0"/>
              <a:t>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695D9FA-D6A9-DAB8-320F-58E01108ED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75978FF-8D5E-ACB3-D1DC-729E1C58AF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7A6673AF-1FD9-45FB-8EC7-6F1D160C327D}" type="slidenum">
              <a:rPr lang="en-US" altLang="en-US"/>
              <a:pPr/>
              <a:t>2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320D4CC-0E40-59C4-D51D-FC3C89F62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D8B151E-C49B-754D-DD3B-3B7F60B5C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5400" y="1981200"/>
            <a:ext cx="7391400" cy="3886200"/>
          </a:xfrm>
          <a:solidFill>
            <a:schemeClr val="accent1"/>
          </a:solidFill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In this chapter, you learn:</a:t>
            </a:r>
          </a:p>
          <a:p>
            <a:r>
              <a:rPr lang="en-US" altLang="en-US" sz="2400"/>
              <a:t>To use regression analysis to predict the value of a dependent variable based on an independent variable</a:t>
            </a:r>
          </a:p>
          <a:p>
            <a:r>
              <a:rPr lang="en-US" altLang="en-US" sz="2400"/>
              <a:t>The meaning of the regression coefficients </a:t>
            </a:r>
            <a:r>
              <a:rPr lang="en-US" altLang="en-US" sz="2400" i="1"/>
              <a:t>b</a:t>
            </a:r>
            <a:r>
              <a:rPr lang="en-US" altLang="en-US" sz="2400" baseline="-25000"/>
              <a:t>0</a:t>
            </a:r>
            <a:r>
              <a:rPr lang="en-US" altLang="en-US" sz="2400" i="1"/>
              <a:t> </a:t>
            </a:r>
            <a:r>
              <a:rPr lang="en-US" altLang="en-US" sz="2400"/>
              <a:t>and </a:t>
            </a:r>
            <a:r>
              <a:rPr lang="en-US" altLang="en-US" sz="2400" i="1"/>
              <a:t>b</a:t>
            </a:r>
            <a:r>
              <a:rPr lang="en-US" altLang="en-US" sz="2400" baseline="-25000"/>
              <a:t>1</a:t>
            </a:r>
          </a:p>
          <a:p>
            <a:r>
              <a:rPr lang="en-US" altLang="en-US" sz="2400"/>
              <a:t>To evaluate the assumptions of regression analysis and know what to do if the assumptions are violated</a:t>
            </a:r>
          </a:p>
          <a:p>
            <a:r>
              <a:rPr lang="en-US" altLang="en-US" sz="2400"/>
              <a:t>To make inferences about the slope and correlation coefficient</a:t>
            </a:r>
          </a:p>
          <a:p>
            <a:r>
              <a:rPr lang="en-US" altLang="en-US" sz="2400"/>
              <a:t>To estimate mean values and predict individual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D0895A2-9E90-CB0A-A48C-073B9166BA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D97FAE9-A7CC-6662-BAE3-B53E94FA0F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57D4CDD6-C77E-454B-8E37-0F84F2AD2834}" type="slidenum">
              <a:rPr lang="en-US" altLang="en-US"/>
              <a:pPr/>
              <a:t>3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6D8BE308-0142-44B7-8CA9-A09722BBE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Correlation vs. Regression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78CD53F1-8C13-2EA7-2A3B-FF3C450A06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chemeClr val="accent1"/>
          </a:solidFill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scatter plot (or scatter diagram) can be used to show the relationship between two numerical variables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Correlation analysis is used to measure strength of the association (linear relationship) between two variables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Correlation is only concerned with strength of the relationship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 causal effect is implied with correlation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6962E33-0B21-4255-661F-86039DA70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EFA3138-7B81-7E1E-AA14-F4254EE110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B5121A5E-A20E-436C-856C-8C73EF5B3447}" type="slidenum">
              <a:rPr lang="en-US" altLang="en-US"/>
              <a:pPr/>
              <a:t>4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416D4437-FF6D-672B-8489-A69229FD9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Regression Analysis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8D94AB2-7381-D0BD-4F80-D3406ED7EF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981200"/>
            <a:ext cx="7010400" cy="3505200"/>
          </a:xfrm>
          <a:solidFill>
            <a:schemeClr val="accent1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1"/>
                </a:solidFill>
              </a:rPr>
              <a:t>Regression analysis is used to: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Predict the value of a dependent variable based on the value of at least one independent variable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Explain the impact of changes in an independent variable on the dependent variable</a:t>
            </a:r>
          </a:p>
          <a:p>
            <a:pPr>
              <a:lnSpc>
                <a:spcPct val="9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1"/>
                </a:solidFill>
              </a:rPr>
              <a:t>Dependent variable:  the variable you wish to explain</a:t>
            </a:r>
          </a:p>
          <a:p>
            <a:pPr>
              <a:lnSpc>
                <a:spcPct val="9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1"/>
                </a:solidFill>
              </a:rPr>
              <a:t>Independent variable:  the variable used to explain 				 the dependent variable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DFED3BC-90D3-5A4C-79FA-F3B10D1F50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DBF48B9-80A4-6766-4A35-2EBB2F1592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210D7B15-D63D-4AC0-A036-7845FA19B3E0}" type="slidenum">
              <a:rPr lang="en-US" altLang="en-US"/>
              <a:pPr/>
              <a:t>5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4084D4DF-FAE4-49C6-1703-F88EFE2BA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 Linear Regression Model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B8A8D51B-C023-0270-EFDE-36CE3A5ADD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2209800"/>
            <a:ext cx="7315200" cy="2286000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altLang="en-US"/>
              <a:t>Only </a:t>
            </a:r>
            <a:r>
              <a:rPr lang="en-US" altLang="en-US" b="1"/>
              <a:t>one</a:t>
            </a:r>
            <a:r>
              <a:rPr lang="en-US" altLang="en-US"/>
              <a:t> independent variable, X</a:t>
            </a:r>
          </a:p>
          <a:p>
            <a:r>
              <a:rPr lang="en-US" altLang="en-US"/>
              <a:t>Relationship between  X  and  Y  is described by a linear function</a:t>
            </a:r>
          </a:p>
          <a:p>
            <a:r>
              <a:rPr lang="en-US" altLang="en-US"/>
              <a:t>Changes in  Y  are related to changes in  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6D88DE0-49BB-9675-5094-8B064DD458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F9765CC-849B-D239-5E06-DC2A34DCB8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2A778B05-E61E-4F45-A54A-0228528ECAB5}" type="slidenum">
              <a:rPr lang="en-US" altLang="en-US"/>
              <a:pPr/>
              <a:t>6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0F5ED61-15F1-9566-87B2-E023EE397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Relationships</a:t>
            </a:r>
          </a:p>
        </p:txBody>
      </p:sp>
      <p:sp>
        <p:nvSpPr>
          <p:cNvPr id="29700" name="Line 4">
            <a:extLst>
              <a:ext uri="{FF2B5EF4-FFF2-40B4-BE49-F238E27FC236}">
                <a16:creationId xmlns:a16="http://schemas.microsoft.com/office/drawing/2014/main" id="{2DC91653-582B-8615-E798-83AA7F89F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724400"/>
            <a:ext cx="1588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1" name="Oval 5">
            <a:extLst>
              <a:ext uri="{FF2B5EF4-FFF2-40B4-BE49-F238E27FC236}">
                <a16:creationId xmlns:a16="http://schemas.microsoft.com/office/drawing/2014/main" id="{A5AD13D8-8BEE-F90E-9007-77955CE33A5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667000" y="5867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2" name="Oval 6">
            <a:extLst>
              <a:ext uri="{FF2B5EF4-FFF2-40B4-BE49-F238E27FC236}">
                <a16:creationId xmlns:a16="http://schemas.microsoft.com/office/drawing/2014/main" id="{528FBAEB-DBC2-4678-7695-55221E3278C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371600" y="4953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3" name="Oval 7">
            <a:extLst>
              <a:ext uri="{FF2B5EF4-FFF2-40B4-BE49-F238E27FC236}">
                <a16:creationId xmlns:a16="http://schemas.microsoft.com/office/drawing/2014/main" id="{4E1B309D-409F-4E8F-B061-22526C73692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124200" y="5791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4" name="Oval 8">
            <a:extLst>
              <a:ext uri="{FF2B5EF4-FFF2-40B4-BE49-F238E27FC236}">
                <a16:creationId xmlns:a16="http://schemas.microsoft.com/office/drawing/2014/main" id="{AA1ECC0B-FE04-EAC9-FD68-4242FBBF360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752600" y="4800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5" name="Oval 9">
            <a:extLst>
              <a:ext uri="{FF2B5EF4-FFF2-40B4-BE49-F238E27FC236}">
                <a16:creationId xmlns:a16="http://schemas.microsoft.com/office/drawing/2014/main" id="{0D1C69AA-00A5-9D85-EA60-0C441684B1F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14600" y="5486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6" name="Oval 10">
            <a:extLst>
              <a:ext uri="{FF2B5EF4-FFF2-40B4-BE49-F238E27FC236}">
                <a16:creationId xmlns:a16="http://schemas.microsoft.com/office/drawing/2014/main" id="{D76D508C-6717-654B-0129-5AF54590F1D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819400" y="5638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7" name="Oval 11">
            <a:extLst>
              <a:ext uri="{FF2B5EF4-FFF2-40B4-BE49-F238E27FC236}">
                <a16:creationId xmlns:a16="http://schemas.microsoft.com/office/drawing/2014/main" id="{DBF5123E-BEF6-0F98-0FEF-F7F2DEBC43C2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057400" y="5029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8" name="Oval 12">
            <a:extLst>
              <a:ext uri="{FF2B5EF4-FFF2-40B4-BE49-F238E27FC236}">
                <a16:creationId xmlns:a16="http://schemas.microsoft.com/office/drawing/2014/main" id="{017F7FFC-9BAE-8A94-84C5-39C3DAA220E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295400" y="4724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9" name="Oval 13">
            <a:extLst>
              <a:ext uri="{FF2B5EF4-FFF2-40B4-BE49-F238E27FC236}">
                <a16:creationId xmlns:a16="http://schemas.microsoft.com/office/drawing/2014/main" id="{87880E07-286C-056C-2B15-328ED4438D3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600200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0" name="Oval 14">
            <a:extLst>
              <a:ext uri="{FF2B5EF4-FFF2-40B4-BE49-F238E27FC236}">
                <a16:creationId xmlns:a16="http://schemas.microsoft.com/office/drawing/2014/main" id="{228AC9C9-10CE-FA1F-EA64-11CF48BC361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828800" y="5334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29711" name="Oval 15">
            <a:extLst>
              <a:ext uri="{FF2B5EF4-FFF2-40B4-BE49-F238E27FC236}">
                <a16:creationId xmlns:a16="http://schemas.microsoft.com/office/drawing/2014/main" id="{8FBD5C15-D406-A879-4188-B1C0F6B1637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438400" y="5715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2" name="Oval 16">
            <a:extLst>
              <a:ext uri="{FF2B5EF4-FFF2-40B4-BE49-F238E27FC236}">
                <a16:creationId xmlns:a16="http://schemas.microsoft.com/office/drawing/2014/main" id="{0B4E7377-A749-B636-5BAA-D7559C7A60B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362200" y="5257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3" name="Oval 17">
            <a:extLst>
              <a:ext uri="{FF2B5EF4-FFF2-40B4-BE49-F238E27FC236}">
                <a16:creationId xmlns:a16="http://schemas.microsoft.com/office/drawing/2014/main" id="{24E60837-AD10-C60C-38E8-A1F6DA212C57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133600" y="5334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4" name="Text Box 18">
            <a:extLst>
              <a:ext uri="{FF2B5EF4-FFF2-40B4-BE49-F238E27FC236}">
                <a16:creationId xmlns:a16="http://schemas.microsoft.com/office/drawing/2014/main" id="{0E65498A-6192-4648-C349-8C7572B1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656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Y</a:t>
            </a:r>
          </a:p>
        </p:txBody>
      </p:sp>
      <p:sp>
        <p:nvSpPr>
          <p:cNvPr id="29715" name="Line 19">
            <a:extLst>
              <a:ext uri="{FF2B5EF4-FFF2-40B4-BE49-F238E27FC236}">
                <a16:creationId xmlns:a16="http://schemas.microsoft.com/office/drawing/2014/main" id="{7DEC36FF-51A4-D27F-5F37-9E88D2D21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6172200"/>
            <a:ext cx="22860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6" name="Text Box 20">
            <a:extLst>
              <a:ext uri="{FF2B5EF4-FFF2-40B4-BE49-F238E27FC236}">
                <a16:creationId xmlns:a16="http://schemas.microsoft.com/office/drawing/2014/main" id="{7A46174B-4959-51CA-C738-E0D5ECC43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8" y="6065838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X</a:t>
            </a:r>
          </a:p>
        </p:txBody>
      </p:sp>
      <p:sp>
        <p:nvSpPr>
          <p:cNvPr id="29717" name="Line 21">
            <a:extLst>
              <a:ext uri="{FF2B5EF4-FFF2-40B4-BE49-F238E27FC236}">
                <a16:creationId xmlns:a16="http://schemas.microsoft.com/office/drawing/2014/main" id="{1880309D-074E-C769-126E-9510FC9AF9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2438400"/>
            <a:ext cx="1588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8" name="Oval 22">
            <a:extLst>
              <a:ext uri="{FF2B5EF4-FFF2-40B4-BE49-F238E27FC236}">
                <a16:creationId xmlns:a16="http://schemas.microsoft.com/office/drawing/2014/main" id="{ECC857ED-015C-5EE4-91C4-D414852C1FA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219200" y="3657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9" name="Oval 23">
            <a:extLst>
              <a:ext uri="{FF2B5EF4-FFF2-40B4-BE49-F238E27FC236}">
                <a16:creationId xmlns:a16="http://schemas.microsoft.com/office/drawing/2014/main" id="{EA688215-149D-6C30-F6CE-8A4C9AAEED5D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447800" y="3352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0" name="Oval 24">
            <a:extLst>
              <a:ext uri="{FF2B5EF4-FFF2-40B4-BE49-F238E27FC236}">
                <a16:creationId xmlns:a16="http://schemas.microsoft.com/office/drawing/2014/main" id="{F1F89DC2-18CE-59C3-8AC1-0BE86842052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124200" y="2286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1" name="Oval 25">
            <a:extLst>
              <a:ext uri="{FF2B5EF4-FFF2-40B4-BE49-F238E27FC236}">
                <a16:creationId xmlns:a16="http://schemas.microsoft.com/office/drawing/2014/main" id="{032E961D-D72B-A3CC-4581-9864B6E6D162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276600" y="2667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2" name="Oval 26">
            <a:extLst>
              <a:ext uri="{FF2B5EF4-FFF2-40B4-BE49-F238E27FC236}">
                <a16:creationId xmlns:a16="http://schemas.microsoft.com/office/drawing/2014/main" id="{051174EA-C9F9-4894-1E8A-EE13CE316D70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676400" y="3505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3" name="Oval 27">
            <a:extLst>
              <a:ext uri="{FF2B5EF4-FFF2-40B4-BE49-F238E27FC236}">
                <a16:creationId xmlns:a16="http://schemas.microsoft.com/office/drawing/2014/main" id="{F015E855-6257-497B-3A6A-E988333B7D57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895600" y="2667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4" name="Oval 28">
            <a:extLst>
              <a:ext uri="{FF2B5EF4-FFF2-40B4-BE49-F238E27FC236}">
                <a16:creationId xmlns:a16="http://schemas.microsoft.com/office/drawing/2014/main" id="{39DB9816-E31B-B305-7F1E-564C3A51055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14600" y="3276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5" name="Oval 29">
            <a:extLst>
              <a:ext uri="{FF2B5EF4-FFF2-40B4-BE49-F238E27FC236}">
                <a16:creationId xmlns:a16="http://schemas.microsoft.com/office/drawing/2014/main" id="{ACFA13EE-7AE2-BDC4-0967-A9D03AC68EC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90800" y="2667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6" name="Oval 30">
            <a:extLst>
              <a:ext uri="{FF2B5EF4-FFF2-40B4-BE49-F238E27FC236}">
                <a16:creationId xmlns:a16="http://schemas.microsoft.com/office/drawing/2014/main" id="{F6E53B14-8A66-31EA-1A80-D1416A29D1D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209800" y="2514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7" name="Oval 31">
            <a:extLst>
              <a:ext uri="{FF2B5EF4-FFF2-40B4-BE49-F238E27FC236}">
                <a16:creationId xmlns:a16="http://schemas.microsoft.com/office/drawing/2014/main" id="{E8E8400D-F061-5C3C-9517-8E0E7DDCF5E7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295400" y="3048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8" name="Oval 32">
            <a:extLst>
              <a:ext uri="{FF2B5EF4-FFF2-40B4-BE49-F238E27FC236}">
                <a16:creationId xmlns:a16="http://schemas.microsoft.com/office/drawing/2014/main" id="{6BAFC924-6484-309A-23E3-8CC588BB0F9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600200" y="2895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9" name="Oval 33">
            <a:extLst>
              <a:ext uri="{FF2B5EF4-FFF2-40B4-BE49-F238E27FC236}">
                <a16:creationId xmlns:a16="http://schemas.microsoft.com/office/drawing/2014/main" id="{221557FA-CDAE-4DF2-46A7-A7244A18183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905000" y="308292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29730" name="Oval 34">
            <a:extLst>
              <a:ext uri="{FF2B5EF4-FFF2-40B4-BE49-F238E27FC236}">
                <a16:creationId xmlns:a16="http://schemas.microsoft.com/office/drawing/2014/main" id="{D4F8ADF4-A04F-E911-CDA6-8643AEB09CA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819400" y="2971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1" name="Oval 35">
            <a:extLst>
              <a:ext uri="{FF2B5EF4-FFF2-40B4-BE49-F238E27FC236}">
                <a16:creationId xmlns:a16="http://schemas.microsoft.com/office/drawing/2014/main" id="{B26D53C6-F4F3-E98B-E00F-C2B18AA37DA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286000" y="3048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2" name="Oval 36">
            <a:extLst>
              <a:ext uri="{FF2B5EF4-FFF2-40B4-BE49-F238E27FC236}">
                <a16:creationId xmlns:a16="http://schemas.microsoft.com/office/drawing/2014/main" id="{48A35246-9169-C779-FDC7-A91497F0A14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057400" y="3352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3" name="Text Box 37">
            <a:extLst>
              <a:ext uri="{FF2B5EF4-FFF2-40B4-BE49-F238E27FC236}">
                <a16:creationId xmlns:a16="http://schemas.microsoft.com/office/drawing/2014/main" id="{8D6D6C03-8FF8-08E6-AD11-98CC8F883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558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Y</a:t>
            </a:r>
          </a:p>
        </p:txBody>
      </p:sp>
      <p:sp>
        <p:nvSpPr>
          <p:cNvPr id="29734" name="Line 38">
            <a:extLst>
              <a:ext uri="{FF2B5EF4-FFF2-40B4-BE49-F238E27FC236}">
                <a16:creationId xmlns:a16="http://schemas.microsoft.com/office/drawing/2014/main" id="{4795E824-5034-B1E2-C458-6C4D631B5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962400"/>
            <a:ext cx="22860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5" name="Oval 39">
            <a:extLst>
              <a:ext uri="{FF2B5EF4-FFF2-40B4-BE49-F238E27FC236}">
                <a16:creationId xmlns:a16="http://schemas.microsoft.com/office/drawing/2014/main" id="{07682FAC-FB45-2B1B-B4F4-300E82503740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124200" y="2971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6" name="Text Box 40">
            <a:extLst>
              <a:ext uri="{FF2B5EF4-FFF2-40B4-BE49-F238E27FC236}">
                <a16:creationId xmlns:a16="http://schemas.microsoft.com/office/drawing/2014/main" id="{FDD16CD5-E21C-618A-0D11-8B8401B17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8" y="3856038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X</a:t>
            </a:r>
          </a:p>
        </p:txBody>
      </p:sp>
      <p:sp>
        <p:nvSpPr>
          <p:cNvPr id="29737" name="Line 41">
            <a:extLst>
              <a:ext uri="{FF2B5EF4-FFF2-40B4-BE49-F238E27FC236}">
                <a16:creationId xmlns:a16="http://schemas.microsoft.com/office/drawing/2014/main" id="{B7C19187-935D-6D34-C1F7-1EA8ACD12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724400"/>
            <a:ext cx="1588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8" name="Oval 42">
            <a:extLst>
              <a:ext uri="{FF2B5EF4-FFF2-40B4-BE49-F238E27FC236}">
                <a16:creationId xmlns:a16="http://schemas.microsoft.com/office/drawing/2014/main" id="{083C7D2F-F5D4-A8D6-84E1-7AD6479DE5A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019800" y="5715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9" name="Oval 43">
            <a:extLst>
              <a:ext uri="{FF2B5EF4-FFF2-40B4-BE49-F238E27FC236}">
                <a16:creationId xmlns:a16="http://schemas.microsoft.com/office/drawing/2014/main" id="{5E7B0E0D-BF2C-52CE-54B8-B5806A6F141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324600" y="5562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40" name="Oval 44">
            <a:extLst>
              <a:ext uri="{FF2B5EF4-FFF2-40B4-BE49-F238E27FC236}">
                <a16:creationId xmlns:a16="http://schemas.microsoft.com/office/drawing/2014/main" id="{1E9A4FDC-189C-A9D3-3197-12236FBAADC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848600" y="4495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41" name="Oval 45">
            <a:extLst>
              <a:ext uri="{FF2B5EF4-FFF2-40B4-BE49-F238E27FC236}">
                <a16:creationId xmlns:a16="http://schemas.microsoft.com/office/drawing/2014/main" id="{83F345B0-F934-59A3-CBC2-8D71EAD8FC49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772400" y="4800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42" name="Oval 46">
            <a:extLst>
              <a:ext uri="{FF2B5EF4-FFF2-40B4-BE49-F238E27FC236}">
                <a16:creationId xmlns:a16="http://schemas.microsoft.com/office/drawing/2014/main" id="{05243D26-4B20-A339-C615-940970E4CD4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400800" y="5791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43" name="Oval 47">
            <a:extLst>
              <a:ext uri="{FF2B5EF4-FFF2-40B4-BE49-F238E27FC236}">
                <a16:creationId xmlns:a16="http://schemas.microsoft.com/office/drawing/2014/main" id="{E724AEB2-94AB-29D2-B75B-BEA24900D70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467600" y="4648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44" name="Oval 48">
            <a:extLst>
              <a:ext uri="{FF2B5EF4-FFF2-40B4-BE49-F238E27FC236}">
                <a16:creationId xmlns:a16="http://schemas.microsoft.com/office/drawing/2014/main" id="{E77A067D-9634-FF19-9F25-EC754A76C42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391400" y="5410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45" name="Oval 49">
            <a:extLst>
              <a:ext uri="{FF2B5EF4-FFF2-40B4-BE49-F238E27FC236}">
                <a16:creationId xmlns:a16="http://schemas.microsoft.com/office/drawing/2014/main" id="{0624FE78-73F3-7472-BA4B-3183AA88718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315200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46" name="Oval 50">
            <a:extLst>
              <a:ext uri="{FF2B5EF4-FFF2-40B4-BE49-F238E27FC236}">
                <a16:creationId xmlns:a16="http://schemas.microsoft.com/office/drawing/2014/main" id="{18A34781-F054-9CFC-FEA5-CFDE6462CDC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620000" y="4343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47" name="Oval 51">
            <a:extLst>
              <a:ext uri="{FF2B5EF4-FFF2-40B4-BE49-F238E27FC236}">
                <a16:creationId xmlns:a16="http://schemas.microsoft.com/office/drawing/2014/main" id="{6481F53D-F690-9C8A-27D9-55B507AD86E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629400" y="5486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29748" name="Oval 52">
            <a:extLst>
              <a:ext uri="{FF2B5EF4-FFF2-40B4-BE49-F238E27FC236}">
                <a16:creationId xmlns:a16="http://schemas.microsoft.com/office/drawing/2014/main" id="{8C121FA6-038F-3914-750E-9A80F8F66142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620000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49" name="Oval 53">
            <a:extLst>
              <a:ext uri="{FF2B5EF4-FFF2-40B4-BE49-F238E27FC236}">
                <a16:creationId xmlns:a16="http://schemas.microsoft.com/office/drawing/2014/main" id="{B1A0BA55-18E4-FE40-6240-5C868BB7645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010400" y="5334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50" name="Oval 54">
            <a:extLst>
              <a:ext uri="{FF2B5EF4-FFF2-40B4-BE49-F238E27FC236}">
                <a16:creationId xmlns:a16="http://schemas.microsoft.com/office/drawing/2014/main" id="{94EEA562-1F6D-EAA5-5011-266FD3B1A89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858000" y="5638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51" name="Text Box 55">
            <a:extLst>
              <a:ext uri="{FF2B5EF4-FFF2-40B4-BE49-F238E27FC236}">
                <a16:creationId xmlns:a16="http://schemas.microsoft.com/office/drawing/2014/main" id="{90837DC3-AA1C-E489-9281-170D401DE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656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Y</a:t>
            </a:r>
          </a:p>
        </p:txBody>
      </p:sp>
      <p:sp>
        <p:nvSpPr>
          <p:cNvPr id="29752" name="Line 56">
            <a:extLst>
              <a:ext uri="{FF2B5EF4-FFF2-40B4-BE49-F238E27FC236}">
                <a16:creationId xmlns:a16="http://schemas.microsoft.com/office/drawing/2014/main" id="{6058E3BF-5B4E-CA25-FD3C-8820A98E6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6172200"/>
            <a:ext cx="22860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53" name="Line 57">
            <a:extLst>
              <a:ext uri="{FF2B5EF4-FFF2-40B4-BE49-F238E27FC236}">
                <a16:creationId xmlns:a16="http://schemas.microsoft.com/office/drawing/2014/main" id="{58839139-4F78-FD47-47CA-7AD664BCA4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2438400"/>
            <a:ext cx="1588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54" name="Oval 58">
            <a:extLst>
              <a:ext uri="{FF2B5EF4-FFF2-40B4-BE49-F238E27FC236}">
                <a16:creationId xmlns:a16="http://schemas.microsoft.com/office/drawing/2014/main" id="{87C0DFE6-D7A1-B4B4-1708-64561E91F4F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019800" y="3657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55" name="Oval 59">
            <a:extLst>
              <a:ext uri="{FF2B5EF4-FFF2-40B4-BE49-F238E27FC236}">
                <a16:creationId xmlns:a16="http://schemas.microsoft.com/office/drawing/2014/main" id="{65F74539-6015-9CAB-F6E2-4A7813CB55FD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248400" y="3352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56" name="Oval 60">
            <a:extLst>
              <a:ext uri="{FF2B5EF4-FFF2-40B4-BE49-F238E27FC236}">
                <a16:creationId xmlns:a16="http://schemas.microsoft.com/office/drawing/2014/main" id="{77E5BA44-2732-25B4-CD50-735C3B3E46E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8153400" y="3200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57" name="Oval 61">
            <a:extLst>
              <a:ext uri="{FF2B5EF4-FFF2-40B4-BE49-F238E27FC236}">
                <a16:creationId xmlns:a16="http://schemas.microsoft.com/office/drawing/2014/main" id="{BDFB0BDA-BFB4-A141-CBB1-E85975C103B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696200" y="2590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58" name="Oval 62">
            <a:extLst>
              <a:ext uri="{FF2B5EF4-FFF2-40B4-BE49-F238E27FC236}">
                <a16:creationId xmlns:a16="http://schemas.microsoft.com/office/drawing/2014/main" id="{CB31C4AF-6FE2-D907-33D5-AD3DDF96B38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629400" y="2667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59" name="Oval 63">
            <a:extLst>
              <a:ext uri="{FF2B5EF4-FFF2-40B4-BE49-F238E27FC236}">
                <a16:creationId xmlns:a16="http://schemas.microsoft.com/office/drawing/2014/main" id="{8140879C-1E4D-000A-E1B0-1C19230F7C7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8153400" y="3505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60" name="Oval 64">
            <a:extLst>
              <a:ext uri="{FF2B5EF4-FFF2-40B4-BE49-F238E27FC236}">
                <a16:creationId xmlns:a16="http://schemas.microsoft.com/office/drawing/2014/main" id="{75BBEF43-1571-2EC3-0B31-657D63769D1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848600" y="3276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61" name="Oval 65">
            <a:extLst>
              <a:ext uri="{FF2B5EF4-FFF2-40B4-BE49-F238E27FC236}">
                <a16:creationId xmlns:a16="http://schemas.microsoft.com/office/drawing/2014/main" id="{B2D931B1-22E4-0AE0-4D21-E62E9E09834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391400" y="2743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62" name="Oval 66">
            <a:extLst>
              <a:ext uri="{FF2B5EF4-FFF2-40B4-BE49-F238E27FC236}">
                <a16:creationId xmlns:a16="http://schemas.microsoft.com/office/drawing/2014/main" id="{46F545C5-E9E1-FA33-B399-3D43E540E36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010400" y="2590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63" name="Oval 67">
            <a:extLst>
              <a:ext uri="{FF2B5EF4-FFF2-40B4-BE49-F238E27FC236}">
                <a16:creationId xmlns:a16="http://schemas.microsoft.com/office/drawing/2014/main" id="{1A321398-DEF8-59B8-D2E6-301A323439E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172200" y="3048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64" name="Oval 68">
            <a:extLst>
              <a:ext uri="{FF2B5EF4-FFF2-40B4-BE49-F238E27FC236}">
                <a16:creationId xmlns:a16="http://schemas.microsoft.com/office/drawing/2014/main" id="{A1FC5E89-B5E3-1956-C6F1-6B7E1B8B348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400800" y="2895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65" name="Oval 69">
            <a:extLst>
              <a:ext uri="{FF2B5EF4-FFF2-40B4-BE49-F238E27FC236}">
                <a16:creationId xmlns:a16="http://schemas.microsoft.com/office/drawing/2014/main" id="{3F80DC9F-360C-DB7C-1FBA-A5365233F5A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705600" y="308292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29766" name="Oval 70">
            <a:extLst>
              <a:ext uri="{FF2B5EF4-FFF2-40B4-BE49-F238E27FC236}">
                <a16:creationId xmlns:a16="http://schemas.microsoft.com/office/drawing/2014/main" id="{3EE1A597-D41A-114F-E21E-3364CB87353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620000" y="2971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67" name="Oval 71">
            <a:extLst>
              <a:ext uri="{FF2B5EF4-FFF2-40B4-BE49-F238E27FC236}">
                <a16:creationId xmlns:a16="http://schemas.microsoft.com/office/drawing/2014/main" id="{F1C99AB5-3DC2-F3FD-31E7-879B36C3839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086600" y="2895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68" name="Oval 72">
            <a:extLst>
              <a:ext uri="{FF2B5EF4-FFF2-40B4-BE49-F238E27FC236}">
                <a16:creationId xmlns:a16="http://schemas.microsoft.com/office/drawing/2014/main" id="{29137207-644E-1B04-E9E2-0B009D54DF12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315200" y="2438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69" name="Text Box 73">
            <a:extLst>
              <a:ext uri="{FF2B5EF4-FFF2-40B4-BE49-F238E27FC236}">
                <a16:creationId xmlns:a16="http://schemas.microsoft.com/office/drawing/2014/main" id="{F86210D6-8FCC-29A3-D58C-DAA69F2FE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2558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Y</a:t>
            </a:r>
          </a:p>
        </p:txBody>
      </p:sp>
      <p:sp>
        <p:nvSpPr>
          <p:cNvPr id="29770" name="Line 74">
            <a:extLst>
              <a:ext uri="{FF2B5EF4-FFF2-40B4-BE49-F238E27FC236}">
                <a16:creationId xmlns:a16="http://schemas.microsoft.com/office/drawing/2014/main" id="{6A398CE4-7925-6240-098B-C75FEAF2E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962400"/>
            <a:ext cx="22860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71" name="Oval 75">
            <a:extLst>
              <a:ext uri="{FF2B5EF4-FFF2-40B4-BE49-F238E27FC236}">
                <a16:creationId xmlns:a16="http://schemas.microsoft.com/office/drawing/2014/main" id="{54FA6A32-8F79-B3FA-30A9-26F086495D0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924800" y="2971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72" name="Text Box 76">
            <a:extLst>
              <a:ext uri="{FF2B5EF4-FFF2-40B4-BE49-F238E27FC236}">
                <a16:creationId xmlns:a16="http://schemas.microsoft.com/office/drawing/2014/main" id="{E2647BF0-B456-A49F-3FD5-839D38A73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5788" y="3856038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X</a:t>
            </a:r>
          </a:p>
        </p:txBody>
      </p:sp>
      <p:sp>
        <p:nvSpPr>
          <p:cNvPr id="29773" name="Text Box 77">
            <a:extLst>
              <a:ext uri="{FF2B5EF4-FFF2-40B4-BE49-F238E27FC236}">
                <a16:creationId xmlns:a16="http://schemas.microsoft.com/office/drawing/2014/main" id="{7B692B17-8982-13E1-E43D-E3C47D4DE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0658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X</a:t>
            </a:r>
          </a:p>
        </p:txBody>
      </p:sp>
      <p:sp>
        <p:nvSpPr>
          <p:cNvPr id="29774" name="Text Box 78">
            <a:extLst>
              <a:ext uri="{FF2B5EF4-FFF2-40B4-BE49-F238E27FC236}">
                <a16:creationId xmlns:a16="http://schemas.microsoft.com/office/drawing/2014/main" id="{8253F6B8-AE91-6828-3189-E27C6B184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752600"/>
            <a:ext cx="2667000" cy="396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>
                <a:latin typeface="Times New Roman" panose="02020603050405020304" pitchFamily="18" charset="0"/>
              </a:rPr>
              <a:t>Linear relationships</a:t>
            </a:r>
          </a:p>
        </p:txBody>
      </p:sp>
      <p:sp>
        <p:nvSpPr>
          <p:cNvPr id="29775" name="Text Box 79">
            <a:extLst>
              <a:ext uri="{FF2B5EF4-FFF2-40B4-BE49-F238E27FC236}">
                <a16:creationId xmlns:a16="http://schemas.microsoft.com/office/drawing/2014/main" id="{8465072E-BBB7-8A76-A2C4-689965F13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752600"/>
            <a:ext cx="3200400" cy="396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>
                <a:latin typeface="Times New Roman" panose="02020603050405020304" pitchFamily="18" charset="0"/>
              </a:rPr>
              <a:t>Curvilinear relationships</a:t>
            </a:r>
          </a:p>
        </p:txBody>
      </p:sp>
      <p:sp>
        <p:nvSpPr>
          <p:cNvPr id="29776" name="Line 80">
            <a:extLst>
              <a:ext uri="{FF2B5EF4-FFF2-40B4-BE49-F238E27FC236}">
                <a16:creationId xmlns:a16="http://schemas.microsoft.com/office/drawing/2014/main" id="{46A062EB-13EA-1A07-7751-965E5304B0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1676400"/>
            <a:ext cx="0" cy="4495800"/>
          </a:xfrm>
          <a:prstGeom prst="line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9777" name="Line 81">
            <a:extLst>
              <a:ext uri="{FF2B5EF4-FFF2-40B4-BE49-F238E27FC236}">
                <a16:creationId xmlns:a16="http://schemas.microsoft.com/office/drawing/2014/main" id="{1C6F6F4A-0A9E-45CE-BC67-FB2B3F594E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2590800"/>
            <a:ext cx="2362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9778" name="Line 82">
            <a:extLst>
              <a:ext uri="{FF2B5EF4-FFF2-40B4-BE49-F238E27FC236}">
                <a16:creationId xmlns:a16="http://schemas.microsoft.com/office/drawing/2014/main" id="{5D99C9B3-7678-FC8D-D4A1-32292754B4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724400"/>
            <a:ext cx="1828800" cy="1295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9779" name="Freeform 83">
            <a:extLst>
              <a:ext uri="{FF2B5EF4-FFF2-40B4-BE49-F238E27FC236}">
                <a16:creationId xmlns:a16="http://schemas.microsoft.com/office/drawing/2014/main" id="{67B038F9-D2A5-3021-8B3E-6C78F0DDFA9E}"/>
              </a:ext>
            </a:extLst>
          </p:cNvPr>
          <p:cNvSpPr>
            <a:spLocks/>
          </p:cNvSpPr>
          <p:nvPr/>
        </p:nvSpPr>
        <p:spPr bwMode="auto">
          <a:xfrm>
            <a:off x="6096000" y="2692400"/>
            <a:ext cx="2209800" cy="1117600"/>
          </a:xfrm>
          <a:custGeom>
            <a:avLst/>
            <a:gdLst>
              <a:gd name="T0" fmla="*/ 0 w 1392"/>
              <a:gd name="T1" fmla="*/ 704 h 704"/>
              <a:gd name="T2" fmla="*/ 720 w 1392"/>
              <a:gd name="T3" fmla="*/ 32 h 704"/>
              <a:gd name="T4" fmla="*/ 1392 w 1392"/>
              <a:gd name="T5" fmla="*/ 512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92" h="704">
                <a:moveTo>
                  <a:pt x="0" y="704"/>
                </a:moveTo>
                <a:cubicBezTo>
                  <a:pt x="244" y="384"/>
                  <a:pt x="488" y="64"/>
                  <a:pt x="720" y="32"/>
                </a:cubicBezTo>
                <a:cubicBezTo>
                  <a:pt x="952" y="0"/>
                  <a:pt x="1172" y="256"/>
                  <a:pt x="1392" y="51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9780" name="Freeform 84">
            <a:extLst>
              <a:ext uri="{FF2B5EF4-FFF2-40B4-BE49-F238E27FC236}">
                <a16:creationId xmlns:a16="http://schemas.microsoft.com/office/drawing/2014/main" id="{27E98395-D26C-9BD3-BD3D-D9B37A3D956B}"/>
              </a:ext>
            </a:extLst>
          </p:cNvPr>
          <p:cNvSpPr>
            <a:spLocks/>
          </p:cNvSpPr>
          <p:nvPr/>
        </p:nvSpPr>
        <p:spPr bwMode="auto">
          <a:xfrm>
            <a:off x="6096000" y="4419600"/>
            <a:ext cx="1828800" cy="1447800"/>
          </a:xfrm>
          <a:custGeom>
            <a:avLst/>
            <a:gdLst>
              <a:gd name="T0" fmla="*/ 0 w 1152"/>
              <a:gd name="T1" fmla="*/ 912 h 912"/>
              <a:gd name="T2" fmla="*/ 816 w 1152"/>
              <a:gd name="T3" fmla="*/ 624 h 912"/>
              <a:gd name="T4" fmla="*/ 1152 w 1152"/>
              <a:gd name="T5" fmla="*/ 0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912">
                <a:moveTo>
                  <a:pt x="0" y="912"/>
                </a:moveTo>
                <a:cubicBezTo>
                  <a:pt x="312" y="844"/>
                  <a:pt x="624" y="776"/>
                  <a:pt x="816" y="624"/>
                </a:cubicBezTo>
                <a:cubicBezTo>
                  <a:pt x="1008" y="472"/>
                  <a:pt x="1080" y="236"/>
                  <a:pt x="1152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F31FF61-DF3A-0251-2259-71782BA8BC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01A486A-A5E2-D6E3-7DDE-DDF0AAAAAB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3B117447-C3B8-4BAE-B61F-A010A654D23C}" type="slidenum">
              <a:rPr lang="en-US" altLang="en-US"/>
              <a:pPr/>
              <a:t>7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63B0B12D-30CB-C913-E097-1C0AD7F58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Relationships</a:t>
            </a:r>
          </a:p>
        </p:txBody>
      </p:sp>
      <p:sp>
        <p:nvSpPr>
          <p:cNvPr id="30724" name="Line 4">
            <a:extLst>
              <a:ext uri="{FF2B5EF4-FFF2-40B4-BE49-F238E27FC236}">
                <a16:creationId xmlns:a16="http://schemas.microsoft.com/office/drawing/2014/main" id="{99A8B256-9D36-D748-6E68-CCE6622BD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7244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5" name="Oval 5">
            <a:extLst>
              <a:ext uri="{FF2B5EF4-FFF2-40B4-BE49-F238E27FC236}">
                <a16:creationId xmlns:a16="http://schemas.microsoft.com/office/drawing/2014/main" id="{2178A0D6-B1A8-C5CE-D9AF-089BC181C62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743200" y="5791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6" name="Oval 6">
            <a:extLst>
              <a:ext uri="{FF2B5EF4-FFF2-40B4-BE49-F238E27FC236}">
                <a16:creationId xmlns:a16="http://schemas.microsoft.com/office/drawing/2014/main" id="{5318E54F-934F-6084-285D-E14A5F91DB4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371600" y="4953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7" name="Oval 7">
            <a:extLst>
              <a:ext uri="{FF2B5EF4-FFF2-40B4-BE49-F238E27FC236}">
                <a16:creationId xmlns:a16="http://schemas.microsoft.com/office/drawing/2014/main" id="{D0E7D5F0-0525-BC6B-0652-B44444F4E917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124200" y="5791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8" name="Oval 8">
            <a:extLst>
              <a:ext uri="{FF2B5EF4-FFF2-40B4-BE49-F238E27FC236}">
                <a16:creationId xmlns:a16="http://schemas.microsoft.com/office/drawing/2014/main" id="{1980DF60-46FD-2EAC-F9A1-D5D3E42FE49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752600" y="4800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9" name="Oval 9">
            <a:extLst>
              <a:ext uri="{FF2B5EF4-FFF2-40B4-BE49-F238E27FC236}">
                <a16:creationId xmlns:a16="http://schemas.microsoft.com/office/drawing/2014/main" id="{BA2CFB0B-D5E3-A8D3-1C4B-516D850AC7A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14600" y="5486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0" name="Oval 10">
            <a:extLst>
              <a:ext uri="{FF2B5EF4-FFF2-40B4-BE49-F238E27FC236}">
                <a16:creationId xmlns:a16="http://schemas.microsoft.com/office/drawing/2014/main" id="{A7B7E866-C29E-2C92-4983-C282FF464F5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819400" y="5638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1" name="Oval 11">
            <a:extLst>
              <a:ext uri="{FF2B5EF4-FFF2-40B4-BE49-F238E27FC236}">
                <a16:creationId xmlns:a16="http://schemas.microsoft.com/office/drawing/2014/main" id="{5D857029-A060-2626-B6B2-46B25789CE17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133600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2" name="Oval 12">
            <a:extLst>
              <a:ext uri="{FF2B5EF4-FFF2-40B4-BE49-F238E27FC236}">
                <a16:creationId xmlns:a16="http://schemas.microsoft.com/office/drawing/2014/main" id="{20A30393-A0D5-7906-A9BF-595CDDAF013D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295400" y="4724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3" name="Oval 13">
            <a:extLst>
              <a:ext uri="{FF2B5EF4-FFF2-40B4-BE49-F238E27FC236}">
                <a16:creationId xmlns:a16="http://schemas.microsoft.com/office/drawing/2014/main" id="{5847CDD1-1072-E16E-CC7B-4D10DF80770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600200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4" name="Oval 14">
            <a:extLst>
              <a:ext uri="{FF2B5EF4-FFF2-40B4-BE49-F238E27FC236}">
                <a16:creationId xmlns:a16="http://schemas.microsoft.com/office/drawing/2014/main" id="{FE2EA1B7-6271-3333-E62F-0F4226CC36A0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905000" y="5181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30735" name="Oval 15">
            <a:extLst>
              <a:ext uri="{FF2B5EF4-FFF2-40B4-BE49-F238E27FC236}">
                <a16:creationId xmlns:a16="http://schemas.microsoft.com/office/drawing/2014/main" id="{152E78EC-F534-E572-1C5E-573C8FCC2BC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438400" y="5715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6" name="Oval 16">
            <a:extLst>
              <a:ext uri="{FF2B5EF4-FFF2-40B4-BE49-F238E27FC236}">
                <a16:creationId xmlns:a16="http://schemas.microsoft.com/office/drawing/2014/main" id="{B6E651E3-248C-EDC8-A6C4-7621A57A246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362200" y="5257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7" name="Oval 17">
            <a:extLst>
              <a:ext uri="{FF2B5EF4-FFF2-40B4-BE49-F238E27FC236}">
                <a16:creationId xmlns:a16="http://schemas.microsoft.com/office/drawing/2014/main" id="{EC277EC0-4DB0-169D-72DA-C38ACCC90DA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133600" y="5410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8" name="Text Box 18">
            <a:extLst>
              <a:ext uri="{FF2B5EF4-FFF2-40B4-BE49-F238E27FC236}">
                <a16:creationId xmlns:a16="http://schemas.microsoft.com/office/drawing/2014/main" id="{A3069A36-EDC5-7A7F-4544-1C797C9F6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656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Y</a:t>
            </a:r>
          </a:p>
        </p:txBody>
      </p:sp>
      <p:sp>
        <p:nvSpPr>
          <p:cNvPr id="30739" name="Line 19">
            <a:extLst>
              <a:ext uri="{FF2B5EF4-FFF2-40B4-BE49-F238E27FC236}">
                <a16:creationId xmlns:a16="http://schemas.microsoft.com/office/drawing/2014/main" id="{ECF36A3F-69C7-00AE-E209-456A9E73B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6172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40" name="Text Box 20">
            <a:extLst>
              <a:ext uri="{FF2B5EF4-FFF2-40B4-BE49-F238E27FC236}">
                <a16:creationId xmlns:a16="http://schemas.microsoft.com/office/drawing/2014/main" id="{4BB42C1C-398F-FCEB-49CE-56E3721DB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8" y="6065838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X</a:t>
            </a:r>
          </a:p>
        </p:txBody>
      </p:sp>
      <p:sp>
        <p:nvSpPr>
          <p:cNvPr id="30741" name="Line 21">
            <a:extLst>
              <a:ext uri="{FF2B5EF4-FFF2-40B4-BE49-F238E27FC236}">
                <a16:creationId xmlns:a16="http://schemas.microsoft.com/office/drawing/2014/main" id="{C621E877-C14F-3D4A-A7FD-5A38841F9B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24384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42" name="Oval 22">
            <a:extLst>
              <a:ext uri="{FF2B5EF4-FFF2-40B4-BE49-F238E27FC236}">
                <a16:creationId xmlns:a16="http://schemas.microsoft.com/office/drawing/2014/main" id="{F3094BFA-2095-D9D3-F061-171279925BD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219200" y="3657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43" name="Oval 23">
            <a:extLst>
              <a:ext uri="{FF2B5EF4-FFF2-40B4-BE49-F238E27FC236}">
                <a16:creationId xmlns:a16="http://schemas.microsoft.com/office/drawing/2014/main" id="{A9BF898D-E815-4AE7-2354-0C76A2C572A9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447800" y="3352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44" name="Oval 24">
            <a:extLst>
              <a:ext uri="{FF2B5EF4-FFF2-40B4-BE49-F238E27FC236}">
                <a16:creationId xmlns:a16="http://schemas.microsoft.com/office/drawing/2014/main" id="{865FE9D7-74AF-6F0C-D8A8-43F3BF89D57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124200" y="2286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45" name="Oval 25">
            <a:extLst>
              <a:ext uri="{FF2B5EF4-FFF2-40B4-BE49-F238E27FC236}">
                <a16:creationId xmlns:a16="http://schemas.microsoft.com/office/drawing/2014/main" id="{6CADAA91-4486-3DC0-141E-7A701C1A461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276600" y="2667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46" name="Oval 26">
            <a:extLst>
              <a:ext uri="{FF2B5EF4-FFF2-40B4-BE49-F238E27FC236}">
                <a16:creationId xmlns:a16="http://schemas.microsoft.com/office/drawing/2014/main" id="{CE04F0E0-B59D-23E4-CD57-D469EC4D396D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676400" y="3505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47" name="Oval 27">
            <a:extLst>
              <a:ext uri="{FF2B5EF4-FFF2-40B4-BE49-F238E27FC236}">
                <a16:creationId xmlns:a16="http://schemas.microsoft.com/office/drawing/2014/main" id="{7149344F-5C7A-35B1-2B77-061D1580CAE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429000" y="2438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48" name="Oval 28">
            <a:extLst>
              <a:ext uri="{FF2B5EF4-FFF2-40B4-BE49-F238E27FC236}">
                <a16:creationId xmlns:a16="http://schemas.microsoft.com/office/drawing/2014/main" id="{699B2292-4682-2BC6-AC8D-3A0343B40C3D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90800" y="2971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49" name="Oval 29">
            <a:extLst>
              <a:ext uri="{FF2B5EF4-FFF2-40B4-BE49-F238E27FC236}">
                <a16:creationId xmlns:a16="http://schemas.microsoft.com/office/drawing/2014/main" id="{629CDBAE-F243-1404-8291-B2686F9B0C0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90800" y="2667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0" name="Oval 30">
            <a:extLst>
              <a:ext uri="{FF2B5EF4-FFF2-40B4-BE49-F238E27FC236}">
                <a16:creationId xmlns:a16="http://schemas.microsoft.com/office/drawing/2014/main" id="{30048AE7-0726-4E4D-A5E5-992F79F2BEF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971800" y="2667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1" name="Oval 31">
            <a:extLst>
              <a:ext uri="{FF2B5EF4-FFF2-40B4-BE49-F238E27FC236}">
                <a16:creationId xmlns:a16="http://schemas.microsoft.com/office/drawing/2014/main" id="{E0EF434C-E872-9B95-DDA3-601DC1FC28B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286000" y="2819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2" name="Oval 32">
            <a:extLst>
              <a:ext uri="{FF2B5EF4-FFF2-40B4-BE49-F238E27FC236}">
                <a16:creationId xmlns:a16="http://schemas.microsoft.com/office/drawing/2014/main" id="{169C3662-C3AC-ED45-631F-B76047B2D509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676400" y="3200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3" name="Oval 33">
            <a:extLst>
              <a:ext uri="{FF2B5EF4-FFF2-40B4-BE49-F238E27FC236}">
                <a16:creationId xmlns:a16="http://schemas.microsoft.com/office/drawing/2014/main" id="{B748F2D6-E026-8A3E-4732-4FA92380A36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905000" y="308292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30754" name="Oval 34">
            <a:extLst>
              <a:ext uri="{FF2B5EF4-FFF2-40B4-BE49-F238E27FC236}">
                <a16:creationId xmlns:a16="http://schemas.microsoft.com/office/drawing/2014/main" id="{92279272-FEBE-2BEE-0356-FEB260AC4A7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819400" y="2971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5" name="Oval 35">
            <a:extLst>
              <a:ext uri="{FF2B5EF4-FFF2-40B4-BE49-F238E27FC236}">
                <a16:creationId xmlns:a16="http://schemas.microsoft.com/office/drawing/2014/main" id="{C39424FE-F120-1B5D-53B7-04E55865274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286000" y="3048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6" name="Oval 36">
            <a:extLst>
              <a:ext uri="{FF2B5EF4-FFF2-40B4-BE49-F238E27FC236}">
                <a16:creationId xmlns:a16="http://schemas.microsoft.com/office/drawing/2014/main" id="{F6FB47D1-CFBC-D21F-93F3-2C5DE63D63C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057400" y="3352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7" name="Text Box 37">
            <a:extLst>
              <a:ext uri="{FF2B5EF4-FFF2-40B4-BE49-F238E27FC236}">
                <a16:creationId xmlns:a16="http://schemas.microsoft.com/office/drawing/2014/main" id="{AF9C4BB6-71CF-9948-AD05-E13DE79E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558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Y</a:t>
            </a:r>
          </a:p>
        </p:txBody>
      </p:sp>
      <p:sp>
        <p:nvSpPr>
          <p:cNvPr id="30758" name="Line 38">
            <a:extLst>
              <a:ext uri="{FF2B5EF4-FFF2-40B4-BE49-F238E27FC236}">
                <a16:creationId xmlns:a16="http://schemas.microsoft.com/office/drawing/2014/main" id="{08CE1B7C-3930-91B6-1A9F-1E1FAE930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9624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9" name="Text Box 39">
            <a:extLst>
              <a:ext uri="{FF2B5EF4-FFF2-40B4-BE49-F238E27FC236}">
                <a16:creationId xmlns:a16="http://schemas.microsoft.com/office/drawing/2014/main" id="{46FEB96F-7028-AC0F-A17A-39FC3E008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8" y="3856038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X</a:t>
            </a:r>
          </a:p>
        </p:txBody>
      </p:sp>
      <p:sp>
        <p:nvSpPr>
          <p:cNvPr id="30760" name="Line 40">
            <a:extLst>
              <a:ext uri="{FF2B5EF4-FFF2-40B4-BE49-F238E27FC236}">
                <a16:creationId xmlns:a16="http://schemas.microsoft.com/office/drawing/2014/main" id="{80AD41EF-02D6-23D3-EAFA-7A7065AD9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7244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1" name="Oval 41">
            <a:extLst>
              <a:ext uri="{FF2B5EF4-FFF2-40B4-BE49-F238E27FC236}">
                <a16:creationId xmlns:a16="http://schemas.microsoft.com/office/drawing/2014/main" id="{EEFFC2A0-059B-4496-05DD-1F02323CA56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096000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2" name="Oval 42">
            <a:extLst>
              <a:ext uri="{FF2B5EF4-FFF2-40B4-BE49-F238E27FC236}">
                <a16:creationId xmlns:a16="http://schemas.microsoft.com/office/drawing/2014/main" id="{A00B0C6B-9B3E-4C2C-F798-656966EBB57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096000" y="4648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3" name="Oval 43">
            <a:extLst>
              <a:ext uri="{FF2B5EF4-FFF2-40B4-BE49-F238E27FC236}">
                <a16:creationId xmlns:a16="http://schemas.microsoft.com/office/drawing/2014/main" id="{E289EDFC-FA8D-AE34-B10D-E9C996DA42D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553200" y="5257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4" name="Oval 44">
            <a:extLst>
              <a:ext uri="{FF2B5EF4-FFF2-40B4-BE49-F238E27FC236}">
                <a16:creationId xmlns:a16="http://schemas.microsoft.com/office/drawing/2014/main" id="{773610E3-6F44-6747-54C4-C5F1A3F6A34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391400" y="5867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5" name="Oval 45">
            <a:extLst>
              <a:ext uri="{FF2B5EF4-FFF2-40B4-BE49-F238E27FC236}">
                <a16:creationId xmlns:a16="http://schemas.microsoft.com/office/drawing/2014/main" id="{6FD6EB29-0C58-FCBD-E476-F9559285BD29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248400" y="5334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6" name="Oval 46">
            <a:extLst>
              <a:ext uri="{FF2B5EF4-FFF2-40B4-BE49-F238E27FC236}">
                <a16:creationId xmlns:a16="http://schemas.microsoft.com/office/drawing/2014/main" id="{CB22AEC4-CEFA-6B23-7E9A-13208261FA9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934200" y="4724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7" name="Oval 47">
            <a:extLst>
              <a:ext uri="{FF2B5EF4-FFF2-40B4-BE49-F238E27FC236}">
                <a16:creationId xmlns:a16="http://schemas.microsoft.com/office/drawing/2014/main" id="{ACC28C65-62C3-8E71-FA98-9FC2C63BB51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315200" y="5410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8" name="Oval 48">
            <a:extLst>
              <a:ext uri="{FF2B5EF4-FFF2-40B4-BE49-F238E27FC236}">
                <a16:creationId xmlns:a16="http://schemas.microsoft.com/office/drawing/2014/main" id="{6D191387-919A-35D9-F118-39C6B7DBCC1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239000" y="5029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9" name="Oval 49">
            <a:extLst>
              <a:ext uri="{FF2B5EF4-FFF2-40B4-BE49-F238E27FC236}">
                <a16:creationId xmlns:a16="http://schemas.microsoft.com/office/drawing/2014/main" id="{D52737D6-8D14-DF4E-8B50-B7048D60761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934200" y="5029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70" name="Oval 50">
            <a:extLst>
              <a:ext uri="{FF2B5EF4-FFF2-40B4-BE49-F238E27FC236}">
                <a16:creationId xmlns:a16="http://schemas.microsoft.com/office/drawing/2014/main" id="{20F19C16-8495-1D5F-B223-41EC3B52687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553200" y="4800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30771" name="Oval 51">
            <a:extLst>
              <a:ext uri="{FF2B5EF4-FFF2-40B4-BE49-F238E27FC236}">
                <a16:creationId xmlns:a16="http://schemas.microsoft.com/office/drawing/2014/main" id="{A2850187-6F0C-36B3-DE44-C1B37D03C09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543800" y="5029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72" name="Oval 52">
            <a:extLst>
              <a:ext uri="{FF2B5EF4-FFF2-40B4-BE49-F238E27FC236}">
                <a16:creationId xmlns:a16="http://schemas.microsoft.com/office/drawing/2014/main" id="{A330E4AF-A69B-F0AB-75B0-1C49F0B02E2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010400" y="5334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73" name="Oval 53">
            <a:extLst>
              <a:ext uri="{FF2B5EF4-FFF2-40B4-BE49-F238E27FC236}">
                <a16:creationId xmlns:a16="http://schemas.microsoft.com/office/drawing/2014/main" id="{9517EF8E-F018-DBF4-A812-40065EADF77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781800" y="5715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74" name="Text Box 54">
            <a:extLst>
              <a:ext uri="{FF2B5EF4-FFF2-40B4-BE49-F238E27FC236}">
                <a16:creationId xmlns:a16="http://schemas.microsoft.com/office/drawing/2014/main" id="{25E002D9-4722-A4EA-EFB0-A4662596B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656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Y</a:t>
            </a:r>
          </a:p>
        </p:txBody>
      </p:sp>
      <p:sp>
        <p:nvSpPr>
          <p:cNvPr id="30775" name="Line 55">
            <a:extLst>
              <a:ext uri="{FF2B5EF4-FFF2-40B4-BE49-F238E27FC236}">
                <a16:creationId xmlns:a16="http://schemas.microsoft.com/office/drawing/2014/main" id="{896665ED-6AEC-D556-8301-489B11D43B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6172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76" name="Line 56">
            <a:extLst>
              <a:ext uri="{FF2B5EF4-FFF2-40B4-BE49-F238E27FC236}">
                <a16:creationId xmlns:a16="http://schemas.microsoft.com/office/drawing/2014/main" id="{0B187522-B633-F062-0FC1-5B9C08504A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24384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77" name="Oval 57">
            <a:extLst>
              <a:ext uri="{FF2B5EF4-FFF2-40B4-BE49-F238E27FC236}">
                <a16:creationId xmlns:a16="http://schemas.microsoft.com/office/drawing/2014/main" id="{622459A3-25DC-3C16-5BAA-3C9B1B403A3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086600" y="2514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78" name="Oval 58">
            <a:extLst>
              <a:ext uri="{FF2B5EF4-FFF2-40B4-BE49-F238E27FC236}">
                <a16:creationId xmlns:a16="http://schemas.microsoft.com/office/drawing/2014/main" id="{99C246A0-97DF-F8E9-51C8-4C05FE1BA38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248400" y="3352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79" name="Oval 59">
            <a:extLst>
              <a:ext uri="{FF2B5EF4-FFF2-40B4-BE49-F238E27FC236}">
                <a16:creationId xmlns:a16="http://schemas.microsoft.com/office/drawing/2014/main" id="{0D5A4168-C88B-EDF1-2C21-BAE622C8E652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315200" y="3276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80" name="Oval 60">
            <a:extLst>
              <a:ext uri="{FF2B5EF4-FFF2-40B4-BE49-F238E27FC236}">
                <a16:creationId xmlns:a16="http://schemas.microsoft.com/office/drawing/2014/main" id="{9416B058-EC46-0E3B-9B29-5DE08E6B68B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696200" y="2590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81" name="Oval 61">
            <a:extLst>
              <a:ext uri="{FF2B5EF4-FFF2-40B4-BE49-F238E27FC236}">
                <a16:creationId xmlns:a16="http://schemas.microsoft.com/office/drawing/2014/main" id="{7ECCA36F-41E3-EA7A-2121-7D6F769B68F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553200" y="2590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82" name="Oval 62">
            <a:extLst>
              <a:ext uri="{FF2B5EF4-FFF2-40B4-BE49-F238E27FC236}">
                <a16:creationId xmlns:a16="http://schemas.microsoft.com/office/drawing/2014/main" id="{54D3E8A9-1689-34ED-4F5B-D162C548B64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629400" y="3657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83" name="Oval 63">
            <a:extLst>
              <a:ext uri="{FF2B5EF4-FFF2-40B4-BE49-F238E27FC236}">
                <a16:creationId xmlns:a16="http://schemas.microsoft.com/office/drawing/2014/main" id="{180B215E-0C21-B1C0-0C80-95EEAAE02689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858000" y="3276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84" name="Oval 64">
            <a:extLst>
              <a:ext uri="{FF2B5EF4-FFF2-40B4-BE49-F238E27FC236}">
                <a16:creationId xmlns:a16="http://schemas.microsoft.com/office/drawing/2014/main" id="{8741F2BF-13C7-1F9D-8629-31DD52EF0C9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391400" y="2667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85" name="Oval 65">
            <a:extLst>
              <a:ext uri="{FF2B5EF4-FFF2-40B4-BE49-F238E27FC236}">
                <a16:creationId xmlns:a16="http://schemas.microsoft.com/office/drawing/2014/main" id="{C019DE2B-F97F-DF5C-59BC-20AAF4E4AD2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858000" y="2286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86" name="Oval 66">
            <a:extLst>
              <a:ext uri="{FF2B5EF4-FFF2-40B4-BE49-F238E27FC236}">
                <a16:creationId xmlns:a16="http://schemas.microsoft.com/office/drawing/2014/main" id="{E5E40A57-694A-4119-9ACC-D16A89E9C73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248400" y="3048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87" name="Oval 67">
            <a:extLst>
              <a:ext uri="{FF2B5EF4-FFF2-40B4-BE49-F238E27FC236}">
                <a16:creationId xmlns:a16="http://schemas.microsoft.com/office/drawing/2014/main" id="{071C6C72-20AC-1779-7AC4-29CA3D7F46D9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172200" y="2590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88" name="Oval 68">
            <a:extLst>
              <a:ext uri="{FF2B5EF4-FFF2-40B4-BE49-F238E27FC236}">
                <a16:creationId xmlns:a16="http://schemas.microsoft.com/office/drawing/2014/main" id="{4B0C82CF-5418-3D52-26AE-41086794C377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705600" y="2971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30789" name="Oval 69">
            <a:extLst>
              <a:ext uri="{FF2B5EF4-FFF2-40B4-BE49-F238E27FC236}">
                <a16:creationId xmlns:a16="http://schemas.microsoft.com/office/drawing/2014/main" id="{DC2BD250-4B49-474B-D832-78113AAFCBA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620000" y="2971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90" name="Oval 70">
            <a:extLst>
              <a:ext uri="{FF2B5EF4-FFF2-40B4-BE49-F238E27FC236}">
                <a16:creationId xmlns:a16="http://schemas.microsoft.com/office/drawing/2014/main" id="{116FD8E0-5C24-768E-CCF5-EA822E53C28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086600" y="2895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91" name="Oval 71">
            <a:extLst>
              <a:ext uri="{FF2B5EF4-FFF2-40B4-BE49-F238E27FC236}">
                <a16:creationId xmlns:a16="http://schemas.microsoft.com/office/drawing/2014/main" id="{420BCD92-7FCF-5868-A089-EB79D23F5520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315200" y="2133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92" name="Text Box 72">
            <a:extLst>
              <a:ext uri="{FF2B5EF4-FFF2-40B4-BE49-F238E27FC236}">
                <a16:creationId xmlns:a16="http://schemas.microsoft.com/office/drawing/2014/main" id="{2192810B-F077-FD0B-DB00-AB34E05F6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2558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Y</a:t>
            </a:r>
          </a:p>
        </p:txBody>
      </p:sp>
      <p:sp>
        <p:nvSpPr>
          <p:cNvPr id="30793" name="Line 73">
            <a:extLst>
              <a:ext uri="{FF2B5EF4-FFF2-40B4-BE49-F238E27FC236}">
                <a16:creationId xmlns:a16="http://schemas.microsoft.com/office/drawing/2014/main" id="{1099665D-811F-22E9-4706-3201F4DF4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9624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94" name="Oval 74">
            <a:extLst>
              <a:ext uri="{FF2B5EF4-FFF2-40B4-BE49-F238E27FC236}">
                <a16:creationId xmlns:a16="http://schemas.microsoft.com/office/drawing/2014/main" id="{10EACF8A-4B4E-3FE8-66BB-60DE578B1C2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8153400" y="2362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95" name="Text Box 75">
            <a:extLst>
              <a:ext uri="{FF2B5EF4-FFF2-40B4-BE49-F238E27FC236}">
                <a16:creationId xmlns:a16="http://schemas.microsoft.com/office/drawing/2014/main" id="{92D7120F-943A-A66A-4DA1-8E40A617E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5788" y="3856038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X</a:t>
            </a:r>
          </a:p>
        </p:txBody>
      </p:sp>
      <p:sp>
        <p:nvSpPr>
          <p:cNvPr id="30796" name="Text Box 76">
            <a:extLst>
              <a:ext uri="{FF2B5EF4-FFF2-40B4-BE49-F238E27FC236}">
                <a16:creationId xmlns:a16="http://schemas.microsoft.com/office/drawing/2014/main" id="{A207F8A5-B402-8E2D-3A3E-C4AD4305C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0658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X</a:t>
            </a:r>
          </a:p>
        </p:txBody>
      </p:sp>
      <p:sp>
        <p:nvSpPr>
          <p:cNvPr id="30797" name="Text Box 77">
            <a:extLst>
              <a:ext uri="{FF2B5EF4-FFF2-40B4-BE49-F238E27FC236}">
                <a16:creationId xmlns:a16="http://schemas.microsoft.com/office/drawing/2014/main" id="{BA4A20F6-5418-9EBB-298E-4AA101088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752600"/>
            <a:ext cx="2667000" cy="396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/>
              <a:t>Strong relationships</a:t>
            </a:r>
          </a:p>
        </p:txBody>
      </p:sp>
      <p:sp>
        <p:nvSpPr>
          <p:cNvPr id="30798" name="Text Box 78">
            <a:extLst>
              <a:ext uri="{FF2B5EF4-FFF2-40B4-BE49-F238E27FC236}">
                <a16:creationId xmlns:a16="http://schemas.microsoft.com/office/drawing/2014/main" id="{ABF87BFD-6E53-780D-B95A-9291E2726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752600"/>
            <a:ext cx="2590800" cy="396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/>
              <a:t>Weak relationships</a:t>
            </a:r>
          </a:p>
        </p:txBody>
      </p:sp>
      <p:sp>
        <p:nvSpPr>
          <p:cNvPr id="30799" name="Line 79">
            <a:extLst>
              <a:ext uri="{FF2B5EF4-FFF2-40B4-BE49-F238E27FC236}">
                <a16:creationId xmlns:a16="http://schemas.microsoft.com/office/drawing/2014/main" id="{15825EB5-37A6-35A5-2943-A0BFB7E91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1676400"/>
            <a:ext cx="0" cy="4495800"/>
          </a:xfrm>
          <a:prstGeom prst="line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00" name="Oval 80">
            <a:extLst>
              <a:ext uri="{FF2B5EF4-FFF2-40B4-BE49-F238E27FC236}">
                <a16:creationId xmlns:a16="http://schemas.microsoft.com/office/drawing/2014/main" id="{B33F07ED-1A73-2EFF-87E4-41D896A8987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8001000" y="2819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801" name="Oval 81">
            <a:extLst>
              <a:ext uri="{FF2B5EF4-FFF2-40B4-BE49-F238E27FC236}">
                <a16:creationId xmlns:a16="http://schemas.microsoft.com/office/drawing/2014/main" id="{80EDA717-D9A5-31FA-1C9A-3A77AD31D347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848600" y="2209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802" name="Oval 82">
            <a:extLst>
              <a:ext uri="{FF2B5EF4-FFF2-40B4-BE49-F238E27FC236}">
                <a16:creationId xmlns:a16="http://schemas.microsoft.com/office/drawing/2014/main" id="{2620AE61-4919-CD98-C409-0ACB063891D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620000" y="5562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803" name="Oval 83">
            <a:extLst>
              <a:ext uri="{FF2B5EF4-FFF2-40B4-BE49-F238E27FC236}">
                <a16:creationId xmlns:a16="http://schemas.microsoft.com/office/drawing/2014/main" id="{27C2CFBC-FE95-03E3-B5B9-40449197030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8001000" y="5257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804" name="Oval 84">
            <a:extLst>
              <a:ext uri="{FF2B5EF4-FFF2-40B4-BE49-F238E27FC236}">
                <a16:creationId xmlns:a16="http://schemas.microsoft.com/office/drawing/2014/main" id="{3EEE554F-122C-783F-7B85-B2572B4E4080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848600" y="4953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805" name="Oval 85">
            <a:extLst>
              <a:ext uri="{FF2B5EF4-FFF2-40B4-BE49-F238E27FC236}">
                <a16:creationId xmlns:a16="http://schemas.microsoft.com/office/drawing/2014/main" id="{75FB6467-BEE8-C625-D1E1-EC8D18CFE4C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8001000" y="5638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806" name="Oval 86">
            <a:extLst>
              <a:ext uri="{FF2B5EF4-FFF2-40B4-BE49-F238E27FC236}">
                <a16:creationId xmlns:a16="http://schemas.microsoft.com/office/drawing/2014/main" id="{A08183FB-8DE3-347C-DC8C-E014DB25F23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7315200" y="4724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807" name="Oval 87">
            <a:extLst>
              <a:ext uri="{FF2B5EF4-FFF2-40B4-BE49-F238E27FC236}">
                <a16:creationId xmlns:a16="http://schemas.microsoft.com/office/drawing/2014/main" id="{31D15E4C-7B19-326B-E8BB-126236745C8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6629400" y="4343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808" name="Line 88">
            <a:extLst>
              <a:ext uri="{FF2B5EF4-FFF2-40B4-BE49-F238E27FC236}">
                <a16:creationId xmlns:a16="http://schemas.microsoft.com/office/drawing/2014/main" id="{D6511B97-7509-3CD8-753A-2790071C34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2209800"/>
            <a:ext cx="20574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09" name="Line 89">
            <a:extLst>
              <a:ext uri="{FF2B5EF4-FFF2-40B4-BE49-F238E27FC236}">
                <a16:creationId xmlns:a16="http://schemas.microsoft.com/office/drawing/2014/main" id="{D87698CB-1F3A-CE5F-0465-EB21646D6C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2667000"/>
            <a:ext cx="20574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10" name="Line 90">
            <a:extLst>
              <a:ext uri="{FF2B5EF4-FFF2-40B4-BE49-F238E27FC236}">
                <a16:creationId xmlns:a16="http://schemas.microsoft.com/office/drawing/2014/main" id="{0B6AA4CD-0618-1C8B-F829-BB479012FD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2057400"/>
            <a:ext cx="114300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11" name="Line 91">
            <a:extLst>
              <a:ext uri="{FF2B5EF4-FFF2-40B4-BE49-F238E27FC236}">
                <a16:creationId xmlns:a16="http://schemas.microsoft.com/office/drawing/2014/main" id="{79C8A36A-7ED9-C65F-3D54-8FDEEA44F0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2895600"/>
            <a:ext cx="167640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12" name="Line 92">
            <a:extLst>
              <a:ext uri="{FF2B5EF4-FFF2-40B4-BE49-F238E27FC236}">
                <a16:creationId xmlns:a16="http://schemas.microsoft.com/office/drawing/2014/main" id="{76AAEB35-650B-720B-EBB7-8DB190B26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572000"/>
            <a:ext cx="190500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13" name="Line 93">
            <a:extLst>
              <a:ext uri="{FF2B5EF4-FFF2-40B4-BE49-F238E27FC236}">
                <a16:creationId xmlns:a16="http://schemas.microsoft.com/office/drawing/2014/main" id="{9A115921-6AF3-007A-5C9E-454933AF08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953000"/>
            <a:ext cx="167640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14" name="Line 94">
            <a:extLst>
              <a:ext uri="{FF2B5EF4-FFF2-40B4-BE49-F238E27FC236}">
                <a16:creationId xmlns:a16="http://schemas.microsoft.com/office/drawing/2014/main" id="{B9F70631-5E07-759F-2E79-DD33905F5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267200"/>
            <a:ext cx="152400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15" name="Line 95">
            <a:extLst>
              <a:ext uri="{FF2B5EF4-FFF2-40B4-BE49-F238E27FC236}">
                <a16:creationId xmlns:a16="http://schemas.microsoft.com/office/drawing/2014/main" id="{F4417764-C5E9-725F-719A-6FAAF76E0C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54864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16" name="Line 96">
            <a:extLst>
              <a:ext uri="{FF2B5EF4-FFF2-40B4-BE49-F238E27FC236}">
                <a16:creationId xmlns:a16="http://schemas.microsoft.com/office/drawing/2014/main" id="{C87C2986-33E9-1AA1-1A24-1DBC0FBB1B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2514600"/>
            <a:ext cx="2057400" cy="12954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17" name="Line 97">
            <a:extLst>
              <a:ext uri="{FF2B5EF4-FFF2-40B4-BE49-F238E27FC236}">
                <a16:creationId xmlns:a16="http://schemas.microsoft.com/office/drawing/2014/main" id="{F3CA12CA-A8F9-99BA-8CA5-6E577B95F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724400"/>
            <a:ext cx="1905000" cy="13716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18" name="Line 98">
            <a:extLst>
              <a:ext uri="{FF2B5EF4-FFF2-40B4-BE49-F238E27FC236}">
                <a16:creationId xmlns:a16="http://schemas.microsoft.com/office/drawing/2014/main" id="{EA1545F8-09C1-4477-42DC-DAEE63A41B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2209800"/>
            <a:ext cx="2057400" cy="12954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0819" name="Line 99">
            <a:extLst>
              <a:ext uri="{FF2B5EF4-FFF2-40B4-BE49-F238E27FC236}">
                <a16:creationId xmlns:a16="http://schemas.microsoft.com/office/drawing/2014/main" id="{10CB8E37-F08D-09A0-2979-0747527FC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724400"/>
            <a:ext cx="1752600" cy="12954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C9243C7-6947-A397-75C3-6591D3D286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D37E8F5-C8DA-E643-B925-E45B32AE61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50FFA4C8-EE99-4565-BBC5-45FFD1325A93}" type="slidenum">
              <a:rPr lang="en-US" altLang="en-US"/>
              <a:pPr/>
              <a:t>8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3A2CEA18-78FB-6872-E60B-280F10DA3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Relationships</a:t>
            </a:r>
          </a:p>
        </p:txBody>
      </p:sp>
      <p:sp>
        <p:nvSpPr>
          <p:cNvPr id="31748" name="Line 4">
            <a:extLst>
              <a:ext uri="{FF2B5EF4-FFF2-40B4-BE49-F238E27FC236}">
                <a16:creationId xmlns:a16="http://schemas.microsoft.com/office/drawing/2014/main" id="{01C7045A-320F-7EA0-AB65-DE25A65790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6482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49" name="Oval 5">
            <a:extLst>
              <a:ext uri="{FF2B5EF4-FFF2-40B4-BE49-F238E27FC236}">
                <a16:creationId xmlns:a16="http://schemas.microsoft.com/office/drawing/2014/main" id="{B7F3CD70-AC02-5BAB-290B-8D17ACF423D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5486400" y="5181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0" name="Oval 6">
            <a:extLst>
              <a:ext uri="{FF2B5EF4-FFF2-40B4-BE49-F238E27FC236}">
                <a16:creationId xmlns:a16="http://schemas.microsoft.com/office/drawing/2014/main" id="{509683EB-55F8-9216-D42C-7524063D3E3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886200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1" name="Oval 7">
            <a:extLst>
              <a:ext uri="{FF2B5EF4-FFF2-40B4-BE49-F238E27FC236}">
                <a16:creationId xmlns:a16="http://schemas.microsoft.com/office/drawing/2014/main" id="{29AF4A6A-3808-6184-2265-E0D347C6A0A0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5410200" y="4953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2" name="Oval 8">
            <a:extLst>
              <a:ext uri="{FF2B5EF4-FFF2-40B4-BE49-F238E27FC236}">
                <a16:creationId xmlns:a16="http://schemas.microsoft.com/office/drawing/2014/main" id="{91258CBD-FBA4-58F2-CA53-026FD1C674A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114800" y="4876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3" name="Oval 9">
            <a:extLst>
              <a:ext uri="{FF2B5EF4-FFF2-40B4-BE49-F238E27FC236}">
                <a16:creationId xmlns:a16="http://schemas.microsoft.com/office/drawing/2014/main" id="{B40D5574-E9CF-F61F-811C-2E7D516BEF5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5029200" y="4876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4" name="Oval 10">
            <a:extLst>
              <a:ext uri="{FF2B5EF4-FFF2-40B4-BE49-F238E27FC236}">
                <a16:creationId xmlns:a16="http://schemas.microsoft.com/office/drawing/2014/main" id="{80B40C59-2152-899E-EB96-48884894279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5181600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5" name="Oval 11">
            <a:extLst>
              <a:ext uri="{FF2B5EF4-FFF2-40B4-BE49-F238E27FC236}">
                <a16:creationId xmlns:a16="http://schemas.microsoft.com/office/drawing/2014/main" id="{1DD930A1-18AB-4EC1-38A0-A6A7E3214F4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419600" y="5029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6" name="Oval 12">
            <a:extLst>
              <a:ext uri="{FF2B5EF4-FFF2-40B4-BE49-F238E27FC236}">
                <a16:creationId xmlns:a16="http://schemas.microsoft.com/office/drawing/2014/main" id="{A734C44E-9A0D-75E5-E3F0-0E4C03AADA0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505200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7" name="Oval 13">
            <a:extLst>
              <a:ext uri="{FF2B5EF4-FFF2-40B4-BE49-F238E27FC236}">
                <a16:creationId xmlns:a16="http://schemas.microsoft.com/office/drawing/2014/main" id="{D63952DB-58A1-5417-0886-E131EC433BCD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733800" y="4876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8" name="Oval 14">
            <a:extLst>
              <a:ext uri="{FF2B5EF4-FFF2-40B4-BE49-F238E27FC236}">
                <a16:creationId xmlns:a16="http://schemas.microsoft.com/office/drawing/2014/main" id="{292CEA3F-2533-4DC4-9709-5334C6F7007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191000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31759" name="Oval 15">
            <a:extLst>
              <a:ext uri="{FF2B5EF4-FFF2-40B4-BE49-F238E27FC236}">
                <a16:creationId xmlns:a16="http://schemas.microsoft.com/office/drawing/2014/main" id="{F89792A5-AE59-E351-A9CD-DBC5CC3A9A3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876800" y="5181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60" name="Oval 16">
            <a:extLst>
              <a:ext uri="{FF2B5EF4-FFF2-40B4-BE49-F238E27FC236}">
                <a16:creationId xmlns:a16="http://schemas.microsoft.com/office/drawing/2014/main" id="{A0A3C94B-911C-480B-9EB0-F5F724E4C1E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648200" y="4953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61" name="Oval 17">
            <a:extLst>
              <a:ext uri="{FF2B5EF4-FFF2-40B4-BE49-F238E27FC236}">
                <a16:creationId xmlns:a16="http://schemas.microsoft.com/office/drawing/2014/main" id="{0939C0E6-B83E-04F0-2B08-04C0FBFB9D3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572000" y="5181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62" name="Text Box 18">
            <a:extLst>
              <a:ext uri="{FF2B5EF4-FFF2-40B4-BE49-F238E27FC236}">
                <a16:creationId xmlns:a16="http://schemas.microsoft.com/office/drawing/2014/main" id="{B49E094A-8FC0-714C-46BE-4CE34CB46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3894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Y</a:t>
            </a:r>
          </a:p>
        </p:txBody>
      </p:sp>
      <p:sp>
        <p:nvSpPr>
          <p:cNvPr id="31763" name="Line 19">
            <a:extLst>
              <a:ext uri="{FF2B5EF4-FFF2-40B4-BE49-F238E27FC236}">
                <a16:creationId xmlns:a16="http://schemas.microsoft.com/office/drawing/2014/main" id="{6C45C670-FFF2-75A5-E9B8-E1AFDECDF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64" name="Text Box 20">
            <a:extLst>
              <a:ext uri="{FF2B5EF4-FFF2-40B4-BE49-F238E27FC236}">
                <a16:creationId xmlns:a16="http://schemas.microsoft.com/office/drawing/2014/main" id="{9EFCFE86-32D1-E4F4-DA43-32A2DEC5A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188" y="5989638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X</a:t>
            </a:r>
          </a:p>
        </p:txBody>
      </p:sp>
      <p:sp>
        <p:nvSpPr>
          <p:cNvPr id="31765" name="Line 21">
            <a:extLst>
              <a:ext uri="{FF2B5EF4-FFF2-40B4-BE49-F238E27FC236}">
                <a16:creationId xmlns:a16="http://schemas.microsoft.com/office/drawing/2014/main" id="{EBDD8F2D-2BD2-8C9B-25DA-00C7587DAE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362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66" name="Oval 22">
            <a:extLst>
              <a:ext uri="{FF2B5EF4-FFF2-40B4-BE49-F238E27FC236}">
                <a16:creationId xmlns:a16="http://schemas.microsoft.com/office/drawing/2014/main" id="{90EA67FB-5C7C-9FF8-3F65-B8EE841AF96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876800" y="2133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67" name="Oval 23">
            <a:extLst>
              <a:ext uri="{FF2B5EF4-FFF2-40B4-BE49-F238E27FC236}">
                <a16:creationId xmlns:a16="http://schemas.microsoft.com/office/drawing/2014/main" id="{2ED2E799-61F0-C003-FE10-A731913D73F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581400" y="3048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68" name="Oval 24">
            <a:extLst>
              <a:ext uri="{FF2B5EF4-FFF2-40B4-BE49-F238E27FC236}">
                <a16:creationId xmlns:a16="http://schemas.microsoft.com/office/drawing/2014/main" id="{DAB45370-BF49-8B6E-4F92-85E3F7D5165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5410200" y="3276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69" name="Oval 25">
            <a:extLst>
              <a:ext uri="{FF2B5EF4-FFF2-40B4-BE49-F238E27FC236}">
                <a16:creationId xmlns:a16="http://schemas.microsoft.com/office/drawing/2014/main" id="{DFCF8228-D9DE-615E-0F7C-3E6D51A364D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5562600" y="2590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0" name="Oval 26">
            <a:extLst>
              <a:ext uri="{FF2B5EF4-FFF2-40B4-BE49-F238E27FC236}">
                <a16:creationId xmlns:a16="http://schemas.microsoft.com/office/drawing/2014/main" id="{200B59D4-D028-76AE-FD70-EBD9A72CBC5D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962400" y="3429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1" name="Oval 27">
            <a:extLst>
              <a:ext uri="{FF2B5EF4-FFF2-40B4-BE49-F238E27FC236}">
                <a16:creationId xmlns:a16="http://schemas.microsoft.com/office/drawing/2014/main" id="{52B892A6-38E0-14C3-0771-04119ACBF83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114800" y="2209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2" name="Oval 28">
            <a:extLst>
              <a:ext uri="{FF2B5EF4-FFF2-40B4-BE49-F238E27FC236}">
                <a16:creationId xmlns:a16="http://schemas.microsoft.com/office/drawing/2014/main" id="{03FEC260-1012-D68F-EBF2-03DAD0B328E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876800" y="2895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3" name="Oval 29">
            <a:extLst>
              <a:ext uri="{FF2B5EF4-FFF2-40B4-BE49-F238E27FC236}">
                <a16:creationId xmlns:a16="http://schemas.microsoft.com/office/drawing/2014/main" id="{90B5EE2E-BCBE-4802-A87B-FDE3832B7717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5029200" y="2438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4" name="Oval 30">
            <a:extLst>
              <a:ext uri="{FF2B5EF4-FFF2-40B4-BE49-F238E27FC236}">
                <a16:creationId xmlns:a16="http://schemas.microsoft.com/office/drawing/2014/main" id="{6A2ECDBD-F88A-17F5-346D-BF8A15DBD90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5486400" y="2286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5" name="Oval 31">
            <a:extLst>
              <a:ext uri="{FF2B5EF4-FFF2-40B4-BE49-F238E27FC236}">
                <a16:creationId xmlns:a16="http://schemas.microsoft.com/office/drawing/2014/main" id="{309E70D2-E5AB-5C59-B92D-5E74AE142EB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572000" y="2438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6" name="Oval 32">
            <a:extLst>
              <a:ext uri="{FF2B5EF4-FFF2-40B4-BE49-F238E27FC236}">
                <a16:creationId xmlns:a16="http://schemas.microsoft.com/office/drawing/2014/main" id="{73C7D5AA-C0DD-B7A0-A156-1050A5F6F4D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962400" y="3124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7" name="Oval 33">
            <a:extLst>
              <a:ext uri="{FF2B5EF4-FFF2-40B4-BE49-F238E27FC236}">
                <a16:creationId xmlns:a16="http://schemas.microsoft.com/office/drawing/2014/main" id="{7DFE771A-5CE8-F5BB-AAC3-674DBA1096E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191000" y="2743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31778" name="Oval 34">
            <a:extLst>
              <a:ext uri="{FF2B5EF4-FFF2-40B4-BE49-F238E27FC236}">
                <a16:creationId xmlns:a16="http://schemas.microsoft.com/office/drawing/2014/main" id="{1FEA2B85-AB85-3997-24EC-9B42783F489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5181600" y="3429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9" name="Oval 35">
            <a:extLst>
              <a:ext uri="{FF2B5EF4-FFF2-40B4-BE49-F238E27FC236}">
                <a16:creationId xmlns:a16="http://schemas.microsoft.com/office/drawing/2014/main" id="{12095CC0-0FEF-2CE4-AD9B-DD2EDE972582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572000" y="2971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80" name="Oval 36">
            <a:extLst>
              <a:ext uri="{FF2B5EF4-FFF2-40B4-BE49-F238E27FC236}">
                <a16:creationId xmlns:a16="http://schemas.microsoft.com/office/drawing/2014/main" id="{1110CAD7-48F9-C9A6-A26E-4AC49C67396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343400" y="3276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81" name="Text Box 37">
            <a:extLst>
              <a:ext uri="{FF2B5EF4-FFF2-40B4-BE49-F238E27FC236}">
                <a16:creationId xmlns:a16="http://schemas.microsoft.com/office/drawing/2014/main" id="{4F67C3A7-DA94-467C-3DFB-DCE0F1779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17963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Y</a:t>
            </a:r>
          </a:p>
        </p:txBody>
      </p:sp>
      <p:sp>
        <p:nvSpPr>
          <p:cNvPr id="31782" name="Line 38">
            <a:extLst>
              <a:ext uri="{FF2B5EF4-FFF2-40B4-BE49-F238E27FC236}">
                <a16:creationId xmlns:a16="http://schemas.microsoft.com/office/drawing/2014/main" id="{B675FF4A-9B75-F337-3B27-9749D3243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886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83" name="Text Box 39">
            <a:extLst>
              <a:ext uri="{FF2B5EF4-FFF2-40B4-BE49-F238E27FC236}">
                <a16:creationId xmlns:a16="http://schemas.microsoft.com/office/drawing/2014/main" id="{7D2660AD-C909-59C8-5A7A-6E413DC9A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188" y="3779838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X</a:t>
            </a:r>
          </a:p>
        </p:txBody>
      </p:sp>
      <p:sp>
        <p:nvSpPr>
          <p:cNvPr id="31784" name="Text Box 40">
            <a:extLst>
              <a:ext uri="{FF2B5EF4-FFF2-40B4-BE49-F238E27FC236}">
                <a16:creationId xmlns:a16="http://schemas.microsoft.com/office/drawing/2014/main" id="{160BC01F-F037-87D2-60C4-25673B43E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86200"/>
            <a:ext cx="2133600" cy="396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/>
              <a:t>No relationship</a:t>
            </a:r>
          </a:p>
        </p:txBody>
      </p:sp>
      <p:sp>
        <p:nvSpPr>
          <p:cNvPr id="31785" name="Oval 41">
            <a:extLst>
              <a:ext uri="{FF2B5EF4-FFF2-40B4-BE49-F238E27FC236}">
                <a16:creationId xmlns:a16="http://schemas.microsoft.com/office/drawing/2014/main" id="{7EC314C7-C7DC-EB23-C0A2-9A55225412E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657600" y="2667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86" name="Oval 42">
            <a:extLst>
              <a:ext uri="{FF2B5EF4-FFF2-40B4-BE49-F238E27FC236}">
                <a16:creationId xmlns:a16="http://schemas.microsoft.com/office/drawing/2014/main" id="{8519EA56-D7E7-F5F7-604A-51E3961C19C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4800600" y="3429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87" name="Oval 43">
            <a:extLst>
              <a:ext uri="{FF2B5EF4-FFF2-40B4-BE49-F238E27FC236}">
                <a16:creationId xmlns:a16="http://schemas.microsoft.com/office/drawing/2014/main" id="{D3C4F38A-CDB4-5C1E-9E35-EB84C79C034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5257800" y="2819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88" name="Line 44">
            <a:extLst>
              <a:ext uri="{FF2B5EF4-FFF2-40B4-BE49-F238E27FC236}">
                <a16:creationId xmlns:a16="http://schemas.microsoft.com/office/drawing/2014/main" id="{3F35A514-4966-8B84-4DCF-0CFA581D89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895600"/>
            <a:ext cx="23622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1789" name="Line 45">
            <a:extLst>
              <a:ext uri="{FF2B5EF4-FFF2-40B4-BE49-F238E27FC236}">
                <a16:creationId xmlns:a16="http://schemas.microsoft.com/office/drawing/2014/main" id="{591FFB1E-780C-0D58-F305-757149B62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2362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07AD2DD-EEBF-549B-B8A9-73A6D09AD6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95442CA-B1A8-9F82-7CD0-E5FFEAFE37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8647DA0A-EE16-4B31-B941-CDAAD8A6B1BD}" type="slidenum">
              <a:rPr lang="en-US" altLang="en-US"/>
              <a:pPr/>
              <a:t>9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8E34DD6-6B98-DEF6-61D1-82FE3061B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Linear Regression Model</a:t>
            </a:r>
          </a:p>
        </p:txBody>
      </p:sp>
      <p:graphicFrame>
        <p:nvGraphicFramePr>
          <p:cNvPr id="32772" name="Object 4">
            <a:extLst>
              <a:ext uri="{FF2B5EF4-FFF2-40B4-BE49-F238E27FC236}">
                <a16:creationId xmlns:a16="http://schemas.microsoft.com/office/drawing/2014/main" id="{F76252FA-4F15-FAC3-E721-F6E708DC7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4350" y="3429000"/>
          <a:ext cx="5610225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040" imgH="228600" progId="Equation.3">
                  <p:embed/>
                </p:oleObj>
              </mc:Choice>
              <mc:Fallback>
                <p:oleObj name="Equation" r:id="rId2" imgW="11300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0" y="3429000"/>
                        <a:ext cx="5610225" cy="11350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5">
            <a:extLst>
              <a:ext uri="{FF2B5EF4-FFF2-40B4-BE49-F238E27FC236}">
                <a16:creationId xmlns:a16="http://schemas.microsoft.com/office/drawing/2014/main" id="{8D524200-9062-9E18-4DB4-69562BEC2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768850"/>
            <a:ext cx="20367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Linear component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8FF26538-6EBE-7C5E-9432-1E0253DCF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715000"/>
            <a:ext cx="4724400" cy="454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The population regression model:</a:t>
            </a:r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E4098667-0DAB-4E59-D9A9-0EF2F0003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51075"/>
            <a:ext cx="1524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Population 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Y  intercept </a:t>
            </a:r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7050FCC3-19EE-B14B-CD7F-CD97743F6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098675"/>
            <a:ext cx="14478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Population Slope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Coefficient </a:t>
            </a:r>
          </a:p>
        </p:txBody>
      </p:sp>
      <p:sp>
        <p:nvSpPr>
          <p:cNvPr id="32777" name="Rectangle 9">
            <a:extLst>
              <a:ext uri="{FF2B5EF4-FFF2-40B4-BE49-F238E27FC236}">
                <a16:creationId xmlns:a16="http://schemas.microsoft.com/office/drawing/2014/main" id="{80ADC1C3-6FD9-FA34-9A14-B6CF409CE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022475"/>
            <a:ext cx="1147763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Random Error term</a:t>
            </a:r>
          </a:p>
        </p:txBody>
      </p:sp>
      <p:sp>
        <p:nvSpPr>
          <p:cNvPr id="32778" name="Rectangle 10">
            <a:extLst>
              <a:ext uri="{FF2B5EF4-FFF2-40B4-BE49-F238E27FC236}">
                <a16:creationId xmlns:a16="http://schemas.microsoft.com/office/drawing/2014/main" id="{31E1AA5D-445E-E9C4-8A1D-36371A874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60675"/>
            <a:ext cx="183832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9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Dependent Variable</a:t>
            </a:r>
          </a:p>
        </p:txBody>
      </p:sp>
      <p:sp>
        <p:nvSpPr>
          <p:cNvPr id="32779" name="Line 11">
            <a:extLst>
              <a:ext uri="{FF2B5EF4-FFF2-40B4-BE49-F238E27FC236}">
                <a16:creationId xmlns:a16="http://schemas.microsoft.com/office/drawing/2014/main" id="{93A11266-8B27-E156-94D4-997BBCD9A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936875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0" name="Line 12">
            <a:extLst>
              <a:ext uri="{FF2B5EF4-FFF2-40B4-BE49-F238E27FC236}">
                <a16:creationId xmlns:a16="http://schemas.microsoft.com/office/drawing/2014/main" id="{D4994228-E3E0-3AD6-8C89-BF62DA35FD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394075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1" name="Line 13">
            <a:extLst>
              <a:ext uri="{FF2B5EF4-FFF2-40B4-BE49-F238E27FC236}">
                <a16:creationId xmlns:a16="http://schemas.microsoft.com/office/drawing/2014/main" id="{2A43276F-2B5A-BA2D-14EB-58AC6FBCCB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293687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2" name="Line 14">
            <a:extLst>
              <a:ext uri="{FF2B5EF4-FFF2-40B4-BE49-F238E27FC236}">
                <a16:creationId xmlns:a16="http://schemas.microsoft.com/office/drawing/2014/main" id="{B7704A39-97EC-006D-16B8-239B90D3E5DC}"/>
              </a:ext>
            </a:extLst>
          </p:cNvPr>
          <p:cNvSpPr>
            <a:spLocks noChangeShapeType="1"/>
          </p:cNvSpPr>
          <p:nvPr/>
        </p:nvSpPr>
        <p:spPr bwMode="auto">
          <a:xfrm rot="20940815" flipH="1">
            <a:off x="7167563" y="3165475"/>
            <a:ext cx="46355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3" name="Rectangle 15">
            <a:extLst>
              <a:ext uri="{FF2B5EF4-FFF2-40B4-BE49-F238E27FC236}">
                <a16:creationId xmlns:a16="http://schemas.microsoft.com/office/drawing/2014/main" id="{F5E914FA-3765-AD52-FD9E-8ACB7900E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251075"/>
            <a:ext cx="1604963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Independent Variable</a:t>
            </a:r>
          </a:p>
        </p:txBody>
      </p:sp>
      <p:sp>
        <p:nvSpPr>
          <p:cNvPr id="32784" name="AutoShape 16">
            <a:extLst>
              <a:ext uri="{FF2B5EF4-FFF2-40B4-BE49-F238E27FC236}">
                <a16:creationId xmlns:a16="http://schemas.microsoft.com/office/drawing/2014/main" id="{19EA156E-5A15-95F9-57A4-9A1682D1D21E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4417219" y="3396456"/>
            <a:ext cx="228600" cy="2662238"/>
          </a:xfrm>
          <a:prstGeom prst="leftBrace">
            <a:avLst>
              <a:gd name="adj1" fmla="val 97049"/>
              <a:gd name="adj2" fmla="val 50000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5" name="Line 17">
            <a:extLst>
              <a:ext uri="{FF2B5EF4-FFF2-40B4-BE49-F238E27FC236}">
                <a16:creationId xmlns:a16="http://schemas.microsoft.com/office/drawing/2014/main" id="{2E4111B2-7220-3012-6ED7-D9306313305C}"/>
              </a:ext>
            </a:extLst>
          </p:cNvPr>
          <p:cNvSpPr>
            <a:spLocks noChangeShapeType="1"/>
          </p:cNvSpPr>
          <p:nvPr/>
        </p:nvSpPr>
        <p:spPr bwMode="auto">
          <a:xfrm rot="-659185">
            <a:off x="4640263" y="3028950"/>
            <a:ext cx="227012" cy="396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6" name="AutoShape 18">
            <a:extLst>
              <a:ext uri="{FF2B5EF4-FFF2-40B4-BE49-F238E27FC236}">
                <a16:creationId xmlns:a16="http://schemas.microsoft.com/office/drawing/2014/main" id="{71FCCA4F-51D1-6491-3B40-308681D99FEA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6972300" y="4254500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7" name="Text Box 19">
            <a:extLst>
              <a:ext uri="{FF2B5EF4-FFF2-40B4-BE49-F238E27FC236}">
                <a16:creationId xmlns:a16="http://schemas.microsoft.com/office/drawing/2014/main" id="{E09B39A7-0520-1B11-8607-3E3A6F54A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200" y="4829175"/>
            <a:ext cx="16430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Random Error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 component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433BB8B-38DE-DC0A-E122-DE734F3B82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673FA4D-6DA9-CF84-89BB-E6896D50AE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70CC7913-C3D1-42D2-AA7F-4F4C3F126593}" type="slidenum">
              <a:rPr lang="en-US" altLang="en-US"/>
              <a:pPr/>
              <a:t>10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6712B58B-C6A7-5674-E3E1-421D04E09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Linear Regression Model</a:t>
            </a:r>
          </a:p>
        </p:txBody>
      </p:sp>
      <p:sp>
        <p:nvSpPr>
          <p:cNvPr id="33796" name="Line 4">
            <a:extLst>
              <a:ext uri="{FF2B5EF4-FFF2-40B4-BE49-F238E27FC236}">
                <a16:creationId xmlns:a16="http://schemas.microsoft.com/office/drawing/2014/main" id="{2F9CD40F-6C9C-7713-42D0-2899E0ED11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4267200"/>
            <a:ext cx="17526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0373C999-307D-B266-48B7-F0EDFF395E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2971800"/>
            <a:ext cx="17526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3799" name="Line 7">
            <a:extLst>
              <a:ext uri="{FF2B5EF4-FFF2-40B4-BE49-F238E27FC236}">
                <a16:creationId xmlns:a16="http://schemas.microsoft.com/office/drawing/2014/main" id="{B34E9D51-7AF5-B08F-316E-3E474834B3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1138" y="3094038"/>
            <a:ext cx="6350" cy="2792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0" name="Line 8">
            <a:extLst>
              <a:ext uri="{FF2B5EF4-FFF2-40B4-BE49-F238E27FC236}">
                <a16:creationId xmlns:a16="http://schemas.microsoft.com/office/drawing/2014/main" id="{E9E8957D-412C-342C-C30D-30054BE806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2488" y="2990850"/>
            <a:ext cx="6470650" cy="1830388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1" name="Freeform 9">
            <a:extLst>
              <a:ext uri="{FF2B5EF4-FFF2-40B4-BE49-F238E27FC236}">
                <a16:creationId xmlns:a16="http://schemas.microsoft.com/office/drawing/2014/main" id="{82483D24-19C3-2E9E-82EF-795F0A84FB98}"/>
              </a:ext>
            </a:extLst>
          </p:cNvPr>
          <p:cNvSpPr>
            <a:spLocks/>
          </p:cNvSpPr>
          <p:nvPr/>
        </p:nvSpPr>
        <p:spPr bwMode="auto">
          <a:xfrm>
            <a:off x="5011738" y="4743450"/>
            <a:ext cx="454025" cy="454025"/>
          </a:xfrm>
          <a:custGeom>
            <a:avLst/>
            <a:gdLst>
              <a:gd name="T0" fmla="*/ 0 w 286"/>
              <a:gd name="T1" fmla="*/ 145 h 286"/>
              <a:gd name="T2" fmla="*/ 7 w 286"/>
              <a:gd name="T3" fmla="*/ 99 h 286"/>
              <a:gd name="T4" fmla="*/ 26 w 286"/>
              <a:gd name="T5" fmla="*/ 61 h 286"/>
              <a:gd name="T6" fmla="*/ 61 w 286"/>
              <a:gd name="T7" fmla="*/ 30 h 286"/>
              <a:gd name="T8" fmla="*/ 99 w 286"/>
              <a:gd name="T9" fmla="*/ 8 h 286"/>
              <a:gd name="T10" fmla="*/ 144 w 286"/>
              <a:gd name="T11" fmla="*/ 0 h 286"/>
              <a:gd name="T12" fmla="*/ 186 w 286"/>
              <a:gd name="T13" fmla="*/ 8 h 286"/>
              <a:gd name="T14" fmla="*/ 228 w 286"/>
              <a:gd name="T15" fmla="*/ 30 h 286"/>
              <a:gd name="T16" fmla="*/ 259 w 286"/>
              <a:gd name="T17" fmla="*/ 61 h 286"/>
              <a:gd name="T18" fmla="*/ 278 w 286"/>
              <a:gd name="T19" fmla="*/ 99 h 286"/>
              <a:gd name="T20" fmla="*/ 285 w 286"/>
              <a:gd name="T21" fmla="*/ 145 h 286"/>
              <a:gd name="T22" fmla="*/ 278 w 286"/>
              <a:gd name="T23" fmla="*/ 190 h 286"/>
              <a:gd name="T24" fmla="*/ 259 w 286"/>
              <a:gd name="T25" fmla="*/ 228 h 286"/>
              <a:gd name="T26" fmla="*/ 228 w 286"/>
              <a:gd name="T27" fmla="*/ 259 h 286"/>
              <a:gd name="T28" fmla="*/ 186 w 286"/>
              <a:gd name="T29" fmla="*/ 281 h 286"/>
              <a:gd name="T30" fmla="*/ 144 w 286"/>
              <a:gd name="T31" fmla="*/ 285 h 286"/>
              <a:gd name="T32" fmla="*/ 99 w 286"/>
              <a:gd name="T33" fmla="*/ 281 h 286"/>
              <a:gd name="T34" fmla="*/ 61 w 286"/>
              <a:gd name="T35" fmla="*/ 259 h 286"/>
              <a:gd name="T36" fmla="*/ 26 w 286"/>
              <a:gd name="T37" fmla="*/ 228 h 286"/>
              <a:gd name="T38" fmla="*/ 7 w 286"/>
              <a:gd name="T39" fmla="*/ 190 h 286"/>
              <a:gd name="T40" fmla="*/ 0 w 286"/>
              <a:gd name="T41" fmla="*/ 145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6" h="286">
                <a:moveTo>
                  <a:pt x="0" y="145"/>
                </a:moveTo>
                <a:lnTo>
                  <a:pt x="7" y="99"/>
                </a:lnTo>
                <a:lnTo>
                  <a:pt x="26" y="61"/>
                </a:lnTo>
                <a:lnTo>
                  <a:pt x="61" y="30"/>
                </a:lnTo>
                <a:lnTo>
                  <a:pt x="99" y="8"/>
                </a:lnTo>
                <a:lnTo>
                  <a:pt x="144" y="0"/>
                </a:lnTo>
                <a:lnTo>
                  <a:pt x="186" y="8"/>
                </a:lnTo>
                <a:lnTo>
                  <a:pt x="228" y="30"/>
                </a:lnTo>
                <a:lnTo>
                  <a:pt x="259" y="61"/>
                </a:lnTo>
                <a:lnTo>
                  <a:pt x="278" y="99"/>
                </a:lnTo>
                <a:lnTo>
                  <a:pt x="285" y="145"/>
                </a:lnTo>
                <a:lnTo>
                  <a:pt x="278" y="190"/>
                </a:lnTo>
                <a:lnTo>
                  <a:pt x="259" y="228"/>
                </a:lnTo>
                <a:lnTo>
                  <a:pt x="228" y="259"/>
                </a:lnTo>
                <a:lnTo>
                  <a:pt x="186" y="281"/>
                </a:lnTo>
                <a:lnTo>
                  <a:pt x="144" y="285"/>
                </a:lnTo>
                <a:lnTo>
                  <a:pt x="99" y="281"/>
                </a:lnTo>
                <a:lnTo>
                  <a:pt x="61" y="259"/>
                </a:lnTo>
                <a:lnTo>
                  <a:pt x="26" y="228"/>
                </a:lnTo>
                <a:lnTo>
                  <a:pt x="7" y="190"/>
                </a:lnTo>
                <a:lnTo>
                  <a:pt x="0" y="145"/>
                </a:lnTo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02" name="Rectangle 10">
            <a:extLst>
              <a:ext uri="{FF2B5EF4-FFF2-40B4-BE49-F238E27FC236}">
                <a16:creationId xmlns:a16="http://schemas.microsoft.com/office/drawing/2014/main" id="{FFE1CA1E-9A47-91C4-E2E0-4FA02CD79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38" y="5337175"/>
            <a:ext cx="18415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3" name="Rectangle 11">
            <a:extLst>
              <a:ext uri="{FF2B5EF4-FFF2-40B4-BE49-F238E27FC236}">
                <a16:creationId xmlns:a16="http://schemas.microsoft.com/office/drawing/2014/main" id="{E06704D2-1213-01A3-6521-01BF4B869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962400"/>
            <a:ext cx="1905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Random Error for this X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value</a:t>
            </a:r>
            <a:endParaRPr lang="en-US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3804" name="Rectangle 12">
            <a:extLst>
              <a:ext uri="{FF2B5EF4-FFF2-40B4-BE49-F238E27FC236}">
                <a16:creationId xmlns:a16="http://schemas.microsoft.com/office/drawing/2014/main" id="{50E6A43E-BC79-08D4-D094-CAD112E84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338" y="1924050"/>
            <a:ext cx="45243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3200"/>
              <a:t>Y</a:t>
            </a:r>
          </a:p>
        </p:txBody>
      </p:sp>
      <p:sp>
        <p:nvSpPr>
          <p:cNvPr id="33805" name="Rectangle 13">
            <a:extLst>
              <a:ext uri="{FF2B5EF4-FFF2-40B4-BE49-F238E27FC236}">
                <a16:creationId xmlns:a16="http://schemas.microsoft.com/office/drawing/2014/main" id="{3A1259BF-B530-749F-743E-EB2F6B8F4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2138" y="5824538"/>
            <a:ext cx="452437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3200"/>
              <a:t>X</a:t>
            </a:r>
          </a:p>
        </p:txBody>
      </p:sp>
      <p:sp>
        <p:nvSpPr>
          <p:cNvPr id="33806" name="Freeform 14">
            <a:extLst>
              <a:ext uri="{FF2B5EF4-FFF2-40B4-BE49-F238E27FC236}">
                <a16:creationId xmlns:a16="http://schemas.microsoft.com/office/drawing/2014/main" id="{C9B64DFC-2B5D-A439-CA1C-A4FC55D41FCE}"/>
              </a:ext>
            </a:extLst>
          </p:cNvPr>
          <p:cNvSpPr>
            <a:spLocks/>
          </p:cNvSpPr>
          <p:nvPr/>
        </p:nvSpPr>
        <p:spPr bwMode="auto">
          <a:xfrm>
            <a:off x="7754938" y="2686050"/>
            <a:ext cx="455612" cy="454025"/>
          </a:xfrm>
          <a:custGeom>
            <a:avLst/>
            <a:gdLst>
              <a:gd name="T0" fmla="*/ 0 w 287"/>
              <a:gd name="T1" fmla="*/ 141 h 286"/>
              <a:gd name="T2" fmla="*/ 8 w 287"/>
              <a:gd name="T3" fmla="*/ 99 h 286"/>
              <a:gd name="T4" fmla="*/ 26 w 287"/>
              <a:gd name="T5" fmla="*/ 57 h 286"/>
              <a:gd name="T6" fmla="*/ 57 w 287"/>
              <a:gd name="T7" fmla="*/ 26 h 286"/>
              <a:gd name="T8" fmla="*/ 99 w 287"/>
              <a:gd name="T9" fmla="*/ 8 h 286"/>
              <a:gd name="T10" fmla="*/ 141 w 287"/>
              <a:gd name="T11" fmla="*/ 0 h 286"/>
              <a:gd name="T12" fmla="*/ 187 w 287"/>
              <a:gd name="T13" fmla="*/ 8 h 286"/>
              <a:gd name="T14" fmla="*/ 224 w 287"/>
              <a:gd name="T15" fmla="*/ 26 h 286"/>
              <a:gd name="T16" fmla="*/ 259 w 287"/>
              <a:gd name="T17" fmla="*/ 57 h 286"/>
              <a:gd name="T18" fmla="*/ 278 w 287"/>
              <a:gd name="T19" fmla="*/ 99 h 286"/>
              <a:gd name="T20" fmla="*/ 286 w 287"/>
              <a:gd name="T21" fmla="*/ 141 h 286"/>
              <a:gd name="T22" fmla="*/ 278 w 287"/>
              <a:gd name="T23" fmla="*/ 186 h 286"/>
              <a:gd name="T24" fmla="*/ 259 w 287"/>
              <a:gd name="T25" fmla="*/ 224 h 286"/>
              <a:gd name="T26" fmla="*/ 224 w 287"/>
              <a:gd name="T27" fmla="*/ 259 h 286"/>
              <a:gd name="T28" fmla="*/ 187 w 287"/>
              <a:gd name="T29" fmla="*/ 278 h 286"/>
              <a:gd name="T30" fmla="*/ 141 w 287"/>
              <a:gd name="T31" fmla="*/ 285 h 286"/>
              <a:gd name="T32" fmla="*/ 99 w 287"/>
              <a:gd name="T33" fmla="*/ 278 h 286"/>
              <a:gd name="T34" fmla="*/ 57 w 287"/>
              <a:gd name="T35" fmla="*/ 259 h 286"/>
              <a:gd name="T36" fmla="*/ 26 w 287"/>
              <a:gd name="T37" fmla="*/ 224 h 286"/>
              <a:gd name="T38" fmla="*/ 8 w 287"/>
              <a:gd name="T39" fmla="*/ 186 h 286"/>
              <a:gd name="T40" fmla="*/ 0 w 287"/>
              <a:gd name="T41" fmla="*/ 141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7" h="286">
                <a:moveTo>
                  <a:pt x="0" y="141"/>
                </a:moveTo>
                <a:lnTo>
                  <a:pt x="8" y="99"/>
                </a:lnTo>
                <a:lnTo>
                  <a:pt x="26" y="57"/>
                </a:lnTo>
                <a:lnTo>
                  <a:pt x="57" y="26"/>
                </a:lnTo>
                <a:lnTo>
                  <a:pt x="99" y="8"/>
                </a:lnTo>
                <a:lnTo>
                  <a:pt x="141" y="0"/>
                </a:lnTo>
                <a:lnTo>
                  <a:pt x="187" y="8"/>
                </a:lnTo>
                <a:lnTo>
                  <a:pt x="224" y="26"/>
                </a:lnTo>
                <a:lnTo>
                  <a:pt x="259" y="57"/>
                </a:lnTo>
                <a:lnTo>
                  <a:pt x="278" y="99"/>
                </a:lnTo>
                <a:lnTo>
                  <a:pt x="286" y="141"/>
                </a:lnTo>
                <a:lnTo>
                  <a:pt x="278" y="186"/>
                </a:lnTo>
                <a:lnTo>
                  <a:pt x="259" y="224"/>
                </a:lnTo>
                <a:lnTo>
                  <a:pt x="224" y="259"/>
                </a:lnTo>
                <a:lnTo>
                  <a:pt x="187" y="278"/>
                </a:lnTo>
                <a:lnTo>
                  <a:pt x="141" y="285"/>
                </a:lnTo>
                <a:lnTo>
                  <a:pt x="99" y="278"/>
                </a:lnTo>
                <a:lnTo>
                  <a:pt x="57" y="259"/>
                </a:lnTo>
                <a:lnTo>
                  <a:pt x="26" y="224"/>
                </a:lnTo>
                <a:lnTo>
                  <a:pt x="8" y="186"/>
                </a:lnTo>
                <a:lnTo>
                  <a:pt x="0" y="141"/>
                </a:lnTo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07" name="Freeform 15">
            <a:extLst>
              <a:ext uri="{FF2B5EF4-FFF2-40B4-BE49-F238E27FC236}">
                <a16:creationId xmlns:a16="http://schemas.microsoft.com/office/drawing/2014/main" id="{2434EA96-E100-9F46-CB4D-ADD43840434F}"/>
              </a:ext>
            </a:extLst>
          </p:cNvPr>
          <p:cNvSpPr>
            <a:spLocks/>
          </p:cNvSpPr>
          <p:nvPr/>
        </p:nvSpPr>
        <p:spPr bwMode="auto">
          <a:xfrm>
            <a:off x="2501900" y="4673600"/>
            <a:ext cx="455613" cy="455613"/>
          </a:xfrm>
          <a:custGeom>
            <a:avLst/>
            <a:gdLst>
              <a:gd name="T0" fmla="*/ 0 w 287"/>
              <a:gd name="T1" fmla="*/ 145 h 287"/>
              <a:gd name="T2" fmla="*/ 8 w 287"/>
              <a:gd name="T3" fmla="*/ 99 h 287"/>
              <a:gd name="T4" fmla="*/ 27 w 287"/>
              <a:gd name="T5" fmla="*/ 62 h 287"/>
              <a:gd name="T6" fmla="*/ 58 w 287"/>
              <a:gd name="T7" fmla="*/ 27 h 287"/>
              <a:gd name="T8" fmla="*/ 99 w 287"/>
              <a:gd name="T9" fmla="*/ 8 h 287"/>
              <a:gd name="T10" fmla="*/ 141 w 287"/>
              <a:gd name="T11" fmla="*/ 0 h 287"/>
              <a:gd name="T12" fmla="*/ 187 w 287"/>
              <a:gd name="T13" fmla="*/ 8 h 287"/>
              <a:gd name="T14" fmla="*/ 225 w 287"/>
              <a:gd name="T15" fmla="*/ 27 h 287"/>
              <a:gd name="T16" fmla="*/ 260 w 287"/>
              <a:gd name="T17" fmla="*/ 62 h 287"/>
              <a:gd name="T18" fmla="*/ 278 w 287"/>
              <a:gd name="T19" fmla="*/ 99 h 287"/>
              <a:gd name="T20" fmla="*/ 286 w 287"/>
              <a:gd name="T21" fmla="*/ 145 h 287"/>
              <a:gd name="T22" fmla="*/ 278 w 287"/>
              <a:gd name="T23" fmla="*/ 187 h 287"/>
              <a:gd name="T24" fmla="*/ 260 w 287"/>
              <a:gd name="T25" fmla="*/ 228 h 287"/>
              <a:gd name="T26" fmla="*/ 225 w 287"/>
              <a:gd name="T27" fmla="*/ 260 h 287"/>
              <a:gd name="T28" fmla="*/ 187 w 287"/>
              <a:gd name="T29" fmla="*/ 278 h 287"/>
              <a:gd name="T30" fmla="*/ 141 w 287"/>
              <a:gd name="T31" fmla="*/ 286 h 287"/>
              <a:gd name="T32" fmla="*/ 99 w 287"/>
              <a:gd name="T33" fmla="*/ 278 h 287"/>
              <a:gd name="T34" fmla="*/ 58 w 287"/>
              <a:gd name="T35" fmla="*/ 260 h 287"/>
              <a:gd name="T36" fmla="*/ 27 w 287"/>
              <a:gd name="T37" fmla="*/ 228 h 287"/>
              <a:gd name="T38" fmla="*/ 8 w 287"/>
              <a:gd name="T39" fmla="*/ 187 h 287"/>
              <a:gd name="T40" fmla="*/ 0 w 287"/>
              <a:gd name="T41" fmla="*/ 145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7" h="287">
                <a:moveTo>
                  <a:pt x="0" y="145"/>
                </a:moveTo>
                <a:lnTo>
                  <a:pt x="8" y="99"/>
                </a:lnTo>
                <a:lnTo>
                  <a:pt x="27" y="62"/>
                </a:lnTo>
                <a:lnTo>
                  <a:pt x="58" y="27"/>
                </a:lnTo>
                <a:lnTo>
                  <a:pt x="99" y="8"/>
                </a:lnTo>
                <a:lnTo>
                  <a:pt x="141" y="0"/>
                </a:lnTo>
                <a:lnTo>
                  <a:pt x="187" y="8"/>
                </a:lnTo>
                <a:lnTo>
                  <a:pt x="225" y="27"/>
                </a:lnTo>
                <a:lnTo>
                  <a:pt x="260" y="62"/>
                </a:lnTo>
                <a:lnTo>
                  <a:pt x="278" y="99"/>
                </a:lnTo>
                <a:lnTo>
                  <a:pt x="286" y="145"/>
                </a:lnTo>
                <a:lnTo>
                  <a:pt x="278" y="187"/>
                </a:lnTo>
                <a:lnTo>
                  <a:pt x="260" y="228"/>
                </a:lnTo>
                <a:lnTo>
                  <a:pt x="225" y="260"/>
                </a:lnTo>
                <a:lnTo>
                  <a:pt x="187" y="278"/>
                </a:lnTo>
                <a:lnTo>
                  <a:pt x="141" y="286"/>
                </a:lnTo>
                <a:lnTo>
                  <a:pt x="99" y="278"/>
                </a:lnTo>
                <a:lnTo>
                  <a:pt x="58" y="260"/>
                </a:lnTo>
                <a:lnTo>
                  <a:pt x="27" y="228"/>
                </a:lnTo>
                <a:lnTo>
                  <a:pt x="8" y="187"/>
                </a:lnTo>
                <a:lnTo>
                  <a:pt x="0" y="145"/>
                </a:lnTo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08" name="Rectangle 16">
            <a:extLst>
              <a:ext uri="{FF2B5EF4-FFF2-40B4-BE49-F238E27FC236}">
                <a16:creationId xmlns:a16="http://schemas.microsoft.com/office/drawing/2014/main" id="{5453F4CB-B1FD-FA57-7F5C-5C805B04E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488" y="4937125"/>
            <a:ext cx="18415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9" name="Freeform 17">
            <a:extLst>
              <a:ext uri="{FF2B5EF4-FFF2-40B4-BE49-F238E27FC236}">
                <a16:creationId xmlns:a16="http://schemas.microsoft.com/office/drawing/2014/main" id="{CB84BB5D-152F-3B7A-B72E-4583CF38B977}"/>
              </a:ext>
            </a:extLst>
          </p:cNvPr>
          <p:cNvSpPr>
            <a:spLocks/>
          </p:cNvSpPr>
          <p:nvPr/>
        </p:nvSpPr>
        <p:spPr bwMode="auto">
          <a:xfrm>
            <a:off x="7010400" y="3810000"/>
            <a:ext cx="455613" cy="454025"/>
          </a:xfrm>
          <a:custGeom>
            <a:avLst/>
            <a:gdLst>
              <a:gd name="T0" fmla="*/ 0 w 287"/>
              <a:gd name="T1" fmla="*/ 144 h 286"/>
              <a:gd name="T2" fmla="*/ 8 w 287"/>
              <a:gd name="T3" fmla="*/ 99 h 286"/>
              <a:gd name="T4" fmla="*/ 26 w 287"/>
              <a:gd name="T5" fmla="*/ 61 h 286"/>
              <a:gd name="T6" fmla="*/ 58 w 287"/>
              <a:gd name="T7" fmla="*/ 26 h 286"/>
              <a:gd name="T8" fmla="*/ 99 w 287"/>
              <a:gd name="T9" fmla="*/ 7 h 286"/>
              <a:gd name="T10" fmla="*/ 141 w 287"/>
              <a:gd name="T11" fmla="*/ 0 h 286"/>
              <a:gd name="T12" fmla="*/ 187 w 287"/>
              <a:gd name="T13" fmla="*/ 7 h 286"/>
              <a:gd name="T14" fmla="*/ 225 w 287"/>
              <a:gd name="T15" fmla="*/ 26 h 286"/>
              <a:gd name="T16" fmla="*/ 260 w 287"/>
              <a:gd name="T17" fmla="*/ 61 h 286"/>
              <a:gd name="T18" fmla="*/ 278 w 287"/>
              <a:gd name="T19" fmla="*/ 99 h 286"/>
              <a:gd name="T20" fmla="*/ 286 w 287"/>
              <a:gd name="T21" fmla="*/ 144 h 286"/>
              <a:gd name="T22" fmla="*/ 278 w 287"/>
              <a:gd name="T23" fmla="*/ 186 h 286"/>
              <a:gd name="T24" fmla="*/ 260 w 287"/>
              <a:gd name="T25" fmla="*/ 228 h 286"/>
              <a:gd name="T26" fmla="*/ 225 w 287"/>
              <a:gd name="T27" fmla="*/ 259 h 286"/>
              <a:gd name="T28" fmla="*/ 187 w 287"/>
              <a:gd name="T29" fmla="*/ 277 h 286"/>
              <a:gd name="T30" fmla="*/ 141 w 287"/>
              <a:gd name="T31" fmla="*/ 285 h 286"/>
              <a:gd name="T32" fmla="*/ 99 w 287"/>
              <a:gd name="T33" fmla="*/ 277 h 286"/>
              <a:gd name="T34" fmla="*/ 58 w 287"/>
              <a:gd name="T35" fmla="*/ 259 h 286"/>
              <a:gd name="T36" fmla="*/ 26 w 287"/>
              <a:gd name="T37" fmla="*/ 228 h 286"/>
              <a:gd name="T38" fmla="*/ 8 w 287"/>
              <a:gd name="T39" fmla="*/ 186 h 286"/>
              <a:gd name="T40" fmla="*/ 0 w 287"/>
              <a:gd name="T41" fmla="*/ 144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7" h="286">
                <a:moveTo>
                  <a:pt x="0" y="144"/>
                </a:moveTo>
                <a:lnTo>
                  <a:pt x="8" y="99"/>
                </a:lnTo>
                <a:lnTo>
                  <a:pt x="26" y="61"/>
                </a:lnTo>
                <a:lnTo>
                  <a:pt x="58" y="26"/>
                </a:lnTo>
                <a:lnTo>
                  <a:pt x="99" y="7"/>
                </a:lnTo>
                <a:lnTo>
                  <a:pt x="141" y="0"/>
                </a:lnTo>
                <a:lnTo>
                  <a:pt x="187" y="7"/>
                </a:lnTo>
                <a:lnTo>
                  <a:pt x="225" y="26"/>
                </a:lnTo>
                <a:lnTo>
                  <a:pt x="260" y="61"/>
                </a:lnTo>
                <a:lnTo>
                  <a:pt x="278" y="99"/>
                </a:lnTo>
                <a:lnTo>
                  <a:pt x="286" y="144"/>
                </a:lnTo>
                <a:lnTo>
                  <a:pt x="278" y="186"/>
                </a:lnTo>
                <a:lnTo>
                  <a:pt x="260" y="228"/>
                </a:lnTo>
                <a:lnTo>
                  <a:pt x="225" y="259"/>
                </a:lnTo>
                <a:lnTo>
                  <a:pt x="187" y="277"/>
                </a:lnTo>
                <a:lnTo>
                  <a:pt x="141" y="285"/>
                </a:lnTo>
                <a:lnTo>
                  <a:pt x="99" y="277"/>
                </a:lnTo>
                <a:lnTo>
                  <a:pt x="58" y="259"/>
                </a:lnTo>
                <a:lnTo>
                  <a:pt x="26" y="228"/>
                </a:lnTo>
                <a:lnTo>
                  <a:pt x="8" y="186"/>
                </a:lnTo>
                <a:lnTo>
                  <a:pt x="0" y="144"/>
                </a:lnTo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0" name="Freeform 18">
            <a:extLst>
              <a:ext uri="{FF2B5EF4-FFF2-40B4-BE49-F238E27FC236}">
                <a16:creationId xmlns:a16="http://schemas.microsoft.com/office/drawing/2014/main" id="{ACFB5735-EC9F-B19C-1A53-B7B3D8331E6D}"/>
              </a:ext>
            </a:extLst>
          </p:cNvPr>
          <p:cNvSpPr>
            <a:spLocks/>
          </p:cNvSpPr>
          <p:nvPr/>
        </p:nvSpPr>
        <p:spPr bwMode="auto">
          <a:xfrm>
            <a:off x="5545138" y="3143250"/>
            <a:ext cx="455612" cy="454025"/>
          </a:xfrm>
          <a:custGeom>
            <a:avLst/>
            <a:gdLst>
              <a:gd name="T0" fmla="*/ 0 w 287"/>
              <a:gd name="T1" fmla="*/ 140 h 286"/>
              <a:gd name="T2" fmla="*/ 8 w 287"/>
              <a:gd name="T3" fmla="*/ 99 h 286"/>
              <a:gd name="T4" fmla="*/ 26 w 287"/>
              <a:gd name="T5" fmla="*/ 57 h 286"/>
              <a:gd name="T6" fmla="*/ 61 w 287"/>
              <a:gd name="T7" fmla="*/ 26 h 286"/>
              <a:gd name="T8" fmla="*/ 99 w 287"/>
              <a:gd name="T9" fmla="*/ 7 h 286"/>
              <a:gd name="T10" fmla="*/ 145 w 287"/>
              <a:gd name="T11" fmla="*/ 0 h 286"/>
              <a:gd name="T12" fmla="*/ 187 w 287"/>
              <a:gd name="T13" fmla="*/ 7 h 286"/>
              <a:gd name="T14" fmla="*/ 228 w 287"/>
              <a:gd name="T15" fmla="*/ 26 h 286"/>
              <a:gd name="T16" fmla="*/ 259 w 287"/>
              <a:gd name="T17" fmla="*/ 57 h 286"/>
              <a:gd name="T18" fmla="*/ 278 w 287"/>
              <a:gd name="T19" fmla="*/ 99 h 286"/>
              <a:gd name="T20" fmla="*/ 286 w 287"/>
              <a:gd name="T21" fmla="*/ 140 h 286"/>
              <a:gd name="T22" fmla="*/ 278 w 287"/>
              <a:gd name="T23" fmla="*/ 186 h 286"/>
              <a:gd name="T24" fmla="*/ 259 w 287"/>
              <a:gd name="T25" fmla="*/ 224 h 286"/>
              <a:gd name="T26" fmla="*/ 228 w 287"/>
              <a:gd name="T27" fmla="*/ 259 h 286"/>
              <a:gd name="T28" fmla="*/ 187 w 287"/>
              <a:gd name="T29" fmla="*/ 277 h 286"/>
              <a:gd name="T30" fmla="*/ 145 w 287"/>
              <a:gd name="T31" fmla="*/ 285 h 286"/>
              <a:gd name="T32" fmla="*/ 99 w 287"/>
              <a:gd name="T33" fmla="*/ 277 h 286"/>
              <a:gd name="T34" fmla="*/ 61 w 287"/>
              <a:gd name="T35" fmla="*/ 259 h 286"/>
              <a:gd name="T36" fmla="*/ 26 w 287"/>
              <a:gd name="T37" fmla="*/ 224 h 286"/>
              <a:gd name="T38" fmla="*/ 8 w 287"/>
              <a:gd name="T39" fmla="*/ 186 h 286"/>
              <a:gd name="T40" fmla="*/ 0 w 287"/>
              <a:gd name="T41" fmla="*/ 14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7" h="286">
                <a:moveTo>
                  <a:pt x="0" y="140"/>
                </a:moveTo>
                <a:lnTo>
                  <a:pt x="8" y="99"/>
                </a:lnTo>
                <a:lnTo>
                  <a:pt x="26" y="57"/>
                </a:lnTo>
                <a:lnTo>
                  <a:pt x="61" y="26"/>
                </a:lnTo>
                <a:lnTo>
                  <a:pt x="99" y="7"/>
                </a:lnTo>
                <a:lnTo>
                  <a:pt x="145" y="0"/>
                </a:lnTo>
                <a:lnTo>
                  <a:pt x="187" y="7"/>
                </a:lnTo>
                <a:lnTo>
                  <a:pt x="228" y="26"/>
                </a:lnTo>
                <a:lnTo>
                  <a:pt x="259" y="57"/>
                </a:lnTo>
                <a:lnTo>
                  <a:pt x="278" y="99"/>
                </a:lnTo>
                <a:lnTo>
                  <a:pt x="286" y="140"/>
                </a:lnTo>
                <a:lnTo>
                  <a:pt x="278" y="186"/>
                </a:lnTo>
                <a:lnTo>
                  <a:pt x="259" y="224"/>
                </a:lnTo>
                <a:lnTo>
                  <a:pt x="228" y="259"/>
                </a:lnTo>
                <a:lnTo>
                  <a:pt x="187" y="277"/>
                </a:lnTo>
                <a:lnTo>
                  <a:pt x="145" y="285"/>
                </a:lnTo>
                <a:lnTo>
                  <a:pt x="99" y="277"/>
                </a:lnTo>
                <a:lnTo>
                  <a:pt x="61" y="259"/>
                </a:lnTo>
                <a:lnTo>
                  <a:pt x="26" y="224"/>
                </a:lnTo>
                <a:lnTo>
                  <a:pt x="8" y="186"/>
                </a:lnTo>
                <a:lnTo>
                  <a:pt x="0" y="140"/>
                </a:lnTo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1" name="Rectangle 19">
            <a:extLst>
              <a:ext uri="{FF2B5EF4-FFF2-40B4-BE49-F238E27FC236}">
                <a16:creationId xmlns:a16="http://schemas.microsoft.com/office/drawing/2014/main" id="{F5D4C476-3092-E973-7194-0B11DD329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0" y="4110038"/>
            <a:ext cx="18415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12" name="Rectangle 20">
            <a:extLst>
              <a:ext uri="{FF2B5EF4-FFF2-40B4-BE49-F238E27FC236}">
                <a16:creationId xmlns:a16="http://schemas.microsoft.com/office/drawing/2014/main" id="{05C574B5-EB71-0EE3-9555-8CE7AE6D7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2994025"/>
            <a:ext cx="18415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13" name="Rectangle 21">
            <a:extLst>
              <a:ext uri="{FF2B5EF4-FFF2-40B4-BE49-F238E27FC236}">
                <a16:creationId xmlns:a16="http://schemas.microsoft.com/office/drawing/2014/main" id="{48CCD301-A6F3-F7C4-CB34-185A16F55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3054350"/>
            <a:ext cx="184150" cy="9207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14" name="Rectangle 22">
            <a:extLst>
              <a:ext uri="{FF2B5EF4-FFF2-40B4-BE49-F238E27FC236}">
                <a16:creationId xmlns:a16="http://schemas.microsoft.com/office/drawing/2014/main" id="{9B2A59FC-9CA2-8160-C021-4AC045630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3024188"/>
            <a:ext cx="18415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15" name="Freeform 23">
            <a:extLst>
              <a:ext uri="{FF2B5EF4-FFF2-40B4-BE49-F238E27FC236}">
                <a16:creationId xmlns:a16="http://schemas.microsoft.com/office/drawing/2014/main" id="{2151FDD0-F574-792D-7A23-D642A22140CC}"/>
              </a:ext>
            </a:extLst>
          </p:cNvPr>
          <p:cNvSpPr>
            <a:spLocks/>
          </p:cNvSpPr>
          <p:nvPr/>
        </p:nvSpPr>
        <p:spPr bwMode="auto">
          <a:xfrm>
            <a:off x="2286000" y="2438400"/>
            <a:ext cx="6323013" cy="3452813"/>
          </a:xfrm>
          <a:custGeom>
            <a:avLst/>
            <a:gdLst>
              <a:gd name="T0" fmla="*/ 1 w 3983"/>
              <a:gd name="T1" fmla="*/ 0 h 2175"/>
              <a:gd name="T2" fmla="*/ 0 w 3983"/>
              <a:gd name="T3" fmla="*/ 2175 h 2175"/>
              <a:gd name="T4" fmla="*/ 3983 w 3983"/>
              <a:gd name="T5" fmla="*/ 2175 h 2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83" h="2175">
                <a:moveTo>
                  <a:pt x="1" y="0"/>
                </a:moveTo>
                <a:lnTo>
                  <a:pt x="0" y="2175"/>
                </a:lnTo>
                <a:lnTo>
                  <a:pt x="3983" y="2175"/>
                </a:lnTo>
              </a:path>
            </a:pathLst>
          </a:custGeom>
          <a:noFill/>
          <a:ln w="762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6" name="Line 24">
            <a:extLst>
              <a:ext uri="{FF2B5EF4-FFF2-40B4-BE49-F238E27FC236}">
                <a16:creationId xmlns:a16="http://schemas.microsoft.com/office/drawing/2014/main" id="{BE56E3EF-0A8A-9851-0030-D6B1E9DC9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2516188"/>
            <a:ext cx="1587" cy="1587"/>
          </a:xfrm>
          <a:prstGeom prst="line">
            <a:avLst/>
          </a:prstGeom>
          <a:noFill/>
          <a:ln w="76200">
            <a:solidFill>
              <a:srgbClr val="CDCD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17" name="Line 25">
            <a:extLst>
              <a:ext uri="{FF2B5EF4-FFF2-40B4-BE49-F238E27FC236}">
                <a16:creationId xmlns:a16="http://schemas.microsoft.com/office/drawing/2014/main" id="{15748007-FE75-FC13-9F06-DB1E5BBFE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3076575"/>
            <a:ext cx="1587" cy="1588"/>
          </a:xfrm>
          <a:prstGeom prst="line">
            <a:avLst/>
          </a:prstGeom>
          <a:noFill/>
          <a:ln w="76200">
            <a:solidFill>
              <a:srgbClr val="CDCD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18" name="Line 26">
            <a:extLst>
              <a:ext uri="{FF2B5EF4-FFF2-40B4-BE49-F238E27FC236}">
                <a16:creationId xmlns:a16="http://schemas.microsoft.com/office/drawing/2014/main" id="{7E0D5E3B-CF11-3FD6-EE46-E2CF53A73F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3390900"/>
            <a:ext cx="1587" cy="1588"/>
          </a:xfrm>
          <a:prstGeom prst="line">
            <a:avLst/>
          </a:prstGeom>
          <a:noFill/>
          <a:ln w="76200">
            <a:solidFill>
              <a:srgbClr val="CDCD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19" name="Line 27">
            <a:extLst>
              <a:ext uri="{FF2B5EF4-FFF2-40B4-BE49-F238E27FC236}">
                <a16:creationId xmlns:a16="http://schemas.microsoft.com/office/drawing/2014/main" id="{EAB27D53-75A6-275C-9B06-DBDC39819D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3698875"/>
            <a:ext cx="1587" cy="1588"/>
          </a:xfrm>
          <a:prstGeom prst="line">
            <a:avLst/>
          </a:prstGeom>
          <a:noFill/>
          <a:ln w="76200">
            <a:solidFill>
              <a:srgbClr val="CDCD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0" name="Line 28">
            <a:extLst>
              <a:ext uri="{FF2B5EF4-FFF2-40B4-BE49-F238E27FC236}">
                <a16:creationId xmlns:a16="http://schemas.microsoft.com/office/drawing/2014/main" id="{7764AA58-EB78-CD5B-0D80-6B6CE7277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4014788"/>
            <a:ext cx="1587" cy="1587"/>
          </a:xfrm>
          <a:prstGeom prst="line">
            <a:avLst/>
          </a:prstGeom>
          <a:noFill/>
          <a:ln w="76200">
            <a:solidFill>
              <a:srgbClr val="CDCD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1" name="Line 29">
            <a:extLst>
              <a:ext uri="{FF2B5EF4-FFF2-40B4-BE49-F238E27FC236}">
                <a16:creationId xmlns:a16="http://schemas.microsoft.com/office/drawing/2014/main" id="{EB3418B7-5CD7-57EB-44D0-D16543CC3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4329113"/>
            <a:ext cx="1587" cy="1587"/>
          </a:xfrm>
          <a:prstGeom prst="line">
            <a:avLst/>
          </a:prstGeom>
          <a:noFill/>
          <a:ln w="76200">
            <a:solidFill>
              <a:srgbClr val="CDCD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2" name="Line 30">
            <a:extLst>
              <a:ext uri="{FF2B5EF4-FFF2-40B4-BE49-F238E27FC236}">
                <a16:creationId xmlns:a16="http://schemas.microsoft.com/office/drawing/2014/main" id="{63EDAC2B-48C5-7582-0CEA-9B18F57D7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4637088"/>
            <a:ext cx="1587" cy="1587"/>
          </a:xfrm>
          <a:prstGeom prst="line">
            <a:avLst/>
          </a:prstGeom>
          <a:noFill/>
          <a:ln w="76200">
            <a:solidFill>
              <a:srgbClr val="CDCD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3" name="Line 31">
            <a:extLst>
              <a:ext uri="{FF2B5EF4-FFF2-40B4-BE49-F238E27FC236}">
                <a16:creationId xmlns:a16="http://schemas.microsoft.com/office/drawing/2014/main" id="{7CBD981F-E5D0-CDD9-AF8A-02B39F0EC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4951413"/>
            <a:ext cx="1587" cy="1587"/>
          </a:xfrm>
          <a:prstGeom prst="line">
            <a:avLst/>
          </a:prstGeom>
          <a:noFill/>
          <a:ln w="76200">
            <a:solidFill>
              <a:srgbClr val="CDCD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4" name="Line 32">
            <a:extLst>
              <a:ext uri="{FF2B5EF4-FFF2-40B4-BE49-F238E27FC236}">
                <a16:creationId xmlns:a16="http://schemas.microsoft.com/office/drawing/2014/main" id="{D0EAE3EB-059A-C536-7563-1E20A093C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5259388"/>
            <a:ext cx="1587" cy="1587"/>
          </a:xfrm>
          <a:prstGeom prst="line">
            <a:avLst/>
          </a:prstGeom>
          <a:noFill/>
          <a:ln w="76200">
            <a:solidFill>
              <a:srgbClr val="CDCD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5" name="Line 33">
            <a:extLst>
              <a:ext uri="{FF2B5EF4-FFF2-40B4-BE49-F238E27FC236}">
                <a16:creationId xmlns:a16="http://schemas.microsoft.com/office/drawing/2014/main" id="{C255D23C-B878-932F-C341-D6F7B894F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5575300"/>
            <a:ext cx="1587" cy="1588"/>
          </a:xfrm>
          <a:prstGeom prst="line">
            <a:avLst/>
          </a:prstGeom>
          <a:noFill/>
          <a:ln w="76200">
            <a:solidFill>
              <a:srgbClr val="CDCDC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6" name="Rectangle 34">
            <a:extLst>
              <a:ext uri="{FF2B5EF4-FFF2-40B4-BE49-F238E27FC236}">
                <a16:creationId xmlns:a16="http://schemas.microsoft.com/office/drawing/2014/main" id="{38508678-17CB-F146-3113-F0943E307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4237038"/>
            <a:ext cx="920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7" name="Rectangle 35">
            <a:extLst>
              <a:ext uri="{FF2B5EF4-FFF2-40B4-BE49-F238E27FC236}">
                <a16:creationId xmlns:a16="http://schemas.microsoft.com/office/drawing/2014/main" id="{FFAD8274-0E70-66F7-F435-CEDB81612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6164263"/>
            <a:ext cx="18415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8" name="Rectangle 36">
            <a:extLst>
              <a:ext uri="{FF2B5EF4-FFF2-40B4-BE49-F238E27FC236}">
                <a16:creationId xmlns:a16="http://schemas.microsoft.com/office/drawing/2014/main" id="{EBE1ACB4-853B-64B4-616C-2B779C222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67000"/>
            <a:ext cx="20574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Observed Value of Y for X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endParaRPr lang="en-US" altLang="en-US" sz="2400" b="1" baseline="-25000">
              <a:latin typeface="Times New Roman" panose="02020603050405020304" pitchFamily="18" charset="0"/>
            </a:endParaRPr>
          </a:p>
        </p:txBody>
      </p:sp>
      <p:sp>
        <p:nvSpPr>
          <p:cNvPr id="33829" name="AutoShape 37">
            <a:extLst>
              <a:ext uri="{FF2B5EF4-FFF2-40B4-BE49-F238E27FC236}">
                <a16:creationId xmlns:a16="http://schemas.microsoft.com/office/drawing/2014/main" id="{330F791C-C7B2-A3FD-E52F-ECFCFCEE937D}"/>
              </a:ext>
            </a:extLst>
          </p:cNvPr>
          <p:cNvSpPr>
            <a:spLocks/>
          </p:cNvSpPr>
          <p:nvPr/>
        </p:nvSpPr>
        <p:spPr bwMode="auto">
          <a:xfrm>
            <a:off x="2057400" y="489585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30" name="Line 38">
            <a:extLst>
              <a:ext uri="{FF2B5EF4-FFF2-40B4-BE49-F238E27FC236}">
                <a16:creationId xmlns:a16="http://schemas.microsoft.com/office/drawing/2014/main" id="{36ADA0A2-AE17-415F-07E2-BAC80679A1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3505200"/>
            <a:ext cx="1676400" cy="1588"/>
          </a:xfrm>
          <a:prstGeom prst="line">
            <a:avLst/>
          </a:prstGeom>
          <a:noFill/>
          <a:ln w="38100">
            <a:solidFill>
              <a:schemeClr val="hlink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31" name="Line 39">
            <a:extLst>
              <a:ext uri="{FF2B5EF4-FFF2-40B4-BE49-F238E27FC236}">
                <a16:creationId xmlns:a16="http://schemas.microsoft.com/office/drawing/2014/main" id="{911FB671-D79C-ED65-68FD-191B695FB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3048000"/>
            <a:ext cx="1588" cy="457200"/>
          </a:xfrm>
          <a:prstGeom prst="line">
            <a:avLst/>
          </a:prstGeom>
          <a:noFill/>
          <a:ln w="38100">
            <a:solidFill>
              <a:schemeClr val="hlink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32" name="AutoShape 40">
            <a:extLst>
              <a:ext uri="{FF2B5EF4-FFF2-40B4-BE49-F238E27FC236}">
                <a16:creationId xmlns:a16="http://schemas.microsoft.com/office/drawing/2014/main" id="{4CCD4BB1-7D75-1ECF-005F-6669B79827C5}"/>
              </a:ext>
            </a:extLst>
          </p:cNvPr>
          <p:cNvSpPr>
            <a:spLocks/>
          </p:cNvSpPr>
          <p:nvPr/>
        </p:nvSpPr>
        <p:spPr bwMode="auto">
          <a:xfrm flipH="1">
            <a:off x="4097338" y="3219450"/>
            <a:ext cx="152400" cy="990600"/>
          </a:xfrm>
          <a:prstGeom prst="leftBrace">
            <a:avLst>
              <a:gd name="adj1" fmla="val 54167"/>
              <a:gd name="adj2" fmla="val 48958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33" name="Freeform 41">
            <a:extLst>
              <a:ext uri="{FF2B5EF4-FFF2-40B4-BE49-F238E27FC236}">
                <a16:creationId xmlns:a16="http://schemas.microsoft.com/office/drawing/2014/main" id="{094668B5-BDBE-30ED-FD46-74469105CC15}"/>
              </a:ext>
            </a:extLst>
          </p:cNvPr>
          <p:cNvSpPr>
            <a:spLocks/>
          </p:cNvSpPr>
          <p:nvPr/>
        </p:nvSpPr>
        <p:spPr bwMode="auto">
          <a:xfrm>
            <a:off x="3944938" y="4210050"/>
            <a:ext cx="152400" cy="152400"/>
          </a:xfrm>
          <a:custGeom>
            <a:avLst/>
            <a:gdLst>
              <a:gd name="T0" fmla="*/ 0 w 286"/>
              <a:gd name="T1" fmla="*/ 145 h 286"/>
              <a:gd name="T2" fmla="*/ 7 w 286"/>
              <a:gd name="T3" fmla="*/ 99 h 286"/>
              <a:gd name="T4" fmla="*/ 26 w 286"/>
              <a:gd name="T5" fmla="*/ 61 h 286"/>
              <a:gd name="T6" fmla="*/ 61 w 286"/>
              <a:gd name="T7" fmla="*/ 30 h 286"/>
              <a:gd name="T8" fmla="*/ 99 w 286"/>
              <a:gd name="T9" fmla="*/ 8 h 286"/>
              <a:gd name="T10" fmla="*/ 144 w 286"/>
              <a:gd name="T11" fmla="*/ 0 h 286"/>
              <a:gd name="T12" fmla="*/ 186 w 286"/>
              <a:gd name="T13" fmla="*/ 8 h 286"/>
              <a:gd name="T14" fmla="*/ 228 w 286"/>
              <a:gd name="T15" fmla="*/ 30 h 286"/>
              <a:gd name="T16" fmla="*/ 259 w 286"/>
              <a:gd name="T17" fmla="*/ 61 h 286"/>
              <a:gd name="T18" fmla="*/ 278 w 286"/>
              <a:gd name="T19" fmla="*/ 99 h 286"/>
              <a:gd name="T20" fmla="*/ 285 w 286"/>
              <a:gd name="T21" fmla="*/ 145 h 286"/>
              <a:gd name="T22" fmla="*/ 278 w 286"/>
              <a:gd name="T23" fmla="*/ 190 h 286"/>
              <a:gd name="T24" fmla="*/ 259 w 286"/>
              <a:gd name="T25" fmla="*/ 228 h 286"/>
              <a:gd name="T26" fmla="*/ 228 w 286"/>
              <a:gd name="T27" fmla="*/ 259 h 286"/>
              <a:gd name="T28" fmla="*/ 186 w 286"/>
              <a:gd name="T29" fmla="*/ 281 h 286"/>
              <a:gd name="T30" fmla="*/ 144 w 286"/>
              <a:gd name="T31" fmla="*/ 285 h 286"/>
              <a:gd name="T32" fmla="*/ 99 w 286"/>
              <a:gd name="T33" fmla="*/ 281 h 286"/>
              <a:gd name="T34" fmla="*/ 61 w 286"/>
              <a:gd name="T35" fmla="*/ 259 h 286"/>
              <a:gd name="T36" fmla="*/ 26 w 286"/>
              <a:gd name="T37" fmla="*/ 228 h 286"/>
              <a:gd name="T38" fmla="*/ 7 w 286"/>
              <a:gd name="T39" fmla="*/ 190 h 286"/>
              <a:gd name="T40" fmla="*/ 0 w 286"/>
              <a:gd name="T41" fmla="*/ 145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6" h="286">
                <a:moveTo>
                  <a:pt x="0" y="145"/>
                </a:moveTo>
                <a:lnTo>
                  <a:pt x="7" y="99"/>
                </a:lnTo>
                <a:lnTo>
                  <a:pt x="26" y="61"/>
                </a:lnTo>
                <a:lnTo>
                  <a:pt x="61" y="30"/>
                </a:lnTo>
                <a:lnTo>
                  <a:pt x="99" y="8"/>
                </a:lnTo>
                <a:lnTo>
                  <a:pt x="144" y="0"/>
                </a:lnTo>
                <a:lnTo>
                  <a:pt x="186" y="8"/>
                </a:lnTo>
                <a:lnTo>
                  <a:pt x="228" y="30"/>
                </a:lnTo>
                <a:lnTo>
                  <a:pt x="259" y="61"/>
                </a:lnTo>
                <a:lnTo>
                  <a:pt x="278" y="99"/>
                </a:lnTo>
                <a:lnTo>
                  <a:pt x="285" y="145"/>
                </a:lnTo>
                <a:lnTo>
                  <a:pt x="278" y="190"/>
                </a:lnTo>
                <a:lnTo>
                  <a:pt x="259" y="228"/>
                </a:lnTo>
                <a:lnTo>
                  <a:pt x="228" y="259"/>
                </a:lnTo>
                <a:lnTo>
                  <a:pt x="186" y="281"/>
                </a:lnTo>
                <a:lnTo>
                  <a:pt x="144" y="285"/>
                </a:lnTo>
                <a:lnTo>
                  <a:pt x="99" y="281"/>
                </a:lnTo>
                <a:lnTo>
                  <a:pt x="61" y="259"/>
                </a:lnTo>
                <a:lnTo>
                  <a:pt x="26" y="228"/>
                </a:lnTo>
                <a:lnTo>
                  <a:pt x="7" y="190"/>
                </a:lnTo>
                <a:lnTo>
                  <a:pt x="0" y="145"/>
                </a:lnTo>
              </a:path>
            </a:pathLst>
          </a:cu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34" name="Rectangle 42">
            <a:extLst>
              <a:ext uri="{FF2B5EF4-FFF2-40B4-BE49-F238E27FC236}">
                <a16:creationId xmlns:a16="http://schemas.microsoft.com/office/drawing/2014/main" id="{B5F4593F-D2B2-2DB4-AFC9-DC9BA48EB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86200"/>
            <a:ext cx="19812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Predicted Value of Y for X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3835" name="Object 43">
            <a:extLst>
              <a:ext uri="{FF2B5EF4-FFF2-40B4-BE49-F238E27FC236}">
                <a16:creationId xmlns:a16="http://schemas.microsoft.com/office/drawing/2014/main" id="{63F87857-73AC-A8D2-A092-EBAF6C2EEC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78238" y="1905000"/>
          <a:ext cx="38354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040" imgH="228600" progId="Equation.3">
                  <p:embed/>
                </p:oleObj>
              </mc:Choice>
              <mc:Fallback>
                <p:oleObj name="Equation" r:id="rId2" imgW="1130040" imgH="2286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1905000"/>
                        <a:ext cx="3835400" cy="7762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36" name="Text Box 44">
            <a:extLst>
              <a:ext uri="{FF2B5EF4-FFF2-40B4-BE49-F238E27FC236}">
                <a16:creationId xmlns:a16="http://schemas.microsoft.com/office/drawing/2014/main" id="{FBDB30A5-1CB5-F41C-268C-2F721C060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8674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X</a:t>
            </a:r>
            <a:r>
              <a:rPr lang="en-US" altLang="en-US" sz="2400" baseline="-25000"/>
              <a:t>i</a:t>
            </a:r>
          </a:p>
        </p:txBody>
      </p:sp>
      <p:sp>
        <p:nvSpPr>
          <p:cNvPr id="33837" name="Freeform 45">
            <a:extLst>
              <a:ext uri="{FF2B5EF4-FFF2-40B4-BE49-F238E27FC236}">
                <a16:creationId xmlns:a16="http://schemas.microsoft.com/office/drawing/2014/main" id="{5D42EA4C-E524-71FE-C737-EFB1D3704610}"/>
              </a:ext>
            </a:extLst>
          </p:cNvPr>
          <p:cNvSpPr>
            <a:spLocks/>
          </p:cNvSpPr>
          <p:nvPr/>
        </p:nvSpPr>
        <p:spPr bwMode="auto">
          <a:xfrm>
            <a:off x="3792538" y="2762250"/>
            <a:ext cx="455612" cy="454025"/>
          </a:xfrm>
          <a:custGeom>
            <a:avLst/>
            <a:gdLst>
              <a:gd name="T0" fmla="*/ 0 w 287"/>
              <a:gd name="T1" fmla="*/ 144 h 286"/>
              <a:gd name="T2" fmla="*/ 8 w 287"/>
              <a:gd name="T3" fmla="*/ 99 h 286"/>
              <a:gd name="T4" fmla="*/ 26 w 287"/>
              <a:gd name="T5" fmla="*/ 61 h 286"/>
              <a:gd name="T6" fmla="*/ 61 w 287"/>
              <a:gd name="T7" fmla="*/ 30 h 286"/>
              <a:gd name="T8" fmla="*/ 99 w 287"/>
              <a:gd name="T9" fmla="*/ 8 h 286"/>
              <a:gd name="T10" fmla="*/ 145 w 287"/>
              <a:gd name="T11" fmla="*/ 0 h 286"/>
              <a:gd name="T12" fmla="*/ 187 w 287"/>
              <a:gd name="T13" fmla="*/ 8 h 286"/>
              <a:gd name="T14" fmla="*/ 228 w 287"/>
              <a:gd name="T15" fmla="*/ 30 h 286"/>
              <a:gd name="T16" fmla="*/ 259 w 287"/>
              <a:gd name="T17" fmla="*/ 61 h 286"/>
              <a:gd name="T18" fmla="*/ 278 w 287"/>
              <a:gd name="T19" fmla="*/ 99 h 286"/>
              <a:gd name="T20" fmla="*/ 286 w 287"/>
              <a:gd name="T21" fmla="*/ 144 h 286"/>
              <a:gd name="T22" fmla="*/ 278 w 287"/>
              <a:gd name="T23" fmla="*/ 190 h 286"/>
              <a:gd name="T24" fmla="*/ 259 w 287"/>
              <a:gd name="T25" fmla="*/ 228 h 286"/>
              <a:gd name="T26" fmla="*/ 228 w 287"/>
              <a:gd name="T27" fmla="*/ 259 h 286"/>
              <a:gd name="T28" fmla="*/ 187 w 287"/>
              <a:gd name="T29" fmla="*/ 281 h 286"/>
              <a:gd name="T30" fmla="*/ 145 w 287"/>
              <a:gd name="T31" fmla="*/ 285 h 286"/>
              <a:gd name="T32" fmla="*/ 99 w 287"/>
              <a:gd name="T33" fmla="*/ 281 h 286"/>
              <a:gd name="T34" fmla="*/ 61 w 287"/>
              <a:gd name="T35" fmla="*/ 259 h 286"/>
              <a:gd name="T36" fmla="*/ 26 w 287"/>
              <a:gd name="T37" fmla="*/ 228 h 286"/>
              <a:gd name="T38" fmla="*/ 8 w 287"/>
              <a:gd name="T39" fmla="*/ 190 h 286"/>
              <a:gd name="T40" fmla="*/ 0 w 287"/>
              <a:gd name="T41" fmla="*/ 144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7" h="286">
                <a:moveTo>
                  <a:pt x="0" y="144"/>
                </a:moveTo>
                <a:lnTo>
                  <a:pt x="8" y="99"/>
                </a:lnTo>
                <a:lnTo>
                  <a:pt x="26" y="61"/>
                </a:lnTo>
                <a:lnTo>
                  <a:pt x="61" y="30"/>
                </a:lnTo>
                <a:lnTo>
                  <a:pt x="99" y="8"/>
                </a:lnTo>
                <a:lnTo>
                  <a:pt x="145" y="0"/>
                </a:lnTo>
                <a:lnTo>
                  <a:pt x="187" y="8"/>
                </a:lnTo>
                <a:lnTo>
                  <a:pt x="228" y="30"/>
                </a:lnTo>
                <a:lnTo>
                  <a:pt x="259" y="61"/>
                </a:lnTo>
                <a:lnTo>
                  <a:pt x="278" y="99"/>
                </a:lnTo>
                <a:lnTo>
                  <a:pt x="286" y="144"/>
                </a:lnTo>
                <a:lnTo>
                  <a:pt x="278" y="190"/>
                </a:lnTo>
                <a:lnTo>
                  <a:pt x="259" y="228"/>
                </a:lnTo>
                <a:lnTo>
                  <a:pt x="228" y="259"/>
                </a:lnTo>
                <a:lnTo>
                  <a:pt x="187" y="281"/>
                </a:lnTo>
                <a:lnTo>
                  <a:pt x="145" y="285"/>
                </a:lnTo>
                <a:lnTo>
                  <a:pt x="99" y="281"/>
                </a:lnTo>
                <a:lnTo>
                  <a:pt x="61" y="259"/>
                </a:lnTo>
                <a:lnTo>
                  <a:pt x="26" y="228"/>
                </a:lnTo>
                <a:lnTo>
                  <a:pt x="8" y="190"/>
                </a:lnTo>
                <a:lnTo>
                  <a:pt x="0" y="144"/>
                </a:lnTo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38" name="Line 46">
            <a:extLst>
              <a:ext uri="{FF2B5EF4-FFF2-40B4-BE49-F238E27FC236}">
                <a16:creationId xmlns:a16="http://schemas.microsoft.com/office/drawing/2014/main" id="{547E9FD2-DE5F-0B4B-7A61-9C419CF6C60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48200" y="38100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3839" name="Line 47">
            <a:extLst>
              <a:ext uri="{FF2B5EF4-FFF2-40B4-BE49-F238E27FC236}">
                <a16:creationId xmlns:a16="http://schemas.microsoft.com/office/drawing/2014/main" id="{299458AE-33B4-278C-C4E0-38C343B7F2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667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3840" name="Rectangle 48">
            <a:extLst>
              <a:ext uri="{FF2B5EF4-FFF2-40B4-BE49-F238E27FC236}">
                <a16:creationId xmlns:a16="http://schemas.microsoft.com/office/drawing/2014/main" id="{9D199C4C-3ECA-5754-3E31-D8EF90B05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429000"/>
            <a:ext cx="16764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en-US" sz="2400">
                <a:latin typeface="Times New Roman" panose="02020603050405020304" pitchFamily="18" charset="0"/>
              </a:rPr>
              <a:t>Slope = </a:t>
            </a:r>
            <a:r>
              <a:rPr lang="el-GR" altLang="en-US" sz="2400">
                <a:latin typeface="Times New Roman" panose="02020603050405020304" pitchFamily="18" charset="0"/>
                <a:cs typeface="Arial" panose="020B0604020202020204" pitchFamily="34" charset="0"/>
              </a:rPr>
              <a:t>β</a:t>
            </a:r>
            <a:r>
              <a:rPr lang="en-US" altLang="en-US" sz="2400" baseline="-2500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l-GR" altLang="en-US" sz="2400" baseline="-250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3841" name="Rectangle 49">
            <a:extLst>
              <a:ext uri="{FF2B5EF4-FFF2-40B4-BE49-F238E27FC236}">
                <a16:creationId xmlns:a16="http://schemas.microsoft.com/office/drawing/2014/main" id="{821FA3C8-A62B-F7F6-CE45-9074D61D5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105400"/>
            <a:ext cx="18288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Intercept = </a:t>
            </a:r>
            <a:r>
              <a:rPr lang="el-GR" altLang="en-US" sz="2000">
                <a:latin typeface="Times New Roman" panose="02020603050405020304" pitchFamily="18" charset="0"/>
                <a:cs typeface="Arial" panose="020B0604020202020204" pitchFamily="34" charset="0"/>
              </a:rPr>
              <a:t>β</a:t>
            </a:r>
            <a:r>
              <a:rPr lang="en-US" altLang="en-US" sz="2000" baseline="-2500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33842" name="Text Box 50">
            <a:extLst>
              <a:ext uri="{FF2B5EF4-FFF2-40B4-BE49-F238E27FC236}">
                <a16:creationId xmlns:a16="http://schemas.microsoft.com/office/drawing/2014/main" id="{81DD9598-475B-AF2F-BB24-ED79CE420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352800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l-GR" altLang="en-US" sz="3200">
                <a:cs typeface="Arial" panose="020B0604020202020204" pitchFamily="34" charset="0"/>
              </a:rPr>
              <a:t>ε</a:t>
            </a:r>
            <a:r>
              <a:rPr lang="en-US" altLang="en-US" sz="3200" baseline="-25000">
                <a:cs typeface="Arial" panose="020B0604020202020204" pitchFamily="34" charset="0"/>
              </a:rPr>
              <a:t>i</a:t>
            </a:r>
            <a:endParaRPr lang="el-GR" altLang="en-US" sz="3200" baseline="-250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0E4F3B6-7D93-A98A-1A97-6EE37EEF5A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E6DBDF2-B535-2294-5C4A-07AD4DA5A4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D058B7A7-E7C4-406F-A56C-D5BFC7DC153D}" type="slidenum">
              <a:rPr lang="en-US" altLang="en-US"/>
              <a:pPr/>
              <a:t>11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E0E55A29-FBDA-0228-3C8C-0CBC85588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Equation</a:t>
            </a:r>
          </a:p>
        </p:txBody>
      </p:sp>
      <p:graphicFrame>
        <p:nvGraphicFramePr>
          <p:cNvPr id="34820" name="Object 4">
            <a:extLst>
              <a:ext uri="{FF2B5EF4-FFF2-40B4-BE49-F238E27FC236}">
                <a16:creationId xmlns:a16="http://schemas.microsoft.com/office/drawing/2014/main" id="{B66BE485-BDD9-D083-AF3D-0616C106D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5863" y="4427538"/>
          <a:ext cx="3848100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253800" progId="Equation.3">
                  <p:embed/>
                </p:oleObj>
              </mc:Choice>
              <mc:Fallback>
                <p:oleObj name="Equation" r:id="rId2" imgW="888840" imgH="25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3" y="4427538"/>
                        <a:ext cx="3848100" cy="11033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Text Box 5">
            <a:extLst>
              <a:ext uri="{FF2B5EF4-FFF2-40B4-BE49-F238E27FC236}">
                <a16:creationId xmlns:a16="http://schemas.microsoft.com/office/drawing/2014/main" id="{C724E201-0051-74AC-9E91-4A5240403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905000"/>
            <a:ext cx="7086600" cy="8223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>
                <a:latin typeface="Times New Roman" panose="02020603050405020304" pitchFamily="18" charset="0"/>
              </a:rPr>
              <a:t>The simple linear regression equation provides an estimate of the population regression line</a:t>
            </a: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FFD5AC31-590C-7E8E-F4D6-763DC6672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111500"/>
            <a:ext cx="18288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Estimate of the regression 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intercept</a:t>
            </a:r>
            <a:endParaRPr lang="en-US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71AEFBF5-7706-3472-C853-CA6F77C90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187700"/>
            <a:ext cx="20574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Estimate of the regression slope</a:t>
            </a:r>
            <a:br>
              <a:rPr lang="en-US" altLang="en-US" sz="2000">
                <a:latin typeface="Times New Roman" panose="02020603050405020304" pitchFamily="18" charset="0"/>
              </a:rPr>
            </a:br>
            <a:endParaRPr lang="en-US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4824" name="Line 8">
            <a:extLst>
              <a:ext uri="{FF2B5EF4-FFF2-40B4-BE49-F238E27FC236}">
                <a16:creationId xmlns:a16="http://schemas.microsoft.com/office/drawing/2014/main" id="{3F7C6F0C-E161-FDAF-AEA1-95BA002713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102100"/>
            <a:ext cx="76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5" name="Line 9">
            <a:extLst>
              <a:ext uri="{FF2B5EF4-FFF2-40B4-BE49-F238E27FC236}">
                <a16:creationId xmlns:a16="http://schemas.microsoft.com/office/drawing/2014/main" id="{C1357771-9589-58A8-4338-06CC2A352A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3873500"/>
            <a:ext cx="2286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6" name="Rectangle 10">
            <a:extLst>
              <a:ext uri="{FF2B5EF4-FFF2-40B4-BE49-F238E27FC236}">
                <a16:creationId xmlns:a16="http://schemas.microsoft.com/office/drawing/2014/main" id="{C3F26721-AA38-725F-810A-9A0E86BCA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806700"/>
            <a:ext cx="1752600" cy="130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Estimated  (or predicted) Y value for observation i</a:t>
            </a:r>
            <a:endParaRPr lang="en-US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4827" name="Line 11">
            <a:extLst>
              <a:ext uri="{FF2B5EF4-FFF2-40B4-BE49-F238E27FC236}">
                <a16:creationId xmlns:a16="http://schemas.microsoft.com/office/drawing/2014/main" id="{492115E3-C44F-0D26-CE0D-452EF89E6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102100"/>
            <a:ext cx="457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8" name="Rectangle 12">
            <a:extLst>
              <a:ext uri="{FF2B5EF4-FFF2-40B4-BE49-F238E27FC236}">
                <a16:creationId xmlns:a16="http://schemas.microsoft.com/office/drawing/2014/main" id="{AE0DE603-9498-3B42-CC87-EDD933E16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254500"/>
            <a:ext cx="17526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Value of X for observation i</a:t>
            </a:r>
          </a:p>
        </p:txBody>
      </p:sp>
      <p:sp>
        <p:nvSpPr>
          <p:cNvPr id="34829" name="Line 13">
            <a:extLst>
              <a:ext uri="{FF2B5EF4-FFF2-40B4-BE49-F238E27FC236}">
                <a16:creationId xmlns:a16="http://schemas.microsoft.com/office/drawing/2014/main" id="{9C3C9251-AEF5-48D7-3ECB-ED0B03DFFB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4635500"/>
            <a:ext cx="533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285484E-25CD-3E38-6AB0-2FA631F1C0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7E635E-884F-E315-B77C-321335923D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9615B68E-29FB-4375-B244-2A5705A4D5D8}" type="slidenum">
              <a:rPr lang="en-US" altLang="en-US"/>
              <a:pPr/>
              <a:t>12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A42C9AF8-74EF-0BBF-9E7C-C90A722D1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Least Squares Method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6388FCB-6427-2410-7173-82A50C3D3AC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1981200"/>
            <a:ext cx="7162800" cy="1600200"/>
          </a:xfrm>
          <a:noFill/>
          <a:ln/>
        </p:spPr>
        <p:txBody>
          <a:bodyPr lIns="85342" tIns="42672" rIns="85342" bIns="42672"/>
          <a:lstStyle/>
          <a:p>
            <a:pPr>
              <a:lnSpc>
                <a:spcPct val="130000"/>
              </a:lnSpc>
            </a:pPr>
            <a:r>
              <a:rPr lang="en-US" altLang="en-US" sz="2400"/>
              <a:t>b</a:t>
            </a:r>
            <a:r>
              <a:rPr lang="en-US" altLang="en-US" sz="2400" baseline="-25000"/>
              <a:t>0</a:t>
            </a:r>
            <a:r>
              <a:rPr lang="en-US" altLang="en-US" sz="2400"/>
              <a:t>  and  b</a:t>
            </a:r>
            <a:r>
              <a:rPr lang="en-US" altLang="en-US" sz="2400" baseline="-25000"/>
              <a:t>1</a:t>
            </a:r>
            <a:r>
              <a:rPr lang="en-US" altLang="en-US" sz="2400"/>
              <a:t>  are obtained by finding the values of  b</a:t>
            </a:r>
            <a:r>
              <a:rPr lang="en-US" altLang="en-US" sz="2400" baseline="-25000"/>
              <a:t>0</a:t>
            </a:r>
            <a:r>
              <a:rPr lang="en-US" altLang="en-US" sz="2400"/>
              <a:t>  and  b</a:t>
            </a:r>
            <a:r>
              <a:rPr lang="en-US" altLang="en-US" sz="2400" baseline="-25000"/>
              <a:t>1</a:t>
            </a:r>
            <a:r>
              <a:rPr lang="en-US" altLang="en-US" sz="2400"/>
              <a:t>  that minimize the sum of the squared differences between Y and     :</a:t>
            </a:r>
          </a:p>
        </p:txBody>
      </p:sp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0298E36D-13FC-70E7-D0F8-12D5E2D363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088" y="4191000"/>
          <a:ext cx="80835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30240" imgH="266400" progId="Equation.3">
                  <p:embed/>
                </p:oleObj>
              </mc:Choice>
              <mc:Fallback>
                <p:oleObj name="Equation" r:id="rId2" imgW="2730240" imgH="266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4191000"/>
                        <a:ext cx="8083550" cy="7858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>
            <a:extLst>
              <a:ext uri="{FF2B5EF4-FFF2-40B4-BE49-F238E27FC236}">
                <a16:creationId xmlns:a16="http://schemas.microsoft.com/office/drawing/2014/main" id="{4B0250E6-332E-ECD2-8375-62562532E736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5410200" y="3048000"/>
          <a:ext cx="2857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03040" progId="Equation.3">
                  <p:embed/>
                </p:oleObj>
              </mc:Choice>
              <mc:Fallback>
                <p:oleObj name="Equation" r:id="rId4" imgW="15228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048000"/>
                        <a:ext cx="2857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DF5160E-DF4E-4CF6-4E54-62239F2D54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4086FB8-8830-D797-7EB7-9F7AB2FD15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788FF5F7-73D1-4871-BD42-26D08DBC04C3}" type="slidenum">
              <a:rPr lang="en-US" altLang="en-US"/>
              <a:pPr/>
              <a:t>13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441E7D3C-74A7-2E9F-D6E2-74927C55A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Finding the Least Squares Equation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FF5CD84D-C266-253E-3F1C-D54997016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2057400"/>
            <a:ext cx="8077200" cy="1447800"/>
          </a:xfrm>
          <a:noFill/>
          <a:ln/>
        </p:spPr>
        <p:txBody>
          <a:bodyPr lIns="85342" tIns="42672" rIns="85342" bIns="42672"/>
          <a:lstStyle/>
          <a:p>
            <a:pPr>
              <a:spcBef>
                <a:spcPct val="40000"/>
              </a:spcBef>
            </a:pPr>
            <a:r>
              <a:rPr lang="en-US" altLang="en-US"/>
              <a:t>The coefficients  b</a:t>
            </a:r>
            <a:r>
              <a:rPr lang="en-US" altLang="en-US" baseline="-25000"/>
              <a:t>0</a:t>
            </a:r>
            <a:r>
              <a:rPr lang="en-US" altLang="en-US"/>
              <a:t>  and  b</a:t>
            </a:r>
            <a:r>
              <a:rPr lang="en-US" altLang="en-US" baseline="-25000"/>
              <a:t>1</a:t>
            </a:r>
            <a:r>
              <a:rPr lang="en-US" altLang="en-US"/>
              <a:t> , and other regression results in this chapter, will be found using Excel</a:t>
            </a: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3C787F54-DF2B-8228-661C-94A78F24F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733800"/>
            <a:ext cx="502920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Formulas are shown in the text for those who are interested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395560E-D796-DB00-5FB9-7ECD5D52D7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410D4B5-6990-95BD-6794-96EEA03836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5EA38784-F708-4758-9719-CDADD9ED01A8}" type="slidenum">
              <a:rPr lang="en-US" altLang="en-US"/>
              <a:pPr/>
              <a:t>14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83C1578E-1BB0-EBFF-3724-26E4AC11A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Interpretation of the </a:t>
            </a:r>
            <a:br>
              <a:rPr lang="en-US" altLang="en-US"/>
            </a:br>
            <a:r>
              <a:rPr lang="en-US" altLang="en-US"/>
              <a:t>Intercept and the Slope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F0769D82-FBDF-2913-FC03-52133BF67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7800" y="2209800"/>
            <a:ext cx="7239000" cy="2667000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altLang="en-US"/>
              <a:t>b</a:t>
            </a:r>
            <a:r>
              <a:rPr lang="en-US" altLang="en-US" baseline="-25000"/>
              <a:t>0</a:t>
            </a:r>
            <a:r>
              <a:rPr lang="en-US" altLang="en-US"/>
              <a:t> is the estimated mean value of Y when the value of X is zero</a:t>
            </a:r>
          </a:p>
          <a:p>
            <a:endParaRPr lang="en-US" altLang="en-US"/>
          </a:p>
          <a:p>
            <a:r>
              <a:rPr lang="en-US" altLang="en-US"/>
              <a:t>b</a:t>
            </a:r>
            <a:r>
              <a:rPr lang="en-US" altLang="en-US" baseline="-25000"/>
              <a:t>1</a:t>
            </a:r>
            <a:r>
              <a:rPr lang="en-US" altLang="en-US"/>
              <a:t> is the estimated change in the mean value of Y for every one-unit change in 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B0DF2E7-1DAD-7504-AAAD-E3F20D0693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A2727A4-2D51-D817-2E97-C0660563A6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6C0B8170-A3D6-4565-8F52-4C864A925079}" type="slidenum">
              <a:rPr lang="en-US" altLang="en-US"/>
              <a:pPr/>
              <a:t>15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8C74B9DA-8330-AC8B-DB18-D1B7A4461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3D4BC6CD-5480-C79F-55CC-F1FDE672F0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981200"/>
            <a:ext cx="7010400" cy="3810000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altLang="en-US"/>
              <a:t>A real estate agent wishes to examine the relationship between the selling price of a home and its size (measured in square feet)</a:t>
            </a:r>
          </a:p>
          <a:p>
            <a:endParaRPr lang="en-US" altLang="en-US"/>
          </a:p>
          <a:p>
            <a:r>
              <a:rPr lang="en-US" altLang="en-US"/>
              <a:t>A random sample of 10 houses is selected</a:t>
            </a:r>
          </a:p>
          <a:p>
            <a:pPr lvl="1"/>
            <a:r>
              <a:rPr lang="en-US" altLang="en-US"/>
              <a:t>Dependent variable (Y) = house price in $1000s</a:t>
            </a:r>
          </a:p>
          <a:p>
            <a:pPr lvl="1"/>
            <a:r>
              <a:rPr lang="en-US" altLang="en-US"/>
              <a:t>Independent variable (X) = square feet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B6FA596-CB22-7E48-E39E-DEFA49B4C1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92036B5-3CF5-42F0-0EA9-500FF0302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18F86B06-94EC-4844-9DC9-AA672AD6917E}" type="slidenum">
              <a:rPr lang="en-US" altLang="en-US"/>
              <a:pPr/>
              <a:t>16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7FBF8028-7C8C-A4B8-9A66-4121888E9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  <a:br>
              <a:rPr lang="en-US" altLang="en-US"/>
            </a:br>
            <a:r>
              <a:rPr lang="en-US" altLang="en-US"/>
              <a:t>Data</a:t>
            </a:r>
          </a:p>
        </p:txBody>
      </p:sp>
      <p:graphicFrame>
        <p:nvGraphicFramePr>
          <p:cNvPr id="39985" name="Group 49">
            <a:extLst>
              <a:ext uri="{FF2B5EF4-FFF2-40B4-BE49-F238E27FC236}">
                <a16:creationId xmlns:a16="http://schemas.microsoft.com/office/drawing/2014/main" id="{62ECE01E-E78C-0156-0B12-AF89E6437C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00200" y="1828800"/>
          <a:ext cx="7010400" cy="4480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607948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65840386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House Price in $1000s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(Y)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DAF7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Square Feet 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(X)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850283"/>
                  </a:ext>
                </a:extLst>
              </a:tr>
              <a:tr h="33972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965892"/>
                  </a:ext>
                </a:extLst>
              </a:tr>
              <a:tr h="33813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32188"/>
                  </a:ext>
                </a:extLst>
              </a:tr>
              <a:tr h="33813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279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996112"/>
                  </a:ext>
                </a:extLst>
              </a:tr>
              <a:tr h="33972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308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1875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190466"/>
                  </a:ext>
                </a:extLst>
              </a:tr>
              <a:tr h="33813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671295"/>
                  </a:ext>
                </a:extLst>
              </a:tr>
              <a:tr h="33813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1550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724808"/>
                  </a:ext>
                </a:extLst>
              </a:tr>
              <a:tr h="33972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405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2350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1937"/>
                  </a:ext>
                </a:extLst>
              </a:tr>
              <a:tr h="33813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2450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105417"/>
                  </a:ext>
                </a:extLst>
              </a:tr>
              <a:tr h="33813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1425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151056"/>
                  </a:ext>
                </a:extLst>
              </a:tr>
              <a:tr h="33972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255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7547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3608840-CAD9-D2E1-C2A4-CCA1AF5601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E21D53B-0F91-E2CB-DB86-F4558654F8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19AA4354-0155-4799-8311-53BCC73E5F3F}" type="slidenum">
              <a:rPr lang="en-US" altLang="en-US"/>
              <a:pPr/>
              <a:t>17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70B7564D-3375-A307-F43A-9E02F2F7B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  <a:br>
              <a:rPr lang="en-US" altLang="en-US"/>
            </a:br>
            <a:r>
              <a:rPr lang="en-US" altLang="en-US"/>
              <a:t>Scatterplot</a:t>
            </a:r>
          </a:p>
        </p:txBody>
      </p:sp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DB371E1D-AE90-BC37-DF74-214063525E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2286000"/>
          <a:ext cx="5715000" cy="388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562600" imgH="3781552" progId="Excel.Chart.8">
                  <p:embed/>
                </p:oleObj>
              </mc:Choice>
              <mc:Fallback>
                <p:oleObj name="Chart" r:id="rId2" imgW="5562600" imgH="3781552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286000"/>
                        <a:ext cx="5715000" cy="388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CC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Rectangle 5">
            <a:extLst>
              <a:ext uri="{FF2B5EF4-FFF2-40B4-BE49-F238E27FC236}">
                <a16:creationId xmlns:a16="http://schemas.microsoft.com/office/drawing/2014/main" id="{986F703F-78FF-F4C5-2009-530FF559A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905000"/>
            <a:ext cx="5791200" cy="1174750"/>
          </a:xfrm>
          <a:noFill/>
          <a:ln/>
        </p:spPr>
        <p:txBody>
          <a:bodyPr lIns="85342" tIns="42672" rIns="85342" bIns="42672"/>
          <a:lstStyle/>
          <a:p>
            <a:r>
              <a:rPr lang="en-US" altLang="en-US"/>
              <a:t>House price model:  scatter plot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7421695-849D-E854-6B5A-B12A12BC32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85D1133-8731-9AB9-2ABE-ABCEC479E9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5F99A1E7-822E-405D-90C2-5C5E6E67D28E}" type="slidenum">
              <a:rPr lang="en-US" altLang="en-US"/>
              <a:pPr/>
              <a:t>18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BF185978-8555-3D10-416E-B5FEE481D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  <a:br>
              <a:rPr lang="en-US" altLang="en-US"/>
            </a:br>
            <a:r>
              <a:rPr lang="en-US" altLang="en-US"/>
              <a:t>Using Excel</a:t>
            </a:r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A6DC6CB1-A90C-1DCE-9351-889FCC6FA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828800"/>
            <a:ext cx="61722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89" name="Rectangle 5">
            <a:extLst>
              <a:ext uri="{FF2B5EF4-FFF2-40B4-BE49-F238E27FC236}">
                <a16:creationId xmlns:a16="http://schemas.microsoft.com/office/drawing/2014/main" id="{3187D5F1-7DE7-86F2-DBF1-71EC85214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362200"/>
            <a:ext cx="2057400" cy="2057400"/>
          </a:xfrm>
          <a:solidFill>
            <a:schemeClr val="accent1"/>
          </a:solidFill>
          <a:ln/>
        </p:spPr>
        <p:txBody>
          <a:bodyPr lIns="85342" tIns="42672" rIns="85342" bIns="42672"/>
          <a:lstStyle/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Tools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--------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Data Analysis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--------</a:t>
            </a: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Regression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3DC1587-560A-E336-9A6E-A639CB02E8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182860F-ABDA-723F-B32D-77C936B90A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800F7E9F-E145-4B80-9ED4-85C990FA53D4}" type="slidenum">
              <a:rPr lang="en-US" altLang="en-US"/>
              <a:pPr/>
              <a:t>19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38532D88-1B9A-1A0C-50D1-07645BA6E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  <a:br>
              <a:rPr lang="en-US" altLang="en-US"/>
            </a:br>
            <a:r>
              <a:rPr lang="en-US" altLang="en-US"/>
              <a:t>Excel Output</a:t>
            </a:r>
          </a:p>
        </p:txBody>
      </p:sp>
      <p:graphicFrame>
        <p:nvGraphicFramePr>
          <p:cNvPr id="44162" name="Group 130">
            <a:extLst>
              <a:ext uri="{FF2B5EF4-FFF2-40B4-BE49-F238E27FC236}">
                <a16:creationId xmlns:a16="http://schemas.microsoft.com/office/drawing/2014/main" id="{73DA9837-2ECA-CC08-C4D3-44B57219669C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905000"/>
          <a:ext cx="8001000" cy="4318000"/>
        </p:xfrm>
        <a:graphic>
          <a:graphicData uri="http://schemas.openxmlformats.org/drawingml/2006/table">
            <a:tbl>
              <a:tblPr/>
              <a:tblGrid>
                <a:gridCol w="1555750">
                  <a:extLst>
                    <a:ext uri="{9D8B030D-6E8A-4147-A177-3AD203B41FA5}">
                      <a16:colId xmlns:a16="http://schemas.microsoft.com/office/drawing/2014/main" val="661598264"/>
                    </a:ext>
                  </a:extLst>
                </a:gridCol>
                <a:gridCol w="1036638">
                  <a:extLst>
                    <a:ext uri="{9D8B030D-6E8A-4147-A177-3AD203B41FA5}">
                      <a16:colId xmlns:a16="http://schemas.microsoft.com/office/drawing/2014/main" val="2077695495"/>
                    </a:ext>
                  </a:extLst>
                </a:gridCol>
                <a:gridCol w="1408112">
                  <a:extLst>
                    <a:ext uri="{9D8B030D-6E8A-4147-A177-3AD203B41FA5}">
                      <a16:colId xmlns:a16="http://schemas.microsoft.com/office/drawing/2014/main" val="594663502"/>
                    </a:ext>
                  </a:extLst>
                </a:gridCol>
                <a:gridCol w="1049338">
                  <a:extLst>
                    <a:ext uri="{9D8B030D-6E8A-4147-A177-3AD203B41FA5}">
                      <a16:colId xmlns:a16="http://schemas.microsoft.com/office/drawing/2014/main" val="3041479551"/>
                    </a:ext>
                  </a:extLst>
                </a:gridCol>
                <a:gridCol w="769937">
                  <a:extLst>
                    <a:ext uri="{9D8B030D-6E8A-4147-A177-3AD203B41FA5}">
                      <a16:colId xmlns:a16="http://schemas.microsoft.com/office/drawing/2014/main" val="3863061266"/>
                    </a:ext>
                  </a:extLst>
                </a:gridCol>
                <a:gridCol w="1217613">
                  <a:extLst>
                    <a:ext uri="{9D8B030D-6E8A-4147-A177-3AD203B41FA5}">
                      <a16:colId xmlns:a16="http://schemas.microsoft.com/office/drawing/2014/main" val="306930258"/>
                    </a:ext>
                  </a:extLst>
                </a:gridCol>
                <a:gridCol w="963612">
                  <a:extLst>
                    <a:ext uri="{9D8B030D-6E8A-4147-A177-3AD203B41FA5}">
                      <a16:colId xmlns:a16="http://schemas.microsoft.com/office/drawing/2014/main" val="3272443787"/>
                    </a:ext>
                  </a:extLst>
                </a:gridCol>
              </a:tblGrid>
              <a:tr h="255588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 Statistics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152511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Multiple 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0.76211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559700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 Square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0.58082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559059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Adjusted R Square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0.52842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518063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41.33032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60388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775725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40557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ANOVA</a:t>
                      </a:r>
                    </a:p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Significance 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36759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18934.9348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18934.9348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11.0848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919917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Residual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13665.5652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1708.1957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925135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Total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32600.5000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240584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412856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830634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98.24833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58.03348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1.69296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0.12892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-35.57720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232.07386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618535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Square Feet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0.10977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0.03297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3.32938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0.03374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0.18580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174029"/>
                  </a:ext>
                </a:extLst>
              </a:tr>
            </a:tbl>
          </a:graphicData>
        </a:graphic>
      </p:graphicFrame>
      <p:sp>
        <p:nvSpPr>
          <p:cNvPr id="44154" name="Oval 122">
            <a:extLst>
              <a:ext uri="{FF2B5EF4-FFF2-40B4-BE49-F238E27FC236}">
                <a16:creationId xmlns:a16="http://schemas.microsoft.com/office/drawing/2014/main" id="{CD84CD13-DC2B-ECF9-E2D7-13F8129D5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181600"/>
            <a:ext cx="3124200" cy="1371600"/>
          </a:xfrm>
          <a:prstGeom prst="ellipse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4155" name="Line 123">
            <a:extLst>
              <a:ext uri="{FF2B5EF4-FFF2-40B4-BE49-F238E27FC236}">
                <a16:creationId xmlns:a16="http://schemas.microsoft.com/office/drawing/2014/main" id="{509576C2-4825-CEC6-5222-77B659CCFE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2667000"/>
            <a:ext cx="1752600" cy="2514600"/>
          </a:xfrm>
          <a:prstGeom prst="line">
            <a:avLst/>
          </a:prstGeom>
          <a:noFill/>
          <a:ln w="28575">
            <a:solidFill>
              <a:schemeClr val="bg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4156" name="Text Box 124">
            <a:extLst>
              <a:ext uri="{FF2B5EF4-FFF2-40B4-BE49-F238E27FC236}">
                <a16:creationId xmlns:a16="http://schemas.microsoft.com/office/drawing/2014/main" id="{86314CA4-8A85-2AB8-9DC9-17D90A14D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8288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The regression equation is:</a:t>
            </a:r>
          </a:p>
        </p:txBody>
      </p:sp>
      <p:graphicFrame>
        <p:nvGraphicFramePr>
          <p:cNvPr id="44160" name="Object 128">
            <a:extLst>
              <a:ext uri="{FF2B5EF4-FFF2-40B4-BE49-F238E27FC236}">
                <a16:creationId xmlns:a16="http://schemas.microsoft.com/office/drawing/2014/main" id="{96DB4F9D-3BB7-02EB-DDC7-1D3703753AAF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3429000" y="2286000"/>
          <a:ext cx="548640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203040" progId="Equation.3">
                  <p:embed/>
                </p:oleObj>
              </mc:Choice>
              <mc:Fallback>
                <p:oleObj name="Equation" r:id="rId2" imgW="3200400" imgH="203040" progId="Equation.3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286000"/>
                        <a:ext cx="548640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9E51B22-B12D-87DB-D05D-58749AA536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7DFC2DD-9B5A-149D-A6CB-E33DEFC38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F9DB0B1B-F96E-4027-8B40-48D9826BEDCE}" type="slidenum">
              <a:rPr lang="en-US" altLang="en-US"/>
              <a:pPr/>
              <a:t>20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9FEEF0D3-77F3-E2DF-D234-21AAE81C24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  <a:br>
              <a:rPr lang="en-US" altLang="en-US"/>
            </a:br>
            <a:r>
              <a:rPr lang="en-US" altLang="en-US"/>
              <a:t>Graphical Representation</a:t>
            </a:r>
          </a:p>
        </p:txBody>
      </p:sp>
      <p:graphicFrame>
        <p:nvGraphicFramePr>
          <p:cNvPr id="45060" name="Object 4">
            <a:extLst>
              <a:ext uri="{FF2B5EF4-FFF2-40B4-BE49-F238E27FC236}">
                <a16:creationId xmlns:a16="http://schemas.microsoft.com/office/drawing/2014/main" id="{E70A99CF-3C16-1B0F-08D7-80A23585C1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514600"/>
          <a:ext cx="4876800" cy="331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562600" imgH="3781552" progId="Excel.Chart.8">
                  <p:embed/>
                </p:oleObj>
              </mc:Choice>
              <mc:Fallback>
                <p:oleObj name="Chart" r:id="rId2" imgW="5562600" imgH="3781552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514600"/>
                        <a:ext cx="4876800" cy="331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CC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Rectangle 5">
            <a:extLst>
              <a:ext uri="{FF2B5EF4-FFF2-40B4-BE49-F238E27FC236}">
                <a16:creationId xmlns:a16="http://schemas.microsoft.com/office/drawing/2014/main" id="{4480FF2F-B2F7-D829-2C80-2D1320DFD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715000"/>
            <a:ext cx="6019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DE0BD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145E5488-488E-8827-B02F-C469E16CA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868488"/>
            <a:ext cx="8077200" cy="722312"/>
          </a:xfrm>
          <a:noFill/>
          <a:ln/>
        </p:spPr>
        <p:txBody>
          <a:bodyPr lIns="85342" tIns="42672" rIns="85342" bIns="42672"/>
          <a:lstStyle/>
          <a:p>
            <a:r>
              <a:rPr lang="en-US" altLang="en-US"/>
              <a:t>House price model:  scatter plot and regression line</a:t>
            </a:r>
          </a:p>
        </p:txBody>
      </p:sp>
      <p:graphicFrame>
        <p:nvGraphicFramePr>
          <p:cNvPr id="45063" name="Object 7">
            <a:extLst>
              <a:ext uri="{FF2B5EF4-FFF2-40B4-BE49-F238E27FC236}">
                <a16:creationId xmlns:a16="http://schemas.microsoft.com/office/drawing/2014/main" id="{2091CCEC-D4B0-07AF-3E73-6581D1207D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5943600"/>
          <a:ext cx="5735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203040" progId="Equation.3">
                  <p:embed/>
                </p:oleObj>
              </mc:Choice>
              <mc:Fallback>
                <p:oleObj name="Equation" r:id="rId4" imgW="320040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943600"/>
                        <a:ext cx="5735638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D5D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Line 8">
            <a:extLst>
              <a:ext uri="{FF2B5EF4-FFF2-40B4-BE49-F238E27FC236}">
                <a16:creationId xmlns:a16="http://schemas.microsoft.com/office/drawing/2014/main" id="{8D1CBDC2-A9F6-2661-FD2E-32D95E8C05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3886200"/>
            <a:ext cx="1676400" cy="762000"/>
          </a:xfrm>
          <a:prstGeom prst="line">
            <a:avLst/>
          </a:prstGeom>
          <a:noFill/>
          <a:ln w="12700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45066" name="Rectangle 10">
            <a:extLst>
              <a:ext uri="{FF2B5EF4-FFF2-40B4-BE49-F238E27FC236}">
                <a16:creationId xmlns:a16="http://schemas.microsoft.com/office/drawing/2014/main" id="{B44E58DE-B123-E2B2-C516-E6BBF062B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124200"/>
            <a:ext cx="1371600" cy="717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Slope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= 0.10977</a:t>
            </a:r>
            <a:endParaRPr lang="en-US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45067" name="Rectangle 11">
            <a:extLst>
              <a:ext uri="{FF2B5EF4-FFF2-40B4-BE49-F238E27FC236}">
                <a16:creationId xmlns:a16="http://schemas.microsoft.com/office/drawing/2014/main" id="{07AF26E5-9899-C453-4033-5274B6C4D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1219200" cy="68738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Intercept 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= 98.248  </a:t>
            </a:r>
          </a:p>
        </p:txBody>
      </p:sp>
      <p:sp>
        <p:nvSpPr>
          <p:cNvPr id="45068" name="Line 12">
            <a:extLst>
              <a:ext uri="{FF2B5EF4-FFF2-40B4-BE49-F238E27FC236}">
                <a16:creationId xmlns:a16="http://schemas.microsoft.com/office/drawing/2014/main" id="{15B17F2E-306E-863D-D9F9-8256171E5A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2438400"/>
            <a:ext cx="1676400" cy="762000"/>
          </a:xfrm>
          <a:prstGeom prst="line">
            <a:avLst/>
          </a:prstGeom>
          <a:noFill/>
          <a:ln w="12700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45069" name="Freeform 13">
            <a:extLst>
              <a:ext uri="{FF2B5EF4-FFF2-40B4-BE49-F238E27FC236}">
                <a16:creationId xmlns:a16="http://schemas.microsoft.com/office/drawing/2014/main" id="{F4618FCA-29F9-9227-0091-EFD02773D90D}"/>
              </a:ext>
            </a:extLst>
          </p:cNvPr>
          <p:cNvSpPr>
            <a:spLocks/>
          </p:cNvSpPr>
          <p:nvPr/>
        </p:nvSpPr>
        <p:spPr bwMode="auto">
          <a:xfrm>
            <a:off x="6629400" y="3048000"/>
            <a:ext cx="609600" cy="457200"/>
          </a:xfrm>
          <a:custGeom>
            <a:avLst/>
            <a:gdLst>
              <a:gd name="T0" fmla="*/ 384 w 384"/>
              <a:gd name="T1" fmla="*/ 288 h 288"/>
              <a:gd name="T2" fmla="*/ 96 w 384"/>
              <a:gd name="T3" fmla="*/ 240 h 288"/>
              <a:gd name="T4" fmla="*/ 0 w 384"/>
              <a:gd name="T5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4" h="288">
                <a:moveTo>
                  <a:pt x="384" y="288"/>
                </a:moveTo>
                <a:cubicBezTo>
                  <a:pt x="272" y="288"/>
                  <a:pt x="160" y="288"/>
                  <a:pt x="96" y="240"/>
                </a:cubicBezTo>
                <a:cubicBezTo>
                  <a:pt x="32" y="192"/>
                  <a:pt x="16" y="96"/>
                  <a:pt x="0" y="0"/>
                </a:cubicBezTo>
              </a:path>
            </a:pathLst>
          </a:custGeom>
          <a:noFill/>
          <a:ln w="19050" cap="flat" cmpd="sng">
            <a:solidFill>
              <a:schemeClr val="bg2"/>
            </a:solidFill>
            <a:prstDash val="solid"/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IN"/>
          </a:p>
        </p:txBody>
      </p:sp>
      <p:sp>
        <p:nvSpPr>
          <p:cNvPr id="45070" name="Freeform 14">
            <a:extLst>
              <a:ext uri="{FF2B5EF4-FFF2-40B4-BE49-F238E27FC236}">
                <a16:creationId xmlns:a16="http://schemas.microsoft.com/office/drawing/2014/main" id="{90614C53-7252-3AB7-7614-D2D7C772A707}"/>
              </a:ext>
            </a:extLst>
          </p:cNvPr>
          <p:cNvSpPr>
            <a:spLocks/>
          </p:cNvSpPr>
          <p:nvPr/>
        </p:nvSpPr>
        <p:spPr bwMode="auto">
          <a:xfrm>
            <a:off x="2514600" y="4572000"/>
            <a:ext cx="762000" cy="635000"/>
          </a:xfrm>
          <a:custGeom>
            <a:avLst/>
            <a:gdLst>
              <a:gd name="T0" fmla="*/ 0 w 480"/>
              <a:gd name="T1" fmla="*/ 384 h 400"/>
              <a:gd name="T2" fmla="*/ 384 w 480"/>
              <a:gd name="T3" fmla="*/ 336 h 400"/>
              <a:gd name="T4" fmla="*/ 480 w 480"/>
              <a:gd name="T5" fmla="*/ 0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0" h="400">
                <a:moveTo>
                  <a:pt x="0" y="384"/>
                </a:moveTo>
                <a:cubicBezTo>
                  <a:pt x="152" y="392"/>
                  <a:pt x="304" y="400"/>
                  <a:pt x="384" y="336"/>
                </a:cubicBezTo>
                <a:cubicBezTo>
                  <a:pt x="464" y="272"/>
                  <a:pt x="464" y="56"/>
                  <a:pt x="480" y="0"/>
                </a:cubicBezTo>
              </a:path>
            </a:pathLst>
          </a:custGeom>
          <a:noFill/>
          <a:ln w="19050" cap="flat" cmpd="sng">
            <a:solidFill>
              <a:schemeClr val="bg2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D2C4869-9380-E258-1A8E-295D83588A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F4AEEB1-5C7C-AD76-59B8-674BA651E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263CCB54-CA1D-4E29-869C-A598C71FAC85}" type="slidenum">
              <a:rPr lang="en-US" altLang="en-US"/>
              <a:pPr/>
              <a:t>21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BBA669AB-04AB-9035-4DDF-48A7995DA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  <a:br>
              <a:rPr lang="en-US" altLang="en-US"/>
            </a:br>
            <a:r>
              <a:rPr lang="en-US" altLang="en-US"/>
              <a:t>Interpretation of b</a:t>
            </a:r>
            <a:r>
              <a:rPr lang="en-US" altLang="en-US" baseline="-25000"/>
              <a:t>0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83CB6B62-6CE1-B43B-6B7D-60263C6E2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895600"/>
            <a:ext cx="8077200" cy="2306638"/>
          </a:xfrm>
          <a:solidFill>
            <a:schemeClr val="accent1"/>
          </a:solidFill>
          <a:ln/>
        </p:spPr>
        <p:txBody>
          <a:bodyPr lIns="85342" tIns="42672" rIns="85342" bIns="42672">
            <a:spAutoFit/>
          </a:bodyPr>
          <a:lstStyle/>
          <a:p>
            <a:r>
              <a:rPr lang="en-US" altLang="en-US"/>
              <a:t>b</a:t>
            </a:r>
            <a:r>
              <a:rPr lang="en-US" altLang="en-US" baseline="-25000"/>
              <a:t>0</a:t>
            </a:r>
            <a:r>
              <a:rPr lang="en-US" altLang="en-US"/>
              <a:t> is the estimated mean value of Y when the value of X is zero (if X = 0 is in the range of observed X values)</a:t>
            </a:r>
          </a:p>
          <a:p>
            <a:r>
              <a:rPr lang="en-US" altLang="en-US"/>
              <a:t>Because the square footage of the house cannot be 0, the Y intercept has no practical application.</a:t>
            </a:r>
          </a:p>
        </p:txBody>
      </p:sp>
      <p:graphicFrame>
        <p:nvGraphicFramePr>
          <p:cNvPr id="46085" name="Object 5">
            <a:extLst>
              <a:ext uri="{FF2B5EF4-FFF2-40B4-BE49-F238E27FC236}">
                <a16:creationId xmlns:a16="http://schemas.microsoft.com/office/drawing/2014/main" id="{B369F62F-BE84-B10F-2584-79698FFC8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057400"/>
          <a:ext cx="80010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203040" progId="Equation.3">
                  <p:embed/>
                </p:oleObj>
              </mc:Choice>
              <mc:Fallback>
                <p:oleObj name="Equation" r:id="rId2" imgW="320040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057400"/>
                        <a:ext cx="80010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45BB78E-086E-033B-CD18-A3CD23DCD0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AD7D9F2-CFB4-A461-893E-A2AE25A11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5A3C71C1-3527-43D4-805D-A68CBA98BC10}" type="slidenum">
              <a:rPr lang="en-US" altLang="en-US"/>
              <a:pPr/>
              <a:t>22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73AD4975-D554-093D-B1BA-89ACB5D7F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  <a:br>
              <a:rPr lang="en-US" altLang="en-US"/>
            </a:br>
            <a:r>
              <a:rPr lang="en-US" altLang="en-US"/>
              <a:t>Interpretation of b</a:t>
            </a:r>
            <a:r>
              <a:rPr lang="en-US" altLang="en-US" baseline="-25000"/>
              <a:t>1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E38838AA-9BE0-3DAE-75F7-1BBB1F4B9A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3048000"/>
            <a:ext cx="8077200" cy="2306638"/>
          </a:xfrm>
          <a:noFill/>
          <a:ln/>
        </p:spPr>
        <p:txBody>
          <a:bodyPr lIns="85342" tIns="42672" rIns="85342" bIns="42672">
            <a:spAutoFit/>
          </a:bodyPr>
          <a:lstStyle/>
          <a:p>
            <a:r>
              <a:rPr lang="en-US" altLang="en-US"/>
              <a:t>b</a:t>
            </a:r>
            <a:r>
              <a:rPr lang="en-US" altLang="en-US" baseline="-25000"/>
              <a:t>1</a:t>
            </a:r>
            <a:r>
              <a:rPr lang="en-US" altLang="en-US"/>
              <a:t> measures the mean change in the average value of Y as a result of a one-unit change in X</a:t>
            </a:r>
          </a:p>
          <a:p>
            <a:r>
              <a:rPr lang="en-US" altLang="en-US"/>
              <a:t>Here, b</a:t>
            </a:r>
            <a:r>
              <a:rPr lang="en-US" altLang="en-US" baseline="-25000"/>
              <a:t>1</a:t>
            </a:r>
            <a:r>
              <a:rPr lang="en-US" altLang="en-US"/>
              <a:t> = .10977 tells us that the mean value of a house increases by .10977($1000) = $109.77, on average, for each additional one square foot of size</a:t>
            </a:r>
          </a:p>
        </p:txBody>
      </p:sp>
      <p:graphicFrame>
        <p:nvGraphicFramePr>
          <p:cNvPr id="50181" name="Object 5">
            <a:extLst>
              <a:ext uri="{FF2B5EF4-FFF2-40B4-BE49-F238E27FC236}">
                <a16:creationId xmlns:a16="http://schemas.microsoft.com/office/drawing/2014/main" id="{3A2050E6-DA21-9DB6-3A74-AFD0F6FA79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133600"/>
          <a:ext cx="80010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203040" progId="Equation.3">
                  <p:embed/>
                </p:oleObj>
              </mc:Choice>
              <mc:Fallback>
                <p:oleObj name="Equation" r:id="rId2" imgW="320040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133600"/>
                        <a:ext cx="80010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F62BE39-2A82-9FD6-2C62-FEB0BC34E1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6112047-923E-A178-610F-6AE77D25BF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0E73D4FC-1769-414F-9230-FD9347E57064}" type="slidenum">
              <a:rPr lang="en-US" altLang="en-US"/>
              <a:pPr/>
              <a:t>23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6AF46F3A-658A-CD7D-B031-F211DAED25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  <a:br>
              <a:rPr lang="en-US" altLang="en-US"/>
            </a:br>
            <a:r>
              <a:rPr lang="en-US" altLang="en-US"/>
              <a:t>Making Predictions</a:t>
            </a:r>
            <a:endParaRPr lang="en-US" altLang="en-US" baseline="-25000"/>
          </a:p>
        </p:txBody>
      </p:sp>
      <p:graphicFrame>
        <p:nvGraphicFramePr>
          <p:cNvPr id="51204" name="Object 4">
            <a:extLst>
              <a:ext uri="{FF2B5EF4-FFF2-40B4-BE49-F238E27FC236}">
                <a16:creationId xmlns:a16="http://schemas.microsoft.com/office/drawing/2014/main" id="{C4728FA5-ECE0-D487-F7DC-5A749EE16F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743200"/>
          <a:ext cx="5791200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876240" progId="Equation.3">
                  <p:embed/>
                </p:oleObj>
              </mc:Choice>
              <mc:Fallback>
                <p:oleObj name="Equation" r:id="rId2" imgW="2438280" imgH="876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743200"/>
                        <a:ext cx="5791200" cy="211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Rectangle 5">
            <a:extLst>
              <a:ext uri="{FF2B5EF4-FFF2-40B4-BE49-F238E27FC236}">
                <a16:creationId xmlns:a16="http://schemas.microsoft.com/office/drawing/2014/main" id="{F089DEC1-54C6-CB30-5527-0517B22DC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981200"/>
            <a:ext cx="7620000" cy="5159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Predict the price for a house with 2000 square feet:</a:t>
            </a: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F1901E26-5622-9DFD-B8A2-649BC4FAE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105400"/>
            <a:ext cx="7924800" cy="9429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The predicted price for a house with 2000 square feet is 317.85($1,000s) = $317,850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9C6EF44-F2BC-83F2-E720-6A657C973F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D40CA7F-5524-7587-6969-92A2C56EE3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EE8D4FCA-C3D3-4542-A396-3E8857DFEBF9}" type="slidenum">
              <a:rPr lang="en-US" altLang="en-US"/>
              <a:pPr/>
              <a:t>24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F9DACF15-B2F9-7851-B2B5-F40E5A560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Measures of Variation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0943F490-43D2-1017-FE6D-04FDA399FC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676400"/>
            <a:ext cx="7010400" cy="671513"/>
          </a:xfrm>
          <a:noFill/>
          <a:ln/>
        </p:spPr>
        <p:txBody>
          <a:bodyPr lIns="85342" tIns="42672" rIns="85342" bIns="42672"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/>
              <a:t>Total variation is made up of two parts:</a:t>
            </a:r>
          </a:p>
        </p:txBody>
      </p:sp>
      <p:graphicFrame>
        <p:nvGraphicFramePr>
          <p:cNvPr id="53253" name="Object 5">
            <a:extLst>
              <a:ext uri="{FF2B5EF4-FFF2-40B4-BE49-F238E27FC236}">
                <a16:creationId xmlns:a16="http://schemas.microsoft.com/office/drawing/2014/main" id="{FE469191-464F-82DF-AF34-90FE5914C2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362200"/>
          <a:ext cx="58578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177480" progId="Equation.3">
                  <p:embed/>
                </p:oleObj>
              </mc:Choice>
              <mc:Fallback>
                <p:oleObj name="Equation" r:id="rId2" imgW="1688760" imgH="177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585787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Rectangle 6">
            <a:extLst>
              <a:ext uri="{FF2B5EF4-FFF2-40B4-BE49-F238E27FC236}">
                <a16:creationId xmlns:a16="http://schemas.microsoft.com/office/drawing/2014/main" id="{F09FAFDA-E4BA-A3C0-4AF4-8FDBE96C5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124200"/>
            <a:ext cx="1600200" cy="762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600" b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5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2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Total Sum of Squares</a:t>
            </a:r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AB9830DC-9DF7-E95A-84DD-460C694E9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124200"/>
            <a:ext cx="2057400" cy="762000"/>
          </a:xfrm>
          <a:prstGeom prst="rect">
            <a:avLst/>
          </a:prstGeom>
          <a:solidFill>
            <a:srgbClr val="99CCFF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600" b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5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2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Regression Sum of Squares</a:t>
            </a:r>
          </a:p>
        </p:txBody>
      </p:sp>
      <p:sp>
        <p:nvSpPr>
          <p:cNvPr id="53256" name="Rectangle 8">
            <a:extLst>
              <a:ext uri="{FF2B5EF4-FFF2-40B4-BE49-F238E27FC236}">
                <a16:creationId xmlns:a16="http://schemas.microsoft.com/office/drawing/2014/main" id="{2AB1011B-3B2C-D8DC-3A02-B313B0122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124200"/>
            <a:ext cx="2057400" cy="762000"/>
          </a:xfrm>
          <a:prstGeom prst="rect">
            <a:avLst/>
          </a:prstGeom>
          <a:solidFill>
            <a:srgbClr val="00CCFF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600" b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5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2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Error Sum of Squares</a:t>
            </a:r>
          </a:p>
        </p:txBody>
      </p:sp>
      <p:graphicFrame>
        <p:nvGraphicFramePr>
          <p:cNvPr id="53257" name="Object 9">
            <a:extLst>
              <a:ext uri="{FF2B5EF4-FFF2-40B4-BE49-F238E27FC236}">
                <a16:creationId xmlns:a16="http://schemas.microsoft.com/office/drawing/2014/main" id="{E6C282D8-6210-D7DF-AA02-845D806A57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4191000"/>
          <a:ext cx="28336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266400" progId="Equation.3">
                  <p:embed/>
                </p:oleObj>
              </mc:Choice>
              <mc:Fallback>
                <p:oleObj name="Equation" r:id="rId4" imgW="1244520" imgH="266400" progId="Equation.3">
                  <p:embed/>
                  <p:pic>
                    <p:nvPicPr>
                      <p:cNvPr id="0" name="Object 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91000"/>
                        <a:ext cx="2833688" cy="6032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>
            <a:extLst>
              <a:ext uri="{FF2B5EF4-FFF2-40B4-BE49-F238E27FC236}">
                <a16:creationId xmlns:a16="http://schemas.microsoft.com/office/drawing/2014/main" id="{F25AFB69-F90E-E284-4483-1B2DF721CD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4191000"/>
          <a:ext cx="286067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266400" progId="Equation.3">
                  <p:embed/>
                </p:oleObj>
              </mc:Choice>
              <mc:Fallback>
                <p:oleObj name="Equation" r:id="rId6" imgW="1257120" imgH="266400" progId="Equation.3">
                  <p:embed/>
                  <p:pic>
                    <p:nvPicPr>
                      <p:cNvPr id="0" name="Object 1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191000"/>
                        <a:ext cx="2860675" cy="604838"/>
                      </a:xfrm>
                      <a:prstGeom prst="rect">
                        <a:avLst/>
                      </a:prstGeom>
                      <a:solidFill>
                        <a:srgbClr val="00C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11">
            <a:extLst>
              <a:ext uri="{FF2B5EF4-FFF2-40B4-BE49-F238E27FC236}">
                <a16:creationId xmlns:a16="http://schemas.microsoft.com/office/drawing/2014/main" id="{5E1F75CB-2B27-975F-D12B-1972305229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191000"/>
          <a:ext cx="27622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120" imgH="266400" progId="Equation.3">
                  <p:embed/>
                </p:oleObj>
              </mc:Choice>
              <mc:Fallback>
                <p:oleObj name="Equation" r:id="rId8" imgW="1257120" imgH="266400" progId="Equation.3">
                  <p:embed/>
                  <p:pic>
                    <p:nvPicPr>
                      <p:cNvPr id="0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191000"/>
                        <a:ext cx="2762250" cy="58261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0" name="Rectangle 12">
            <a:extLst>
              <a:ext uri="{FF2B5EF4-FFF2-40B4-BE49-F238E27FC236}">
                <a16:creationId xmlns:a16="http://schemas.microsoft.com/office/drawing/2014/main" id="{E00B049B-6DDA-1904-8CA8-5E864C612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800600"/>
            <a:ext cx="6324600" cy="147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where: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>
                <a:latin typeface="Times New Roman" panose="02020603050405020304" pitchFamily="18" charset="0"/>
              </a:rPr>
              <a:t>	</a:t>
            </a:r>
            <a:r>
              <a:rPr lang="en-US" altLang="en-US" i="1">
                <a:latin typeface="Times New Roman" panose="02020603050405020304" pitchFamily="18" charset="0"/>
              </a:rPr>
              <a:t>  </a:t>
            </a:r>
            <a:r>
              <a:rPr lang="en-US" altLang="en-US">
                <a:latin typeface="Times New Roman" panose="02020603050405020304" pitchFamily="18" charset="0"/>
              </a:rPr>
              <a:t>  = Mean value of the dependent variable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>
                <a:latin typeface="Times New Roman" panose="02020603050405020304" pitchFamily="18" charset="0"/>
              </a:rPr>
              <a:t>	</a:t>
            </a:r>
            <a:r>
              <a:rPr lang="en-US" altLang="en-US" sz="2000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 = Observed values of the dependent variable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>
                <a:latin typeface="Times New Roman" panose="02020603050405020304" pitchFamily="18" charset="0"/>
              </a:rPr>
              <a:t>	  </a:t>
            </a:r>
            <a:r>
              <a:rPr lang="en-US" altLang="en-US" baseline="-25000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  = Predicted value of Y for the given X</a:t>
            </a:r>
            <a:r>
              <a:rPr lang="en-US" altLang="en-US" baseline="-25000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 value</a:t>
            </a:r>
          </a:p>
        </p:txBody>
      </p:sp>
      <p:graphicFrame>
        <p:nvGraphicFramePr>
          <p:cNvPr id="53261" name="Object 13">
            <a:extLst>
              <a:ext uri="{FF2B5EF4-FFF2-40B4-BE49-F238E27FC236}">
                <a16:creationId xmlns:a16="http://schemas.microsoft.com/office/drawing/2014/main" id="{1CFD8FA0-D462-14AC-1336-2D02462EA1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5867400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80" imgH="203040" progId="Equation.3">
                  <p:embed/>
                </p:oleObj>
              </mc:Choice>
              <mc:Fallback>
                <p:oleObj name="Equation" r:id="rId10" imgW="152280" imgH="203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867400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2" name="Object 14">
            <a:extLst>
              <a:ext uri="{FF2B5EF4-FFF2-40B4-BE49-F238E27FC236}">
                <a16:creationId xmlns:a16="http://schemas.microsoft.com/office/drawing/2014/main" id="{B5C7F6F8-20CB-D0B3-C260-DF8F003037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5105400"/>
          <a:ext cx="2889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80" imgH="203040" progId="Equation.3">
                  <p:embed/>
                </p:oleObj>
              </mc:Choice>
              <mc:Fallback>
                <p:oleObj name="Equation" r:id="rId12" imgW="15228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105400"/>
                        <a:ext cx="288925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470171A-0981-C6DB-55AC-C21560CD1B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0929EA0-E9A3-8DAD-28B5-679DC7381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6248FCEA-5A33-418C-B38E-A0818E5D52BA}" type="slidenum">
              <a:rPr lang="en-US" altLang="en-US"/>
              <a:pPr/>
              <a:t>25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253E8CDA-34EE-B56E-123C-5F73A9CE4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Measures of Variation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0EB59288-EB7D-CB69-196E-B59A6E530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SST = total sum of squares </a:t>
            </a:r>
          </a:p>
          <a:p>
            <a:pPr lvl="1"/>
            <a:r>
              <a:rPr lang="en-US" altLang="en-US"/>
              <a:t>Measures the variation of the Y</a:t>
            </a:r>
            <a:r>
              <a:rPr lang="en-US" altLang="en-US" baseline="-25000"/>
              <a:t>i</a:t>
            </a:r>
            <a:r>
              <a:rPr lang="en-US" altLang="en-US"/>
              <a:t> values around their mean Y</a:t>
            </a:r>
          </a:p>
          <a:p>
            <a:r>
              <a:rPr lang="en-US" altLang="en-US"/>
              <a:t>SSR = regression sum of squares </a:t>
            </a:r>
          </a:p>
          <a:p>
            <a:pPr lvl="1"/>
            <a:r>
              <a:rPr lang="en-US" altLang="en-US"/>
              <a:t>Explained variation attributable to the relationship between X and Y</a:t>
            </a:r>
          </a:p>
          <a:p>
            <a:r>
              <a:rPr lang="en-US" altLang="en-US"/>
              <a:t>SSE = error sum of squares </a:t>
            </a:r>
          </a:p>
          <a:p>
            <a:pPr lvl="1"/>
            <a:r>
              <a:rPr lang="en-US" altLang="en-US"/>
              <a:t>Variation attributable to factors other than the relationship between X and 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69A529A-AFED-A9AD-A58E-2100415FDC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70448AB-9F98-840C-86E7-A772EE5A7A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B71F256E-496D-416F-BFEF-B53FBC9F8234}" type="slidenum">
              <a:rPr lang="en-US" altLang="en-US"/>
              <a:pPr/>
              <a:t>26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D16BFD7D-3497-C9B9-C8EB-70F38D217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Measures of Variation</a:t>
            </a:r>
          </a:p>
        </p:txBody>
      </p:sp>
      <p:sp>
        <p:nvSpPr>
          <p:cNvPr id="55301" name="Line 5">
            <a:extLst>
              <a:ext uri="{FF2B5EF4-FFF2-40B4-BE49-F238E27FC236}">
                <a16:creationId xmlns:a16="http://schemas.microsoft.com/office/drawing/2014/main" id="{09177321-EE18-5B18-28F1-23D5397A48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" y="462756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2" name="Line 6">
            <a:extLst>
              <a:ext uri="{FF2B5EF4-FFF2-40B4-BE49-F238E27FC236}">
                <a16:creationId xmlns:a16="http://schemas.microsoft.com/office/drawing/2014/main" id="{AC21810B-0478-50D0-EF77-E863BA1D15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" y="2189163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D811EA12-1BC1-D6A9-6FEE-BF0FC81EC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413" y="3960813"/>
            <a:ext cx="685800" cy="442912"/>
          </a:xfrm>
          <a:prstGeom prst="rect">
            <a:avLst/>
          </a:prstGeom>
          <a:solidFill>
            <a:srgbClr val="99CCFF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55304" name="Rectangle 8">
            <a:extLst>
              <a:ext uri="{FF2B5EF4-FFF2-40B4-BE49-F238E27FC236}">
                <a16:creationId xmlns:a16="http://schemas.microsoft.com/office/drawing/2014/main" id="{70D2376D-BBC1-7B0D-6C88-B6DA64229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336800"/>
            <a:ext cx="685800" cy="442913"/>
          </a:xfrm>
          <a:prstGeom prst="rect">
            <a:avLst/>
          </a:prstGeom>
          <a:solidFill>
            <a:srgbClr val="00CCFF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55305" name="Rectangle 9">
            <a:extLst>
              <a:ext uri="{FF2B5EF4-FFF2-40B4-BE49-F238E27FC236}">
                <a16:creationId xmlns:a16="http://schemas.microsoft.com/office/drawing/2014/main" id="{D10255D7-29BD-294E-A2C4-2492FB0A5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74988"/>
            <a:ext cx="685800" cy="444500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55306" name="Line 10">
            <a:extLst>
              <a:ext uri="{FF2B5EF4-FFF2-40B4-BE49-F238E27FC236}">
                <a16:creationId xmlns:a16="http://schemas.microsoft.com/office/drawing/2014/main" id="{AD2B1099-1889-B66B-F23E-B2CD6E2E8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819275"/>
            <a:ext cx="0" cy="40338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7" name="Line 11">
            <a:extLst>
              <a:ext uri="{FF2B5EF4-FFF2-40B4-BE49-F238E27FC236}">
                <a16:creationId xmlns:a16="http://schemas.microsoft.com/office/drawing/2014/main" id="{F2277FC4-3DB8-1F6D-8684-BFCEF5C97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5883275"/>
            <a:ext cx="76390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8" name="Line 12">
            <a:extLst>
              <a:ext uri="{FF2B5EF4-FFF2-40B4-BE49-F238E27FC236}">
                <a16:creationId xmlns:a16="http://schemas.microsoft.com/office/drawing/2014/main" id="{D4BE7B94-41A2-A91D-C75E-75E5EDB795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9675" y="2425700"/>
            <a:ext cx="6269038" cy="2630488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9" name="Oval 13">
            <a:extLst>
              <a:ext uri="{FF2B5EF4-FFF2-40B4-BE49-F238E27FC236}">
                <a16:creationId xmlns:a16="http://schemas.microsoft.com/office/drawing/2014/main" id="{551ED9E6-32E1-3991-99C1-B8C6ABACE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041525"/>
            <a:ext cx="304800" cy="295275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10" name="Line 14">
            <a:extLst>
              <a:ext uri="{FF2B5EF4-FFF2-40B4-BE49-F238E27FC236}">
                <a16:creationId xmlns:a16="http://schemas.microsoft.com/office/drawing/2014/main" id="{81A2B293-346F-17D6-2C49-530267E26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360613"/>
            <a:ext cx="0" cy="2247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11" name="Rectangle 15">
            <a:extLst>
              <a:ext uri="{FF2B5EF4-FFF2-40B4-BE49-F238E27FC236}">
                <a16:creationId xmlns:a16="http://schemas.microsoft.com/office/drawing/2014/main" id="{431BEB32-C34C-36BC-854B-109573546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388" y="5884863"/>
            <a:ext cx="8350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X</a:t>
            </a:r>
            <a:r>
              <a:rPr lang="en-US" altLang="en-US" sz="2400" b="1" baseline="-25000"/>
              <a:t>i</a:t>
            </a:r>
          </a:p>
        </p:txBody>
      </p:sp>
      <p:sp>
        <p:nvSpPr>
          <p:cNvPr id="55312" name="Line 16">
            <a:extLst>
              <a:ext uri="{FF2B5EF4-FFF2-40B4-BE49-F238E27FC236}">
                <a16:creationId xmlns:a16="http://schemas.microsoft.com/office/drawing/2014/main" id="{78F98A85-4880-CECF-8EF1-94C8EEEB9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913" y="4627563"/>
            <a:ext cx="7170737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13" name="Rectangle 17">
            <a:extLst>
              <a:ext uri="{FF2B5EF4-FFF2-40B4-BE49-F238E27FC236}">
                <a16:creationId xmlns:a16="http://schemas.microsoft.com/office/drawing/2014/main" id="{2ADDFAF8-1B5D-DFA5-29F8-AEF008318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405313"/>
            <a:ext cx="4667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bg2"/>
                </a:solidFill>
              </a:rPr>
              <a:t>Y</a:t>
            </a:r>
          </a:p>
        </p:txBody>
      </p:sp>
      <p:sp>
        <p:nvSpPr>
          <p:cNvPr id="55314" name="Rectangle 18">
            <a:extLst>
              <a:ext uri="{FF2B5EF4-FFF2-40B4-BE49-F238E27FC236}">
                <a16:creationId xmlns:a16="http://schemas.microsoft.com/office/drawing/2014/main" id="{5B608B38-504D-8070-3606-32DD27282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5735638"/>
            <a:ext cx="46672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/>
              <a:t>X</a:t>
            </a:r>
          </a:p>
        </p:txBody>
      </p:sp>
      <p:sp>
        <p:nvSpPr>
          <p:cNvPr id="55315" name="Rectangle 19">
            <a:extLst>
              <a:ext uri="{FF2B5EF4-FFF2-40B4-BE49-F238E27FC236}">
                <a16:creationId xmlns:a16="http://schemas.microsoft.com/office/drawing/2014/main" id="{3BC45EAC-F42E-5F92-A595-34F6D6C97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93888"/>
            <a:ext cx="77152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/>
              <a:t>Y</a:t>
            </a:r>
            <a:r>
              <a:rPr lang="en-US" altLang="en-US" sz="2800" b="1" baseline="-25000"/>
              <a:t>i</a:t>
            </a:r>
          </a:p>
        </p:txBody>
      </p:sp>
      <p:sp>
        <p:nvSpPr>
          <p:cNvPr id="55316" name="Freeform 20">
            <a:extLst>
              <a:ext uri="{FF2B5EF4-FFF2-40B4-BE49-F238E27FC236}">
                <a16:creationId xmlns:a16="http://schemas.microsoft.com/office/drawing/2014/main" id="{5BBEE006-F9D5-BD04-5C9F-19FC5E5A5794}"/>
              </a:ext>
            </a:extLst>
          </p:cNvPr>
          <p:cNvSpPr>
            <a:spLocks/>
          </p:cNvSpPr>
          <p:nvPr/>
        </p:nvSpPr>
        <p:spPr bwMode="auto">
          <a:xfrm>
            <a:off x="3125788" y="2187575"/>
            <a:ext cx="534987" cy="2443163"/>
          </a:xfrm>
          <a:custGeom>
            <a:avLst/>
            <a:gdLst>
              <a:gd name="T0" fmla="*/ 336 w 337"/>
              <a:gd name="T1" fmla="*/ 0 h 1587"/>
              <a:gd name="T2" fmla="*/ 303 w 337"/>
              <a:gd name="T3" fmla="*/ 5 h 1587"/>
              <a:gd name="T4" fmla="*/ 270 w 337"/>
              <a:gd name="T5" fmla="*/ 10 h 1587"/>
              <a:gd name="T6" fmla="*/ 240 w 337"/>
              <a:gd name="T7" fmla="*/ 23 h 1587"/>
              <a:gd name="T8" fmla="*/ 218 w 337"/>
              <a:gd name="T9" fmla="*/ 42 h 1587"/>
              <a:gd name="T10" fmla="*/ 196 w 337"/>
              <a:gd name="T11" fmla="*/ 60 h 1587"/>
              <a:gd name="T12" fmla="*/ 181 w 337"/>
              <a:gd name="T13" fmla="*/ 83 h 1587"/>
              <a:gd name="T14" fmla="*/ 170 w 337"/>
              <a:gd name="T15" fmla="*/ 106 h 1587"/>
              <a:gd name="T16" fmla="*/ 166 w 337"/>
              <a:gd name="T17" fmla="*/ 134 h 1587"/>
              <a:gd name="T18" fmla="*/ 166 w 337"/>
              <a:gd name="T19" fmla="*/ 659 h 1587"/>
              <a:gd name="T20" fmla="*/ 163 w 337"/>
              <a:gd name="T21" fmla="*/ 687 h 1587"/>
              <a:gd name="T22" fmla="*/ 155 w 337"/>
              <a:gd name="T23" fmla="*/ 710 h 1587"/>
              <a:gd name="T24" fmla="*/ 137 w 337"/>
              <a:gd name="T25" fmla="*/ 733 h 1587"/>
              <a:gd name="T26" fmla="*/ 118 w 337"/>
              <a:gd name="T27" fmla="*/ 756 h 1587"/>
              <a:gd name="T28" fmla="*/ 93 w 337"/>
              <a:gd name="T29" fmla="*/ 770 h 1587"/>
              <a:gd name="T30" fmla="*/ 67 w 337"/>
              <a:gd name="T31" fmla="*/ 784 h 1587"/>
              <a:gd name="T32" fmla="*/ 34 w 337"/>
              <a:gd name="T33" fmla="*/ 789 h 1587"/>
              <a:gd name="T34" fmla="*/ 0 w 337"/>
              <a:gd name="T35" fmla="*/ 793 h 1587"/>
              <a:gd name="T36" fmla="*/ 34 w 337"/>
              <a:gd name="T37" fmla="*/ 798 h 1587"/>
              <a:gd name="T38" fmla="*/ 67 w 337"/>
              <a:gd name="T39" fmla="*/ 802 h 1587"/>
              <a:gd name="T40" fmla="*/ 93 w 337"/>
              <a:gd name="T41" fmla="*/ 816 h 1587"/>
              <a:gd name="T42" fmla="*/ 118 w 337"/>
              <a:gd name="T43" fmla="*/ 835 h 1587"/>
              <a:gd name="T44" fmla="*/ 137 w 337"/>
              <a:gd name="T45" fmla="*/ 853 h 1587"/>
              <a:gd name="T46" fmla="*/ 155 w 337"/>
              <a:gd name="T47" fmla="*/ 876 h 1587"/>
              <a:gd name="T48" fmla="*/ 163 w 337"/>
              <a:gd name="T49" fmla="*/ 899 h 1587"/>
              <a:gd name="T50" fmla="*/ 166 w 337"/>
              <a:gd name="T51" fmla="*/ 927 h 1587"/>
              <a:gd name="T52" fmla="*/ 166 w 337"/>
              <a:gd name="T53" fmla="*/ 1452 h 1587"/>
              <a:gd name="T54" fmla="*/ 170 w 337"/>
              <a:gd name="T55" fmla="*/ 1480 h 1587"/>
              <a:gd name="T56" fmla="*/ 181 w 337"/>
              <a:gd name="T57" fmla="*/ 1503 h 1587"/>
              <a:gd name="T58" fmla="*/ 196 w 337"/>
              <a:gd name="T59" fmla="*/ 1526 h 1587"/>
              <a:gd name="T60" fmla="*/ 218 w 337"/>
              <a:gd name="T61" fmla="*/ 1549 h 1587"/>
              <a:gd name="T62" fmla="*/ 240 w 337"/>
              <a:gd name="T63" fmla="*/ 1563 h 1587"/>
              <a:gd name="T64" fmla="*/ 270 w 337"/>
              <a:gd name="T65" fmla="*/ 1577 h 1587"/>
              <a:gd name="T66" fmla="*/ 303 w 337"/>
              <a:gd name="T67" fmla="*/ 1581 h 1587"/>
              <a:gd name="T68" fmla="*/ 336 w 337"/>
              <a:gd name="T69" fmla="*/ 1586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37" h="1587">
                <a:moveTo>
                  <a:pt x="336" y="0"/>
                </a:moveTo>
                <a:lnTo>
                  <a:pt x="303" y="5"/>
                </a:lnTo>
                <a:lnTo>
                  <a:pt x="270" y="10"/>
                </a:lnTo>
                <a:lnTo>
                  <a:pt x="240" y="23"/>
                </a:lnTo>
                <a:lnTo>
                  <a:pt x="218" y="42"/>
                </a:lnTo>
                <a:lnTo>
                  <a:pt x="196" y="60"/>
                </a:lnTo>
                <a:lnTo>
                  <a:pt x="181" y="83"/>
                </a:lnTo>
                <a:lnTo>
                  <a:pt x="170" y="106"/>
                </a:lnTo>
                <a:lnTo>
                  <a:pt x="166" y="134"/>
                </a:lnTo>
                <a:lnTo>
                  <a:pt x="166" y="659"/>
                </a:lnTo>
                <a:lnTo>
                  <a:pt x="163" y="687"/>
                </a:lnTo>
                <a:lnTo>
                  <a:pt x="155" y="710"/>
                </a:lnTo>
                <a:lnTo>
                  <a:pt x="137" y="733"/>
                </a:lnTo>
                <a:lnTo>
                  <a:pt x="118" y="756"/>
                </a:lnTo>
                <a:lnTo>
                  <a:pt x="93" y="770"/>
                </a:lnTo>
                <a:lnTo>
                  <a:pt x="67" y="784"/>
                </a:lnTo>
                <a:lnTo>
                  <a:pt x="34" y="789"/>
                </a:lnTo>
                <a:lnTo>
                  <a:pt x="0" y="793"/>
                </a:lnTo>
                <a:lnTo>
                  <a:pt x="34" y="798"/>
                </a:lnTo>
                <a:lnTo>
                  <a:pt x="67" y="802"/>
                </a:lnTo>
                <a:lnTo>
                  <a:pt x="93" y="816"/>
                </a:lnTo>
                <a:lnTo>
                  <a:pt x="118" y="835"/>
                </a:lnTo>
                <a:lnTo>
                  <a:pt x="137" y="853"/>
                </a:lnTo>
                <a:lnTo>
                  <a:pt x="155" y="876"/>
                </a:lnTo>
                <a:lnTo>
                  <a:pt x="163" y="899"/>
                </a:lnTo>
                <a:lnTo>
                  <a:pt x="166" y="927"/>
                </a:lnTo>
                <a:lnTo>
                  <a:pt x="166" y="1452"/>
                </a:lnTo>
                <a:lnTo>
                  <a:pt x="170" y="1480"/>
                </a:lnTo>
                <a:lnTo>
                  <a:pt x="181" y="1503"/>
                </a:lnTo>
                <a:lnTo>
                  <a:pt x="196" y="1526"/>
                </a:lnTo>
                <a:lnTo>
                  <a:pt x="218" y="1549"/>
                </a:lnTo>
                <a:lnTo>
                  <a:pt x="240" y="1563"/>
                </a:lnTo>
                <a:lnTo>
                  <a:pt x="270" y="1577"/>
                </a:lnTo>
                <a:lnTo>
                  <a:pt x="303" y="1581"/>
                </a:lnTo>
                <a:lnTo>
                  <a:pt x="336" y="1586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7" name="Rectangle 21">
            <a:extLst>
              <a:ext uri="{FF2B5EF4-FFF2-40B4-BE49-F238E27FC236}">
                <a16:creationId xmlns:a16="http://schemas.microsoft.com/office/drawing/2014/main" id="{39071B28-B684-C233-3B50-6320A7727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048000"/>
            <a:ext cx="2587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SST</a:t>
            </a:r>
            <a:r>
              <a:rPr lang="en-US" altLang="en-US" sz="2400" b="1">
                <a:solidFill>
                  <a:schemeClr val="tx2"/>
                </a:solidFill>
              </a:rPr>
              <a:t> </a:t>
            </a:r>
            <a:r>
              <a:rPr lang="en-US" altLang="en-US" sz="2400" b="1"/>
              <a:t>=</a:t>
            </a:r>
            <a:r>
              <a:rPr lang="en-US" altLang="en-US" sz="2400" b="1">
                <a:solidFill>
                  <a:schemeClr val="tx2"/>
                </a:solidFill>
              </a:rPr>
              <a:t> </a:t>
            </a:r>
            <a:r>
              <a:rPr lang="en-US" altLang="en-US" sz="2400" b="1">
                <a:latin typeface="Symbol" panose="05050102010706020507" pitchFamily="18" charset="2"/>
              </a:rPr>
              <a:t></a:t>
            </a:r>
            <a:r>
              <a:rPr lang="en-US" altLang="en-US" sz="2400" b="1"/>
              <a:t>(Y</a:t>
            </a:r>
            <a:r>
              <a:rPr lang="en-US" altLang="en-US" sz="2400" b="1" baseline="-25000"/>
              <a:t>i</a:t>
            </a:r>
            <a:r>
              <a:rPr lang="en-US" altLang="en-US" sz="2400" b="1" baseline="-25000">
                <a:solidFill>
                  <a:schemeClr val="tx2"/>
                </a:solidFill>
              </a:rPr>
              <a:t> </a:t>
            </a:r>
            <a:r>
              <a:rPr lang="en-US" altLang="en-US" sz="2400" b="1"/>
              <a:t>-</a:t>
            </a:r>
            <a:r>
              <a:rPr lang="en-US" altLang="en-US" sz="2400" b="1">
                <a:solidFill>
                  <a:schemeClr val="tx2"/>
                </a:solidFill>
              </a:rPr>
              <a:t> </a:t>
            </a:r>
            <a:r>
              <a:rPr lang="en-US" altLang="en-US" sz="2400" b="1">
                <a:solidFill>
                  <a:schemeClr val="bg2"/>
                </a:solidFill>
              </a:rPr>
              <a:t>Y</a:t>
            </a:r>
            <a:r>
              <a:rPr lang="en-US" altLang="en-US" sz="2400" b="1"/>
              <a:t>)</a:t>
            </a:r>
            <a:r>
              <a:rPr lang="en-US" altLang="en-US" sz="2400" b="1" baseline="30000"/>
              <a:t>2</a:t>
            </a:r>
          </a:p>
        </p:txBody>
      </p:sp>
      <p:sp>
        <p:nvSpPr>
          <p:cNvPr id="55318" name="Freeform 22">
            <a:extLst>
              <a:ext uri="{FF2B5EF4-FFF2-40B4-BE49-F238E27FC236}">
                <a16:creationId xmlns:a16="http://schemas.microsoft.com/office/drawing/2014/main" id="{B3F26D28-8724-B4BA-F3FA-806379911DEB}"/>
              </a:ext>
            </a:extLst>
          </p:cNvPr>
          <p:cNvSpPr>
            <a:spLocks/>
          </p:cNvSpPr>
          <p:nvPr/>
        </p:nvSpPr>
        <p:spPr bwMode="auto">
          <a:xfrm>
            <a:off x="4114800" y="2189163"/>
            <a:ext cx="311150" cy="1557337"/>
          </a:xfrm>
          <a:custGeom>
            <a:avLst/>
            <a:gdLst>
              <a:gd name="T0" fmla="*/ 0 w 196"/>
              <a:gd name="T1" fmla="*/ 0 h 1012"/>
              <a:gd name="T2" fmla="*/ 18 w 196"/>
              <a:gd name="T3" fmla="*/ 4 h 1012"/>
              <a:gd name="T4" fmla="*/ 41 w 196"/>
              <a:gd name="T5" fmla="*/ 8 h 1012"/>
              <a:gd name="T6" fmla="*/ 73 w 196"/>
              <a:gd name="T7" fmla="*/ 26 h 1012"/>
              <a:gd name="T8" fmla="*/ 91 w 196"/>
              <a:gd name="T9" fmla="*/ 52 h 1012"/>
              <a:gd name="T10" fmla="*/ 100 w 196"/>
              <a:gd name="T11" fmla="*/ 85 h 1012"/>
              <a:gd name="T12" fmla="*/ 100 w 196"/>
              <a:gd name="T13" fmla="*/ 421 h 1012"/>
              <a:gd name="T14" fmla="*/ 109 w 196"/>
              <a:gd name="T15" fmla="*/ 454 h 1012"/>
              <a:gd name="T16" fmla="*/ 127 w 196"/>
              <a:gd name="T17" fmla="*/ 480 h 1012"/>
              <a:gd name="T18" fmla="*/ 159 w 196"/>
              <a:gd name="T19" fmla="*/ 498 h 1012"/>
              <a:gd name="T20" fmla="*/ 195 w 196"/>
              <a:gd name="T21" fmla="*/ 506 h 1012"/>
              <a:gd name="T22" fmla="*/ 159 w 196"/>
              <a:gd name="T23" fmla="*/ 513 h 1012"/>
              <a:gd name="T24" fmla="*/ 127 w 196"/>
              <a:gd name="T25" fmla="*/ 532 h 1012"/>
              <a:gd name="T26" fmla="*/ 109 w 196"/>
              <a:gd name="T27" fmla="*/ 557 h 1012"/>
              <a:gd name="T28" fmla="*/ 100 w 196"/>
              <a:gd name="T29" fmla="*/ 591 h 1012"/>
              <a:gd name="T30" fmla="*/ 100 w 196"/>
              <a:gd name="T31" fmla="*/ 926 h 1012"/>
              <a:gd name="T32" fmla="*/ 91 w 196"/>
              <a:gd name="T33" fmla="*/ 959 h 1012"/>
              <a:gd name="T34" fmla="*/ 73 w 196"/>
              <a:gd name="T35" fmla="*/ 985 h 1012"/>
              <a:gd name="T36" fmla="*/ 41 w 196"/>
              <a:gd name="T37" fmla="*/ 1004 h 1012"/>
              <a:gd name="T38" fmla="*/ 18 w 196"/>
              <a:gd name="T39" fmla="*/ 1011 h 1012"/>
              <a:gd name="T40" fmla="*/ 0 w 196"/>
              <a:gd name="T41" fmla="*/ 1011 h 10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96" h="1012">
                <a:moveTo>
                  <a:pt x="0" y="0"/>
                </a:moveTo>
                <a:lnTo>
                  <a:pt x="18" y="4"/>
                </a:lnTo>
                <a:lnTo>
                  <a:pt x="41" y="8"/>
                </a:lnTo>
                <a:lnTo>
                  <a:pt x="73" y="26"/>
                </a:lnTo>
                <a:lnTo>
                  <a:pt x="91" y="52"/>
                </a:lnTo>
                <a:lnTo>
                  <a:pt x="100" y="85"/>
                </a:lnTo>
                <a:lnTo>
                  <a:pt x="100" y="421"/>
                </a:lnTo>
                <a:lnTo>
                  <a:pt x="109" y="454"/>
                </a:lnTo>
                <a:lnTo>
                  <a:pt x="127" y="480"/>
                </a:lnTo>
                <a:lnTo>
                  <a:pt x="159" y="498"/>
                </a:lnTo>
                <a:lnTo>
                  <a:pt x="195" y="506"/>
                </a:lnTo>
                <a:lnTo>
                  <a:pt x="159" y="513"/>
                </a:lnTo>
                <a:lnTo>
                  <a:pt x="127" y="532"/>
                </a:lnTo>
                <a:lnTo>
                  <a:pt x="109" y="557"/>
                </a:lnTo>
                <a:lnTo>
                  <a:pt x="100" y="591"/>
                </a:lnTo>
                <a:lnTo>
                  <a:pt x="100" y="926"/>
                </a:lnTo>
                <a:lnTo>
                  <a:pt x="91" y="959"/>
                </a:lnTo>
                <a:lnTo>
                  <a:pt x="73" y="985"/>
                </a:lnTo>
                <a:lnTo>
                  <a:pt x="41" y="1004"/>
                </a:lnTo>
                <a:lnTo>
                  <a:pt x="18" y="1011"/>
                </a:lnTo>
                <a:lnTo>
                  <a:pt x="0" y="1011"/>
                </a:lnTo>
              </a:path>
            </a:pathLst>
          </a:custGeom>
          <a:noFill/>
          <a:ln w="25400" cap="rnd" cmpd="sng">
            <a:solidFill>
              <a:srgbClr val="00CC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9" name="Rectangle 23">
            <a:extLst>
              <a:ext uri="{FF2B5EF4-FFF2-40B4-BE49-F238E27FC236}">
                <a16:creationId xmlns:a16="http://schemas.microsoft.com/office/drawing/2014/main" id="{870957A6-F725-9B37-B817-4D4413F6F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286000"/>
            <a:ext cx="25114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SSE</a:t>
            </a:r>
            <a:r>
              <a:rPr lang="en-US" altLang="en-US" sz="2400" b="1">
                <a:solidFill>
                  <a:srgbClr val="FF9900"/>
                </a:solidFill>
              </a:rPr>
              <a:t> </a:t>
            </a:r>
            <a:r>
              <a:rPr lang="en-US" altLang="en-US" sz="2400" b="1"/>
              <a:t>= </a:t>
            </a:r>
            <a:r>
              <a:rPr lang="en-US" altLang="en-US" sz="2400" b="1">
                <a:latin typeface="Symbol" panose="05050102010706020507" pitchFamily="18" charset="2"/>
              </a:rPr>
              <a:t></a:t>
            </a:r>
            <a:r>
              <a:rPr lang="en-US" altLang="en-US" sz="2400" b="1"/>
              <a:t>(Y</a:t>
            </a:r>
            <a:r>
              <a:rPr lang="en-US" altLang="en-US" sz="2400" b="1" baseline="-25000"/>
              <a:t>i</a:t>
            </a:r>
            <a:r>
              <a:rPr lang="en-US" altLang="en-US" sz="2400" b="1" baseline="-25000">
                <a:solidFill>
                  <a:schemeClr val="tx2"/>
                </a:solidFill>
              </a:rPr>
              <a:t> </a:t>
            </a:r>
            <a:r>
              <a:rPr lang="en-US" altLang="en-US" sz="2400" b="1"/>
              <a:t>-</a:t>
            </a:r>
            <a:r>
              <a:rPr lang="en-US" altLang="en-US" sz="2400" b="1">
                <a:solidFill>
                  <a:schemeClr val="tx2"/>
                </a:solidFill>
              </a:rPr>
              <a:t> </a:t>
            </a:r>
            <a:r>
              <a:rPr lang="en-US" altLang="en-US" sz="2400" b="1">
                <a:solidFill>
                  <a:schemeClr val="bg2"/>
                </a:solidFill>
              </a:rPr>
              <a:t>Y</a:t>
            </a:r>
            <a:r>
              <a:rPr lang="en-US" altLang="en-US" sz="2400" b="1" baseline="-25000">
                <a:solidFill>
                  <a:schemeClr val="bg2"/>
                </a:solidFill>
              </a:rPr>
              <a:t>i</a:t>
            </a:r>
            <a:r>
              <a:rPr lang="en-US" altLang="en-US" sz="2400" b="1" baseline="-25000">
                <a:solidFill>
                  <a:schemeClr val="hlink"/>
                </a:solidFill>
              </a:rPr>
              <a:t> </a:t>
            </a:r>
            <a:r>
              <a:rPr lang="en-US" altLang="en-US" sz="2400" b="1"/>
              <a:t>)</a:t>
            </a:r>
            <a:r>
              <a:rPr lang="en-US" altLang="en-US" sz="2400" b="1" baseline="30000"/>
              <a:t>2</a:t>
            </a:r>
            <a:r>
              <a:rPr lang="en-US" altLang="en-US" sz="2400" b="1"/>
              <a:t> </a:t>
            </a:r>
          </a:p>
        </p:txBody>
      </p:sp>
      <p:sp>
        <p:nvSpPr>
          <p:cNvPr id="55320" name="Rectangle 24">
            <a:extLst>
              <a:ext uri="{FF2B5EF4-FFF2-40B4-BE49-F238E27FC236}">
                <a16:creationId xmlns:a16="http://schemas.microsoft.com/office/drawing/2014/main" id="{A0C78B8E-3452-1399-3C47-23FA82686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041525"/>
            <a:ext cx="10763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chemeClr val="bg2"/>
                </a:solidFill>
                <a:latin typeface="Symbol" panose="05050102010706020507" pitchFamily="18" charset="2"/>
              </a:rPr>
              <a:t></a:t>
            </a:r>
          </a:p>
        </p:txBody>
      </p:sp>
      <p:sp>
        <p:nvSpPr>
          <p:cNvPr id="55321" name="Freeform 25">
            <a:extLst>
              <a:ext uri="{FF2B5EF4-FFF2-40B4-BE49-F238E27FC236}">
                <a16:creationId xmlns:a16="http://schemas.microsoft.com/office/drawing/2014/main" id="{71927570-4FDC-F51D-4B8F-032D157C1144}"/>
              </a:ext>
            </a:extLst>
          </p:cNvPr>
          <p:cNvSpPr>
            <a:spLocks/>
          </p:cNvSpPr>
          <p:nvPr/>
        </p:nvSpPr>
        <p:spPr bwMode="auto">
          <a:xfrm>
            <a:off x="4114800" y="3887788"/>
            <a:ext cx="228600" cy="742950"/>
          </a:xfrm>
          <a:custGeom>
            <a:avLst/>
            <a:gdLst>
              <a:gd name="T0" fmla="*/ 0 w 144"/>
              <a:gd name="T1" fmla="*/ 0 h 577"/>
              <a:gd name="T2" fmla="*/ 28 w 144"/>
              <a:gd name="T3" fmla="*/ 4 h 577"/>
              <a:gd name="T4" fmla="*/ 51 w 144"/>
              <a:gd name="T5" fmla="*/ 14 h 577"/>
              <a:gd name="T6" fmla="*/ 65 w 144"/>
              <a:gd name="T7" fmla="*/ 27 h 577"/>
              <a:gd name="T8" fmla="*/ 69 w 144"/>
              <a:gd name="T9" fmla="*/ 46 h 577"/>
              <a:gd name="T10" fmla="*/ 69 w 144"/>
              <a:gd name="T11" fmla="*/ 239 h 577"/>
              <a:gd name="T12" fmla="*/ 74 w 144"/>
              <a:gd name="T13" fmla="*/ 258 h 577"/>
              <a:gd name="T14" fmla="*/ 92 w 144"/>
              <a:gd name="T15" fmla="*/ 272 h 577"/>
              <a:gd name="T16" fmla="*/ 115 w 144"/>
              <a:gd name="T17" fmla="*/ 281 h 577"/>
              <a:gd name="T18" fmla="*/ 143 w 144"/>
              <a:gd name="T19" fmla="*/ 286 h 577"/>
              <a:gd name="T20" fmla="*/ 115 w 144"/>
              <a:gd name="T21" fmla="*/ 290 h 577"/>
              <a:gd name="T22" fmla="*/ 92 w 144"/>
              <a:gd name="T23" fmla="*/ 299 h 577"/>
              <a:gd name="T24" fmla="*/ 74 w 144"/>
              <a:gd name="T25" fmla="*/ 318 h 577"/>
              <a:gd name="T26" fmla="*/ 69 w 144"/>
              <a:gd name="T27" fmla="*/ 336 h 577"/>
              <a:gd name="T28" fmla="*/ 69 w 144"/>
              <a:gd name="T29" fmla="*/ 525 h 577"/>
              <a:gd name="T30" fmla="*/ 65 w 144"/>
              <a:gd name="T31" fmla="*/ 544 h 577"/>
              <a:gd name="T32" fmla="*/ 51 w 144"/>
              <a:gd name="T33" fmla="*/ 562 h 577"/>
              <a:gd name="T34" fmla="*/ 28 w 144"/>
              <a:gd name="T35" fmla="*/ 571 h 577"/>
              <a:gd name="T36" fmla="*/ 0 w 144"/>
              <a:gd name="T37" fmla="*/ 576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4" h="577">
                <a:moveTo>
                  <a:pt x="0" y="0"/>
                </a:moveTo>
                <a:lnTo>
                  <a:pt x="28" y="4"/>
                </a:lnTo>
                <a:lnTo>
                  <a:pt x="51" y="14"/>
                </a:lnTo>
                <a:lnTo>
                  <a:pt x="65" y="27"/>
                </a:lnTo>
                <a:lnTo>
                  <a:pt x="69" y="46"/>
                </a:lnTo>
                <a:lnTo>
                  <a:pt x="69" y="239"/>
                </a:lnTo>
                <a:lnTo>
                  <a:pt x="74" y="258"/>
                </a:lnTo>
                <a:lnTo>
                  <a:pt x="92" y="272"/>
                </a:lnTo>
                <a:lnTo>
                  <a:pt x="115" y="281"/>
                </a:lnTo>
                <a:lnTo>
                  <a:pt x="143" y="286"/>
                </a:lnTo>
                <a:lnTo>
                  <a:pt x="115" y="290"/>
                </a:lnTo>
                <a:lnTo>
                  <a:pt x="92" y="299"/>
                </a:lnTo>
                <a:lnTo>
                  <a:pt x="74" y="318"/>
                </a:lnTo>
                <a:lnTo>
                  <a:pt x="69" y="336"/>
                </a:lnTo>
                <a:lnTo>
                  <a:pt x="69" y="525"/>
                </a:lnTo>
                <a:lnTo>
                  <a:pt x="65" y="544"/>
                </a:lnTo>
                <a:lnTo>
                  <a:pt x="51" y="562"/>
                </a:lnTo>
                <a:lnTo>
                  <a:pt x="28" y="571"/>
                </a:lnTo>
                <a:lnTo>
                  <a:pt x="0" y="576"/>
                </a:lnTo>
              </a:path>
            </a:pathLst>
          </a:custGeom>
          <a:noFill/>
          <a:ln w="25400" cap="rnd" cmpd="sng">
            <a:solidFill>
              <a:srgbClr val="99CC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22" name="Rectangle 26">
            <a:extLst>
              <a:ext uri="{FF2B5EF4-FFF2-40B4-BE49-F238E27FC236}">
                <a16:creationId xmlns:a16="http://schemas.microsoft.com/office/drawing/2014/main" id="{6B98A048-3836-B4BA-1FEB-9DF324146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962400"/>
            <a:ext cx="3349625" cy="100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SSR = </a:t>
            </a:r>
            <a:r>
              <a:rPr lang="en-US" altLang="en-US" sz="2400" b="1">
                <a:latin typeface="Symbol" panose="05050102010706020507" pitchFamily="18" charset="2"/>
              </a:rPr>
              <a:t></a:t>
            </a:r>
            <a:r>
              <a:rPr lang="en-US" altLang="en-US" sz="2400" b="1"/>
              <a:t>(Y</a:t>
            </a:r>
            <a:r>
              <a:rPr lang="en-US" altLang="en-US" sz="2400" b="1" baseline="-25000"/>
              <a:t>i</a:t>
            </a:r>
            <a:r>
              <a:rPr lang="en-US" altLang="en-US" sz="2400" b="1" baseline="-25000">
                <a:solidFill>
                  <a:schemeClr val="hlink"/>
                </a:solidFill>
              </a:rPr>
              <a:t> </a:t>
            </a:r>
            <a:r>
              <a:rPr lang="en-US" altLang="en-US" sz="2400" b="1"/>
              <a:t>-</a:t>
            </a:r>
            <a:r>
              <a:rPr lang="en-US" altLang="en-US" sz="2400" b="1">
                <a:solidFill>
                  <a:schemeClr val="tx2"/>
                </a:solidFill>
              </a:rPr>
              <a:t> </a:t>
            </a:r>
            <a:r>
              <a:rPr lang="en-US" altLang="en-US" sz="2400" b="1">
                <a:solidFill>
                  <a:schemeClr val="bg2"/>
                </a:solidFill>
              </a:rPr>
              <a:t>Y</a:t>
            </a:r>
            <a:r>
              <a:rPr lang="en-US" altLang="en-US" sz="2400" b="1"/>
              <a:t>)</a:t>
            </a:r>
            <a:r>
              <a:rPr lang="en-US" altLang="en-US" sz="2400" b="1" baseline="30000"/>
              <a:t>2</a:t>
            </a:r>
            <a:r>
              <a:rPr lang="en-US" altLang="en-US" sz="2400" b="1"/>
              <a:t> </a:t>
            </a:r>
          </a:p>
          <a:p>
            <a:pPr>
              <a:spcBef>
                <a:spcPct val="50000"/>
              </a:spcBef>
            </a:pPr>
            <a:r>
              <a:rPr lang="en-US" altLang="en-US" sz="2400" b="1"/>
              <a:t> </a:t>
            </a:r>
          </a:p>
        </p:txBody>
      </p:sp>
      <p:sp>
        <p:nvSpPr>
          <p:cNvPr id="55323" name="Rectangle 27">
            <a:extLst>
              <a:ext uri="{FF2B5EF4-FFF2-40B4-BE49-F238E27FC236}">
                <a16:creationId xmlns:a16="http://schemas.microsoft.com/office/drawing/2014/main" id="{DCCF204A-2A70-E181-993C-B8E945FA9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667125"/>
            <a:ext cx="10763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latin typeface="Symbol" panose="05050102010706020507" pitchFamily="18" charset="2"/>
              </a:rPr>
              <a:t></a:t>
            </a:r>
          </a:p>
        </p:txBody>
      </p:sp>
      <p:sp>
        <p:nvSpPr>
          <p:cNvPr id="55324" name="Line 28">
            <a:extLst>
              <a:ext uri="{FF2B5EF4-FFF2-40B4-BE49-F238E27FC236}">
                <a16:creationId xmlns:a16="http://schemas.microsoft.com/office/drawing/2014/main" id="{E81C5418-F774-703F-72C5-1FD660E75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4649788"/>
            <a:ext cx="0" cy="1214437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25" name="Rectangle 29">
            <a:extLst>
              <a:ext uri="{FF2B5EF4-FFF2-40B4-BE49-F238E27FC236}">
                <a16:creationId xmlns:a16="http://schemas.microsoft.com/office/drawing/2014/main" id="{5976649A-0CA3-F6C9-45D4-FCCB69AC5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7388" y="4037013"/>
            <a:ext cx="6064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bg2"/>
                </a:solidFill>
              </a:rPr>
              <a:t>_</a:t>
            </a:r>
          </a:p>
        </p:txBody>
      </p:sp>
      <p:sp>
        <p:nvSpPr>
          <p:cNvPr id="55326" name="Rectangle 30">
            <a:extLst>
              <a:ext uri="{FF2B5EF4-FFF2-40B4-BE49-F238E27FC236}">
                <a16:creationId xmlns:a16="http://schemas.microsoft.com/office/drawing/2014/main" id="{04D05EB5-0BDD-4179-877A-1DCC309E0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81400"/>
            <a:ext cx="60642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bg2"/>
                </a:solidFill>
              </a:rPr>
              <a:t>_</a:t>
            </a:r>
          </a:p>
        </p:txBody>
      </p:sp>
      <p:sp>
        <p:nvSpPr>
          <p:cNvPr id="55327" name="Rectangle 31">
            <a:extLst>
              <a:ext uri="{FF2B5EF4-FFF2-40B4-BE49-F238E27FC236}">
                <a16:creationId xmlns:a16="http://schemas.microsoft.com/office/drawing/2014/main" id="{BF36759B-F83A-454A-43C5-BD24E8DDE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706688"/>
            <a:ext cx="6064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/>
              <a:t>_</a:t>
            </a:r>
          </a:p>
        </p:txBody>
      </p:sp>
      <p:sp>
        <p:nvSpPr>
          <p:cNvPr id="55328" name="Rectangle 32">
            <a:extLst>
              <a:ext uri="{FF2B5EF4-FFF2-40B4-BE49-F238E27FC236}">
                <a16:creationId xmlns:a16="http://schemas.microsoft.com/office/drawing/2014/main" id="{48CD4420-8F14-9CEC-80CB-9F2C68066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338" y="22621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b="1">
                <a:solidFill>
                  <a:schemeClr val="hlink"/>
                </a:solidFill>
              </a:rPr>
              <a:t>Y</a:t>
            </a:r>
          </a:p>
        </p:txBody>
      </p:sp>
      <p:sp>
        <p:nvSpPr>
          <p:cNvPr id="55329" name="Rectangle 33">
            <a:extLst>
              <a:ext uri="{FF2B5EF4-FFF2-40B4-BE49-F238E27FC236}">
                <a16:creationId xmlns:a16="http://schemas.microsoft.com/office/drawing/2014/main" id="{F0328BD2-4D21-EDB0-0F8E-5D68414F1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1966913"/>
            <a:ext cx="10763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chemeClr val="hlink"/>
                </a:solidFill>
                <a:latin typeface="Symbol" panose="05050102010706020507" pitchFamily="18" charset="2"/>
              </a:rPr>
              <a:t></a:t>
            </a:r>
          </a:p>
        </p:txBody>
      </p:sp>
      <p:sp>
        <p:nvSpPr>
          <p:cNvPr id="55330" name="Rectangle 34">
            <a:extLst>
              <a:ext uri="{FF2B5EF4-FFF2-40B4-BE49-F238E27FC236}">
                <a16:creationId xmlns:a16="http://schemas.microsoft.com/office/drawing/2014/main" id="{EA8CB3DB-A09E-DB72-9FBE-E1BA66F86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0"/>
            <a:ext cx="46672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/>
              <a:t>Y</a:t>
            </a:r>
          </a:p>
        </p:txBody>
      </p:sp>
      <p:sp>
        <p:nvSpPr>
          <p:cNvPr id="55331" name="Line 35">
            <a:extLst>
              <a:ext uri="{FF2B5EF4-FFF2-40B4-BE49-F238E27FC236}">
                <a16:creationId xmlns:a16="http://schemas.microsoft.com/office/drawing/2014/main" id="{1AEE527E-04A5-22B3-5550-B6BB9B9B47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" y="3886200"/>
            <a:ext cx="3276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32" name="Rectangle 36">
            <a:extLst>
              <a:ext uri="{FF2B5EF4-FFF2-40B4-BE49-F238E27FC236}">
                <a16:creationId xmlns:a16="http://schemas.microsoft.com/office/drawing/2014/main" id="{F05C94B6-ED8C-798F-31A9-BF6BCC432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405313"/>
            <a:ext cx="457200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bg2"/>
                </a:solidFill>
              </a:rPr>
              <a:t>Y</a:t>
            </a:r>
          </a:p>
        </p:txBody>
      </p:sp>
      <p:sp>
        <p:nvSpPr>
          <p:cNvPr id="55333" name="Rectangle 37">
            <a:extLst>
              <a:ext uri="{FF2B5EF4-FFF2-40B4-BE49-F238E27FC236}">
                <a16:creationId xmlns:a16="http://schemas.microsoft.com/office/drawing/2014/main" id="{FA2F9D74-0CDB-3EC1-6EEE-8BDEB7107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962400"/>
            <a:ext cx="60642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 b="1">
                <a:solidFill>
                  <a:schemeClr val="bg2"/>
                </a:solidFill>
              </a:rPr>
              <a:t>_</a:t>
            </a:r>
          </a:p>
        </p:txBody>
      </p:sp>
      <p:sp>
        <p:nvSpPr>
          <p:cNvPr id="55334" name="Rectangle 38">
            <a:extLst>
              <a:ext uri="{FF2B5EF4-FFF2-40B4-BE49-F238E27FC236}">
                <a16:creationId xmlns:a16="http://schemas.microsoft.com/office/drawing/2014/main" id="{BF6EE334-32C8-1FB2-C42A-3641E0B38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366712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b="1">
                <a:solidFill>
                  <a:schemeClr val="hlink"/>
                </a:solidFill>
              </a:rPr>
              <a:t>Y</a:t>
            </a:r>
          </a:p>
        </p:txBody>
      </p:sp>
      <p:sp>
        <p:nvSpPr>
          <p:cNvPr id="55335" name="Rectangle 39">
            <a:extLst>
              <a:ext uri="{FF2B5EF4-FFF2-40B4-BE49-F238E27FC236}">
                <a16:creationId xmlns:a16="http://schemas.microsoft.com/office/drawing/2014/main" id="{B87A6DBC-FAB5-0634-9969-20EC94B50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371850"/>
            <a:ext cx="10763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chemeClr val="hlink"/>
                </a:solidFill>
                <a:latin typeface="Symbol" panose="05050102010706020507" pitchFamily="18" charset="2"/>
              </a:rPr>
              <a:t>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AB3852B-FA02-EDBA-16B9-4A2714A060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6D68EC7-251A-2328-0C90-C2DBAF3F74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C275D6D5-D5BB-4488-89A9-765C8C8B79F3}" type="slidenum">
              <a:rPr lang="en-US" altLang="en-US"/>
              <a:pPr/>
              <a:t>27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561C1193-E6AE-A3D4-FACA-0E1FD338B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Coefficient of Determination, r</a:t>
            </a:r>
            <a:r>
              <a:rPr lang="en-US" altLang="en-US" baseline="30000"/>
              <a:t>2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9EB3E165-7CCA-32B3-0547-F4C9B8B96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3775" y="1625600"/>
            <a:ext cx="7620000" cy="4532313"/>
          </a:xfrm>
          <a:noFill/>
          <a:ln/>
        </p:spPr>
        <p:txBody>
          <a:bodyPr lIns="85342" tIns="42672" rIns="85342" bIns="42672"/>
          <a:lstStyle/>
          <a:p>
            <a:r>
              <a:rPr lang="en-US" altLang="en-US"/>
              <a:t>The coefficient of determination is the portion of the total variation in the dependent variable that is explained by variation in the independent variable</a:t>
            </a:r>
          </a:p>
          <a:p>
            <a:r>
              <a:rPr lang="en-US" altLang="en-US"/>
              <a:t>The coefficient of determination is also called r-squared and is denoted as r</a:t>
            </a:r>
            <a:r>
              <a:rPr lang="en-US" altLang="en-US" baseline="30000"/>
              <a:t>2</a:t>
            </a:r>
          </a:p>
        </p:txBody>
      </p:sp>
      <p:graphicFrame>
        <p:nvGraphicFramePr>
          <p:cNvPr id="56325" name="Object 5">
            <a:extLst>
              <a:ext uri="{FF2B5EF4-FFF2-40B4-BE49-F238E27FC236}">
                <a16:creationId xmlns:a16="http://schemas.microsoft.com/office/drawing/2014/main" id="{E5806D45-7A47-23C8-E073-538682855C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5562600"/>
          <a:ext cx="18319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203040" progId="Equation.3">
                  <p:embed/>
                </p:oleObj>
              </mc:Choice>
              <mc:Fallback>
                <p:oleObj name="Equation" r:id="rId2" imgW="62208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562600"/>
                        <a:ext cx="1831975" cy="5953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6">
            <a:extLst>
              <a:ext uri="{FF2B5EF4-FFF2-40B4-BE49-F238E27FC236}">
                <a16:creationId xmlns:a16="http://schemas.microsoft.com/office/drawing/2014/main" id="{7859F1C0-73A8-BFFD-A86D-BA98BF6A54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481513"/>
          <a:ext cx="5792788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6880" imgH="419040" progId="Equation.3">
                  <p:embed/>
                </p:oleObj>
              </mc:Choice>
              <mc:Fallback>
                <p:oleObj name="Equation" r:id="rId4" imgW="266688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481513"/>
                        <a:ext cx="5792788" cy="90646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4885438-45C8-0B3A-5776-C27919779A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847A019-C266-F256-2086-DA3D13719E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4A0937B1-4BE5-4114-87AA-A7C026F8C72B}" type="slidenum">
              <a:rPr lang="en-US" altLang="en-US"/>
              <a:pPr/>
              <a:t>28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27FF8A5E-7D10-8E7C-07A9-A7CBA7DAF2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Coefficient of Determination, r</a:t>
            </a:r>
            <a:r>
              <a:rPr lang="en-US" altLang="en-US" baseline="30000"/>
              <a:t>2</a:t>
            </a:r>
          </a:p>
        </p:txBody>
      </p:sp>
      <p:sp>
        <p:nvSpPr>
          <p:cNvPr id="57348" name="Text Box 4">
            <a:extLst>
              <a:ext uri="{FF2B5EF4-FFF2-40B4-BE49-F238E27FC236}">
                <a16:creationId xmlns:a16="http://schemas.microsoft.com/office/drawing/2014/main" id="{6F50B5E5-F556-16AE-E4D3-7BDE10FFD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88" y="5992813"/>
            <a:ext cx="931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7DAF7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r</a:t>
            </a:r>
            <a:r>
              <a:rPr lang="en-US" altLang="en-US" sz="2400" b="1" baseline="30000"/>
              <a:t>2</a:t>
            </a:r>
            <a:r>
              <a:rPr lang="en-US" altLang="en-US" sz="2400" b="1"/>
              <a:t> = 1</a:t>
            </a:r>
          </a:p>
        </p:txBody>
      </p:sp>
      <p:sp>
        <p:nvSpPr>
          <p:cNvPr id="57349" name="Line 5">
            <a:extLst>
              <a:ext uri="{FF2B5EF4-FFF2-40B4-BE49-F238E27FC236}">
                <a16:creationId xmlns:a16="http://schemas.microsoft.com/office/drawing/2014/main" id="{3B0ACB76-0F71-1D7E-5C20-716C02E9B5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1863" y="2295525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0" name="Line 6">
            <a:extLst>
              <a:ext uri="{FF2B5EF4-FFF2-40B4-BE49-F238E27FC236}">
                <a16:creationId xmlns:a16="http://schemas.microsoft.com/office/drawing/2014/main" id="{042DF442-1FBD-FEA1-4ABB-7544FC693E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7738" y="2447925"/>
            <a:ext cx="2574925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1" name="Oval 7">
            <a:extLst>
              <a:ext uri="{FF2B5EF4-FFF2-40B4-BE49-F238E27FC236}">
                <a16:creationId xmlns:a16="http://schemas.microsoft.com/office/drawing/2014/main" id="{79ED9940-E9FA-81B2-B631-8AF5CD29FA51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3065463" y="313372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2" name="Oval 8">
            <a:extLst>
              <a:ext uri="{FF2B5EF4-FFF2-40B4-BE49-F238E27FC236}">
                <a16:creationId xmlns:a16="http://schemas.microsoft.com/office/drawing/2014/main" id="{07236ECF-F783-E527-791E-526841CF1E01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455863" y="290512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3" name="Oval 9">
            <a:extLst>
              <a:ext uri="{FF2B5EF4-FFF2-40B4-BE49-F238E27FC236}">
                <a16:creationId xmlns:a16="http://schemas.microsoft.com/office/drawing/2014/main" id="{1756CFE2-6C8F-6A89-96DC-A59BD863E3AE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1998663" y="275272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4" name="Oval 10">
            <a:extLst>
              <a:ext uri="{FF2B5EF4-FFF2-40B4-BE49-F238E27FC236}">
                <a16:creationId xmlns:a16="http://schemas.microsoft.com/office/drawing/2014/main" id="{1DAF6D72-1B86-CC24-EA08-4421FBF81389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1008063" y="237172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5" name="Oval 11">
            <a:extLst>
              <a:ext uri="{FF2B5EF4-FFF2-40B4-BE49-F238E27FC236}">
                <a16:creationId xmlns:a16="http://schemas.microsoft.com/office/drawing/2014/main" id="{4E0E3C3C-8033-3E2F-76A3-83C293D17311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1389063" y="252412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6" name="Oval 12">
            <a:extLst>
              <a:ext uri="{FF2B5EF4-FFF2-40B4-BE49-F238E27FC236}">
                <a16:creationId xmlns:a16="http://schemas.microsoft.com/office/drawing/2014/main" id="{BDF98BAA-BB68-4290-9AE2-0605B405018A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1770063" y="267652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57357" name="Text Box 13">
            <a:extLst>
              <a:ext uri="{FF2B5EF4-FFF2-40B4-BE49-F238E27FC236}">
                <a16:creationId xmlns:a16="http://schemas.microsoft.com/office/drawing/2014/main" id="{A96BBB92-3432-7AF9-CA2F-E75D349D2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6053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Y</a:t>
            </a:r>
          </a:p>
        </p:txBody>
      </p:sp>
      <p:sp>
        <p:nvSpPr>
          <p:cNvPr id="57358" name="Line 14">
            <a:extLst>
              <a:ext uri="{FF2B5EF4-FFF2-40B4-BE49-F238E27FC236}">
                <a16:creationId xmlns:a16="http://schemas.microsoft.com/office/drawing/2014/main" id="{11654BF6-93BF-9459-57C6-409D1448F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931863" y="3819525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9" name="Oval 15">
            <a:extLst>
              <a:ext uri="{FF2B5EF4-FFF2-40B4-BE49-F238E27FC236}">
                <a16:creationId xmlns:a16="http://schemas.microsoft.com/office/drawing/2014/main" id="{776DD702-0B96-8D0C-C26C-15EB5D549E5E}"/>
              </a:ext>
            </a:extLst>
          </p:cNvPr>
          <p:cNvSpPr>
            <a:spLocks noChangeArrowheads="1"/>
          </p:cNvSpPr>
          <p:nvPr/>
        </p:nvSpPr>
        <p:spPr bwMode="auto">
          <a:xfrm rot="7282380" flipH="1">
            <a:off x="2684463" y="298132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0" name="Text Box 16">
            <a:extLst>
              <a:ext uri="{FF2B5EF4-FFF2-40B4-BE49-F238E27FC236}">
                <a16:creationId xmlns:a16="http://schemas.microsoft.com/office/drawing/2014/main" id="{C102F352-4D2A-F711-C5DA-6E56E2E00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4050" y="358933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X</a:t>
            </a:r>
          </a:p>
        </p:txBody>
      </p:sp>
      <p:sp>
        <p:nvSpPr>
          <p:cNvPr id="57361" name="Line 17">
            <a:extLst>
              <a:ext uri="{FF2B5EF4-FFF2-40B4-BE49-F238E27FC236}">
                <a16:creationId xmlns:a16="http://schemas.microsoft.com/office/drawing/2014/main" id="{2539F8AC-91EF-E8BE-F657-B1B316A31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938213" y="44958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2" name="Line 18">
            <a:extLst>
              <a:ext uri="{FF2B5EF4-FFF2-40B4-BE49-F238E27FC236}">
                <a16:creationId xmlns:a16="http://schemas.microsoft.com/office/drawing/2014/main" id="{CA471743-DB8E-422D-57A0-376477FD3D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90613" y="4800600"/>
            <a:ext cx="2667000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3" name="Text Box 19">
            <a:extLst>
              <a:ext uri="{FF2B5EF4-FFF2-40B4-BE49-F238E27FC236}">
                <a16:creationId xmlns:a16="http://schemas.microsoft.com/office/drawing/2014/main" id="{0BD252B9-6B06-A47A-D49A-84CA7D91E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6561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Y</a:t>
            </a:r>
          </a:p>
        </p:txBody>
      </p:sp>
      <p:sp>
        <p:nvSpPr>
          <p:cNvPr id="57364" name="Line 20">
            <a:extLst>
              <a:ext uri="{FF2B5EF4-FFF2-40B4-BE49-F238E27FC236}">
                <a16:creationId xmlns:a16="http://schemas.microsoft.com/office/drawing/2014/main" id="{485CC388-CFA3-C93D-30CE-6B4592CF12A8}"/>
              </a:ext>
            </a:extLst>
          </p:cNvPr>
          <p:cNvSpPr>
            <a:spLocks noChangeShapeType="1"/>
          </p:cNvSpPr>
          <p:nvPr/>
        </p:nvSpPr>
        <p:spPr bwMode="auto">
          <a:xfrm>
            <a:off x="938213" y="59436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5" name="Oval 21">
            <a:extLst>
              <a:ext uri="{FF2B5EF4-FFF2-40B4-BE49-F238E27FC236}">
                <a16:creationId xmlns:a16="http://schemas.microsoft.com/office/drawing/2014/main" id="{3C7C91CF-A3CD-1B4B-771F-3DC4D223482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243013" y="5334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6" name="Text Box 22">
            <a:extLst>
              <a:ext uri="{FF2B5EF4-FFF2-40B4-BE49-F238E27FC236}">
                <a16:creationId xmlns:a16="http://schemas.microsoft.com/office/drawing/2014/main" id="{A2236D08-E821-C56E-93B1-F4443FF11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78961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X</a:t>
            </a:r>
          </a:p>
        </p:txBody>
      </p:sp>
      <p:sp>
        <p:nvSpPr>
          <p:cNvPr id="57367" name="Text Box 23">
            <a:extLst>
              <a:ext uri="{FF2B5EF4-FFF2-40B4-BE49-F238E27FC236}">
                <a16:creationId xmlns:a16="http://schemas.microsoft.com/office/drawing/2014/main" id="{AC0F7C22-5409-5F9F-3F1A-F5DD343BF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86200"/>
            <a:ext cx="1033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7DAF7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r</a:t>
            </a:r>
            <a:r>
              <a:rPr lang="en-US" altLang="en-US" sz="2400" b="1" baseline="30000"/>
              <a:t>2</a:t>
            </a:r>
            <a:r>
              <a:rPr lang="en-US" altLang="en-US" sz="2400" b="1"/>
              <a:t> = -1</a:t>
            </a:r>
          </a:p>
        </p:txBody>
      </p:sp>
      <p:sp>
        <p:nvSpPr>
          <p:cNvPr id="57368" name="Oval 24">
            <a:extLst>
              <a:ext uri="{FF2B5EF4-FFF2-40B4-BE49-F238E27FC236}">
                <a16:creationId xmlns:a16="http://schemas.microsoft.com/office/drawing/2014/main" id="{29A8E765-9262-6AD7-BA66-C60AB27D3C3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547813" y="5257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9" name="Oval 25">
            <a:extLst>
              <a:ext uri="{FF2B5EF4-FFF2-40B4-BE49-F238E27FC236}">
                <a16:creationId xmlns:a16="http://schemas.microsoft.com/office/drawing/2014/main" id="{FD0DF9F9-1E91-760C-A74B-9191949526B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852613" y="5181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70" name="Oval 26">
            <a:extLst>
              <a:ext uri="{FF2B5EF4-FFF2-40B4-BE49-F238E27FC236}">
                <a16:creationId xmlns:a16="http://schemas.microsoft.com/office/drawing/2014/main" id="{9457D8E0-F40A-7A38-6DA6-45725F685DB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157413" y="5105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71" name="Oval 27">
            <a:extLst>
              <a:ext uri="{FF2B5EF4-FFF2-40B4-BE49-F238E27FC236}">
                <a16:creationId xmlns:a16="http://schemas.microsoft.com/office/drawing/2014/main" id="{2EB2B533-DE3D-4AD5-A4A2-928650C5E5A5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614613" y="4953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72" name="Oval 28">
            <a:extLst>
              <a:ext uri="{FF2B5EF4-FFF2-40B4-BE49-F238E27FC236}">
                <a16:creationId xmlns:a16="http://schemas.microsoft.com/office/drawing/2014/main" id="{64CDE759-0EF3-3488-4997-830F51478C5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919413" y="4876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73" name="Oval 29">
            <a:extLst>
              <a:ext uri="{FF2B5EF4-FFF2-40B4-BE49-F238E27FC236}">
                <a16:creationId xmlns:a16="http://schemas.microsoft.com/office/drawing/2014/main" id="{FA7299CF-9390-360C-94B0-E3C3FE066EF7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452813" y="4724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74" name="Text Box 30">
            <a:extLst>
              <a:ext uri="{FF2B5EF4-FFF2-40B4-BE49-F238E27FC236}">
                <a16:creationId xmlns:a16="http://schemas.microsoft.com/office/drawing/2014/main" id="{677046F0-67BC-1274-B99E-9FE487EA0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286000"/>
            <a:ext cx="931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7DAF7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r</a:t>
            </a:r>
            <a:r>
              <a:rPr lang="en-US" altLang="en-US" sz="2400" b="1" baseline="30000"/>
              <a:t>2</a:t>
            </a:r>
            <a:r>
              <a:rPr lang="en-US" altLang="en-US" sz="2400" b="1"/>
              <a:t> = 1</a:t>
            </a:r>
          </a:p>
        </p:txBody>
      </p:sp>
      <p:sp>
        <p:nvSpPr>
          <p:cNvPr id="57375" name="Text Box 31">
            <a:extLst>
              <a:ext uri="{FF2B5EF4-FFF2-40B4-BE49-F238E27FC236}">
                <a16:creationId xmlns:a16="http://schemas.microsoft.com/office/drawing/2014/main" id="{2F656909-FF70-5FC0-2F38-8D424F2D2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048000"/>
            <a:ext cx="4419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>
                <a:latin typeface="Times New Roman" panose="02020603050405020304" pitchFamily="18" charset="0"/>
              </a:rPr>
              <a:t>Perfect linear relationship between X and Y:  </a:t>
            </a:r>
          </a:p>
          <a:p>
            <a:endParaRPr lang="en-US" altLang="en-US" sz="2400">
              <a:latin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</a:rPr>
              <a:t>100% of the variation in Y is explained by variation in 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73F31-A9EE-2F95-C090-66732CA8F0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71D5007-FB6D-5C45-A492-B964CEC7E7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871699F2-9F25-4688-981B-3884D870CCAB}" type="slidenum">
              <a:rPr lang="en-US" altLang="en-US"/>
              <a:pPr/>
              <a:t>29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DAC11FF7-FFD3-D7D9-E0BB-DB807965A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Coefficient of Determination, r</a:t>
            </a:r>
            <a:r>
              <a:rPr lang="en-US" altLang="en-US" baseline="30000"/>
              <a:t>2</a:t>
            </a:r>
          </a:p>
        </p:txBody>
      </p:sp>
      <p:sp>
        <p:nvSpPr>
          <p:cNvPr id="58372" name="Line 4">
            <a:extLst>
              <a:ext uri="{FF2B5EF4-FFF2-40B4-BE49-F238E27FC236}">
                <a16:creationId xmlns:a16="http://schemas.microsoft.com/office/drawing/2014/main" id="{127E6E00-C4E4-A6ED-F248-D1D4B1AB16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600" y="23622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3" name="Line 5">
            <a:extLst>
              <a:ext uri="{FF2B5EF4-FFF2-40B4-BE49-F238E27FC236}">
                <a16:creationId xmlns:a16="http://schemas.microsoft.com/office/drawing/2014/main" id="{7A40BB57-B044-439E-6E77-4A61ED7458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0125" y="2506663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4" name="Oval 6">
            <a:extLst>
              <a:ext uri="{FF2B5EF4-FFF2-40B4-BE49-F238E27FC236}">
                <a16:creationId xmlns:a16="http://schemas.microsoft.com/office/drawing/2014/main" id="{5C541FD2-7FAE-554B-8378-5A829DDF8FB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276600" y="3429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5" name="Oval 7">
            <a:extLst>
              <a:ext uri="{FF2B5EF4-FFF2-40B4-BE49-F238E27FC236}">
                <a16:creationId xmlns:a16="http://schemas.microsoft.com/office/drawing/2014/main" id="{B29C1F27-8DC9-31EF-A0F3-3DF2CC11756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041650" y="31162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6" name="Oval 8">
            <a:extLst>
              <a:ext uri="{FF2B5EF4-FFF2-40B4-BE49-F238E27FC236}">
                <a16:creationId xmlns:a16="http://schemas.microsoft.com/office/drawing/2014/main" id="{9C91A4FD-A970-1E49-ACE0-13FFD48DDF3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212850" y="21256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7" name="Oval 9">
            <a:extLst>
              <a:ext uri="{FF2B5EF4-FFF2-40B4-BE49-F238E27FC236}">
                <a16:creationId xmlns:a16="http://schemas.microsoft.com/office/drawing/2014/main" id="{C1968FA4-51C7-4CE5-D6A5-9882F12A60C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570038" y="25066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8" name="Oval 10">
            <a:extLst>
              <a:ext uri="{FF2B5EF4-FFF2-40B4-BE49-F238E27FC236}">
                <a16:creationId xmlns:a16="http://schemas.microsoft.com/office/drawing/2014/main" id="{EC47C508-4700-1B46-2590-F66E0E8B95A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736850" y="33448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9" name="Oval 11">
            <a:extLst>
              <a:ext uri="{FF2B5EF4-FFF2-40B4-BE49-F238E27FC236}">
                <a16:creationId xmlns:a16="http://schemas.microsoft.com/office/drawing/2014/main" id="{C0CC93EF-A713-C878-8C78-0E275D6CB74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060450" y="28114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80" name="Oval 12">
            <a:extLst>
              <a:ext uri="{FF2B5EF4-FFF2-40B4-BE49-F238E27FC236}">
                <a16:creationId xmlns:a16="http://schemas.microsoft.com/office/drawing/2014/main" id="{4EB8863D-CE2E-2E0C-60A6-3604070AE479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332038" y="32686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81" name="Oval 13">
            <a:extLst>
              <a:ext uri="{FF2B5EF4-FFF2-40B4-BE49-F238E27FC236}">
                <a16:creationId xmlns:a16="http://schemas.microsoft.com/office/drawing/2014/main" id="{DD1EC096-46D9-A693-C00A-37C2145B155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752600" y="22860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82" name="Oval 14">
            <a:extLst>
              <a:ext uri="{FF2B5EF4-FFF2-40B4-BE49-F238E27FC236}">
                <a16:creationId xmlns:a16="http://schemas.microsoft.com/office/drawing/2014/main" id="{CD762C43-682F-3DE2-24AB-46BE1E75DBA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90800" y="2590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83" name="Oval 15">
            <a:extLst>
              <a:ext uri="{FF2B5EF4-FFF2-40B4-BE49-F238E27FC236}">
                <a16:creationId xmlns:a16="http://schemas.microsoft.com/office/drawing/2014/main" id="{2CC9399A-75BE-9657-1DE8-55715D71D58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048000" y="2743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84" name="Oval 16">
            <a:extLst>
              <a:ext uri="{FF2B5EF4-FFF2-40B4-BE49-F238E27FC236}">
                <a16:creationId xmlns:a16="http://schemas.microsoft.com/office/drawing/2014/main" id="{EACA6B8F-63A4-55C7-B367-0946CC1747F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417638" y="29638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85" name="Oval 17">
            <a:extLst>
              <a:ext uri="{FF2B5EF4-FFF2-40B4-BE49-F238E27FC236}">
                <a16:creationId xmlns:a16="http://schemas.microsoft.com/office/drawing/2014/main" id="{97522C2E-E55A-762A-EC8F-FA670F2CB7F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209800" y="2590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58386" name="Oval 18">
            <a:extLst>
              <a:ext uri="{FF2B5EF4-FFF2-40B4-BE49-F238E27FC236}">
                <a16:creationId xmlns:a16="http://schemas.microsoft.com/office/drawing/2014/main" id="{0713AF71-B31F-C62E-F8A2-63A8CB45A910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752600" y="28956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87" name="Oval 19">
            <a:extLst>
              <a:ext uri="{FF2B5EF4-FFF2-40B4-BE49-F238E27FC236}">
                <a16:creationId xmlns:a16="http://schemas.microsoft.com/office/drawing/2014/main" id="{AEA9F7DA-4C6D-F016-5AC4-7A9FE1C3952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179638" y="29638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88" name="Text Box 20">
            <a:extLst>
              <a:ext uri="{FF2B5EF4-FFF2-40B4-BE49-F238E27FC236}">
                <a16:creationId xmlns:a16="http://schemas.microsoft.com/office/drawing/2014/main" id="{FCC07698-189A-D46F-9699-AABC70675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38" y="174307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Y</a:t>
            </a:r>
          </a:p>
        </p:txBody>
      </p:sp>
      <p:sp>
        <p:nvSpPr>
          <p:cNvPr id="58389" name="Line 21">
            <a:extLst>
              <a:ext uri="{FF2B5EF4-FFF2-40B4-BE49-F238E27FC236}">
                <a16:creationId xmlns:a16="http://schemas.microsoft.com/office/drawing/2014/main" id="{BE1A7E5E-EB96-19B4-7C51-01E013EF02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8100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0" name="Text Box 22">
            <a:extLst>
              <a:ext uri="{FF2B5EF4-FFF2-40B4-BE49-F238E27FC236}">
                <a16:creationId xmlns:a16="http://schemas.microsoft.com/office/drawing/2014/main" id="{D415D999-10C8-AFEE-CD6F-623B3D8A0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657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X</a:t>
            </a:r>
          </a:p>
        </p:txBody>
      </p:sp>
      <p:sp>
        <p:nvSpPr>
          <p:cNvPr id="58391" name="Line 23">
            <a:extLst>
              <a:ext uri="{FF2B5EF4-FFF2-40B4-BE49-F238E27FC236}">
                <a16:creationId xmlns:a16="http://schemas.microsoft.com/office/drawing/2014/main" id="{931BE45C-4B6D-56B1-4FF4-9E8DF5E6EA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4250" y="4640263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2" name="Line 24">
            <a:extLst>
              <a:ext uri="{FF2B5EF4-FFF2-40B4-BE49-F238E27FC236}">
                <a16:creationId xmlns:a16="http://schemas.microsoft.com/office/drawing/2014/main" id="{F70F0DAA-D33F-4FF9-2F1A-EDDF3A32C2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0125" y="4792663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3" name="Oval 25">
            <a:extLst>
              <a:ext uri="{FF2B5EF4-FFF2-40B4-BE49-F238E27FC236}">
                <a16:creationId xmlns:a16="http://schemas.microsoft.com/office/drawing/2014/main" id="{7E6ECF7B-DF89-2423-E67F-4C5AFC24475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212850" y="57070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4" name="Oval 26">
            <a:extLst>
              <a:ext uri="{FF2B5EF4-FFF2-40B4-BE49-F238E27FC236}">
                <a16:creationId xmlns:a16="http://schemas.microsoft.com/office/drawing/2014/main" id="{0EDD21F4-37BE-5667-2222-1F6F18E885E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212850" y="54022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5" name="Oval 27">
            <a:extLst>
              <a:ext uri="{FF2B5EF4-FFF2-40B4-BE49-F238E27FC236}">
                <a16:creationId xmlns:a16="http://schemas.microsoft.com/office/drawing/2014/main" id="{67894169-199B-EAF7-C9AA-C0BFA81DCA0A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965450" y="44116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6" name="Oval 28">
            <a:extLst>
              <a:ext uri="{FF2B5EF4-FFF2-40B4-BE49-F238E27FC236}">
                <a16:creationId xmlns:a16="http://schemas.microsoft.com/office/drawing/2014/main" id="{62BD7340-C8C1-5C9C-2CCC-5EB6619E9957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117850" y="47926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7" name="Oval 29">
            <a:extLst>
              <a:ext uri="{FF2B5EF4-FFF2-40B4-BE49-F238E27FC236}">
                <a16:creationId xmlns:a16="http://schemas.microsoft.com/office/drawing/2014/main" id="{DE93A78D-A69F-DC0F-3352-2CCC0CD2A41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670050" y="56308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8" name="Oval 30">
            <a:extLst>
              <a:ext uri="{FF2B5EF4-FFF2-40B4-BE49-F238E27FC236}">
                <a16:creationId xmlns:a16="http://schemas.microsoft.com/office/drawing/2014/main" id="{29A43DCD-B1D1-6CD8-D522-396C37EF9A8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965450" y="50212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9" name="Oval 31">
            <a:extLst>
              <a:ext uri="{FF2B5EF4-FFF2-40B4-BE49-F238E27FC236}">
                <a16:creationId xmlns:a16="http://schemas.microsoft.com/office/drawing/2014/main" id="{B3252A5D-A886-4E85-413E-7E4A67F7723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08250" y="56308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00" name="Oval 32">
            <a:extLst>
              <a:ext uri="{FF2B5EF4-FFF2-40B4-BE49-F238E27FC236}">
                <a16:creationId xmlns:a16="http://schemas.microsoft.com/office/drawing/2014/main" id="{D5F632DE-B1C4-BDDA-257A-1DFBEBBD1AB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84450" y="44116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01" name="Oval 33">
            <a:extLst>
              <a:ext uri="{FF2B5EF4-FFF2-40B4-BE49-F238E27FC236}">
                <a16:creationId xmlns:a16="http://schemas.microsoft.com/office/drawing/2014/main" id="{E4076EC3-C497-F086-0BD2-B5C1694F8600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051050" y="45640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02" name="Oval 34">
            <a:extLst>
              <a:ext uri="{FF2B5EF4-FFF2-40B4-BE49-F238E27FC236}">
                <a16:creationId xmlns:a16="http://schemas.microsoft.com/office/drawing/2014/main" id="{DF7AE892-00A1-9FF9-A17F-1E4E75C5E88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136650" y="50212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03" name="Oval 35">
            <a:extLst>
              <a:ext uri="{FF2B5EF4-FFF2-40B4-BE49-F238E27FC236}">
                <a16:creationId xmlns:a16="http://schemas.microsoft.com/office/drawing/2014/main" id="{CB9C91B2-0922-ADAD-FB45-AD4EAF153AF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365250" y="46402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04" name="Oval 36">
            <a:extLst>
              <a:ext uri="{FF2B5EF4-FFF2-40B4-BE49-F238E27FC236}">
                <a16:creationId xmlns:a16="http://schemas.microsoft.com/office/drawing/2014/main" id="{7FD0E8A3-7DF3-86A9-971A-594B37903F8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746250" y="5208588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58405" name="Oval 37">
            <a:extLst>
              <a:ext uri="{FF2B5EF4-FFF2-40B4-BE49-F238E27FC236}">
                <a16:creationId xmlns:a16="http://schemas.microsoft.com/office/drawing/2014/main" id="{6280B7DA-BB81-395E-B8F3-5A6A1673238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84450" y="51736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06" name="Oval 38">
            <a:extLst>
              <a:ext uri="{FF2B5EF4-FFF2-40B4-BE49-F238E27FC236}">
                <a16:creationId xmlns:a16="http://schemas.microsoft.com/office/drawing/2014/main" id="{E94F0132-9E91-2F89-31EA-0777C14669F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203450" y="53260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07" name="Oval 39">
            <a:extLst>
              <a:ext uri="{FF2B5EF4-FFF2-40B4-BE49-F238E27FC236}">
                <a16:creationId xmlns:a16="http://schemas.microsoft.com/office/drawing/2014/main" id="{70A35914-D7FC-580E-585A-2AB84E27822C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051050" y="57832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08" name="Text Box 40">
            <a:extLst>
              <a:ext uri="{FF2B5EF4-FFF2-40B4-BE49-F238E27FC236}">
                <a16:creationId xmlns:a16="http://schemas.microsoft.com/office/drawing/2014/main" id="{C0887044-3A97-AD1A-5E57-B5886BC6A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433387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Y</a:t>
            </a:r>
          </a:p>
        </p:txBody>
      </p:sp>
      <p:sp>
        <p:nvSpPr>
          <p:cNvPr id="58409" name="Line 41">
            <a:extLst>
              <a:ext uri="{FF2B5EF4-FFF2-40B4-BE49-F238E27FC236}">
                <a16:creationId xmlns:a16="http://schemas.microsoft.com/office/drawing/2014/main" id="{BCB673F4-9B22-2750-A1CC-A3E6F2A88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984250" y="6088063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10" name="Oval 42">
            <a:extLst>
              <a:ext uri="{FF2B5EF4-FFF2-40B4-BE49-F238E27FC236}">
                <a16:creationId xmlns:a16="http://schemas.microsoft.com/office/drawing/2014/main" id="{128E9727-1A74-582C-B7FD-410942400E7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346450" y="52498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11" name="Text Box 43">
            <a:extLst>
              <a:ext uri="{FF2B5EF4-FFF2-40B4-BE49-F238E27FC236}">
                <a16:creationId xmlns:a16="http://schemas.microsoft.com/office/drawing/2014/main" id="{3008B7FC-985E-FF39-973A-5315D7E19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438" y="593407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X</a:t>
            </a:r>
          </a:p>
        </p:txBody>
      </p:sp>
      <p:sp>
        <p:nvSpPr>
          <p:cNvPr id="58412" name="Oval 44">
            <a:extLst>
              <a:ext uri="{FF2B5EF4-FFF2-40B4-BE49-F238E27FC236}">
                <a16:creationId xmlns:a16="http://schemas.microsoft.com/office/drawing/2014/main" id="{68482126-EC17-C86E-45C2-FA0CEF6464D0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508250" y="48688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13" name="Oval 45">
            <a:extLst>
              <a:ext uri="{FF2B5EF4-FFF2-40B4-BE49-F238E27FC236}">
                <a16:creationId xmlns:a16="http://schemas.microsoft.com/office/drawing/2014/main" id="{305B8B1E-4C65-946C-2CC5-3CC1DA6EFA39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355850" y="45640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14" name="Oval 46">
            <a:extLst>
              <a:ext uri="{FF2B5EF4-FFF2-40B4-BE49-F238E27FC236}">
                <a16:creationId xmlns:a16="http://schemas.microsoft.com/office/drawing/2014/main" id="{694A86F5-2569-B102-84E9-B961AC94063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822450" y="48688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15" name="Oval 47">
            <a:extLst>
              <a:ext uri="{FF2B5EF4-FFF2-40B4-BE49-F238E27FC236}">
                <a16:creationId xmlns:a16="http://schemas.microsoft.com/office/drawing/2014/main" id="{3E64887C-025E-125E-0D3E-FC9ACA9949CE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636838" y="2887663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16" name="Oval 48">
            <a:extLst>
              <a:ext uri="{FF2B5EF4-FFF2-40B4-BE49-F238E27FC236}">
                <a16:creationId xmlns:a16="http://schemas.microsoft.com/office/drawing/2014/main" id="{5C8BC28B-CEFA-FE17-3FBF-E8128429ED42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905000" y="25908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17" name="Oval 49">
            <a:extLst>
              <a:ext uri="{FF2B5EF4-FFF2-40B4-BE49-F238E27FC236}">
                <a16:creationId xmlns:a16="http://schemas.microsoft.com/office/drawing/2014/main" id="{227D109F-F302-6F60-4810-DEDA20BCD14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905000" y="3124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418" name="Text Box 50">
            <a:extLst>
              <a:ext uri="{FF2B5EF4-FFF2-40B4-BE49-F238E27FC236}">
                <a16:creationId xmlns:a16="http://schemas.microsoft.com/office/drawing/2014/main" id="{842F76F7-FFD0-6402-F737-9375B5A82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2860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7DAF7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0 &lt; r</a:t>
            </a:r>
            <a:r>
              <a:rPr lang="en-US" altLang="en-US" sz="2400" b="1" baseline="30000"/>
              <a:t>2</a:t>
            </a:r>
            <a:r>
              <a:rPr lang="en-US" altLang="en-US" sz="2400" b="1"/>
              <a:t> &lt; 1</a:t>
            </a:r>
          </a:p>
        </p:txBody>
      </p:sp>
      <p:sp>
        <p:nvSpPr>
          <p:cNvPr id="58419" name="Text Box 51">
            <a:extLst>
              <a:ext uri="{FF2B5EF4-FFF2-40B4-BE49-F238E27FC236}">
                <a16:creationId xmlns:a16="http://schemas.microsoft.com/office/drawing/2014/main" id="{F9EC743E-9EA4-3C5F-EE84-CD9DCE626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048000"/>
            <a:ext cx="41910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>
                <a:latin typeface="Times New Roman" panose="02020603050405020304" pitchFamily="18" charset="0"/>
              </a:rPr>
              <a:t>Weaker linear relationships between X and Y:  </a:t>
            </a:r>
          </a:p>
          <a:p>
            <a:endParaRPr lang="en-US" altLang="en-US" sz="2400">
              <a:latin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</a:rPr>
              <a:t>Some but not all of the variation in Y is explained by variation in X</a:t>
            </a:r>
          </a:p>
        </p:txBody>
      </p:sp>
      <p:sp>
        <p:nvSpPr>
          <p:cNvPr id="58420" name="Oval 52">
            <a:extLst>
              <a:ext uri="{FF2B5EF4-FFF2-40B4-BE49-F238E27FC236}">
                <a16:creationId xmlns:a16="http://schemas.microsoft.com/office/drawing/2014/main" id="{D6C7B8AF-5293-73F1-CCF3-88D339725378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3048000" y="54102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D1AD618-B80C-F7E6-C982-55EF656097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9CB54CD-5CFB-A24D-5B28-5B9273001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6CDD7AA7-0975-4115-B731-06F7E687A0FB}" type="slidenum">
              <a:rPr lang="en-US" altLang="en-US"/>
              <a:pPr/>
              <a:t>30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1992C51B-DA14-8B8A-4540-8C0D126DBF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Coefficient of Determination, r</a:t>
            </a:r>
            <a:r>
              <a:rPr lang="en-US" altLang="en-US" baseline="30000"/>
              <a:t>2</a:t>
            </a:r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3CDA88EC-AC71-B11C-B21A-BB92866EC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286000"/>
            <a:ext cx="931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7DAF7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r</a:t>
            </a:r>
            <a:r>
              <a:rPr lang="en-US" altLang="en-US" sz="2400" b="1" baseline="30000"/>
              <a:t>2</a:t>
            </a:r>
            <a:r>
              <a:rPr lang="en-US" altLang="en-US" sz="2400" b="1"/>
              <a:t> = 0</a:t>
            </a:r>
          </a:p>
        </p:txBody>
      </p:sp>
      <p:sp>
        <p:nvSpPr>
          <p:cNvPr id="59397" name="Text Box 5">
            <a:extLst>
              <a:ext uri="{FF2B5EF4-FFF2-40B4-BE49-F238E27FC236}">
                <a16:creationId xmlns:a16="http://schemas.microsoft.com/office/drawing/2014/main" id="{363E7B44-2124-B5FE-C938-D66808256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048000"/>
            <a:ext cx="44958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>
                <a:latin typeface="Times New Roman" panose="02020603050405020304" pitchFamily="18" charset="0"/>
              </a:rPr>
              <a:t>No linear relationship between X and Y:  </a:t>
            </a:r>
          </a:p>
          <a:p>
            <a:endParaRPr lang="en-US" altLang="en-US" sz="2400">
              <a:latin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</a:rPr>
              <a:t>The value of Y is not related to X.  (None of the variation in Y is explained by variation in X)</a:t>
            </a:r>
          </a:p>
        </p:txBody>
      </p:sp>
      <p:sp>
        <p:nvSpPr>
          <p:cNvPr id="59398" name="Line 6">
            <a:extLst>
              <a:ext uri="{FF2B5EF4-FFF2-40B4-BE49-F238E27FC236}">
                <a16:creationId xmlns:a16="http://schemas.microsoft.com/office/drawing/2014/main" id="{4FCEB1FE-3131-AE98-703D-05870755D9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0588" y="2936875"/>
            <a:ext cx="0" cy="160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399" name="Oval 7">
            <a:extLst>
              <a:ext uri="{FF2B5EF4-FFF2-40B4-BE49-F238E27FC236}">
                <a16:creationId xmlns:a16="http://schemas.microsoft.com/office/drawing/2014/main" id="{50179A18-6F67-037E-70BA-3CA75A46954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143000" y="36988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0" name="Oval 8">
            <a:extLst>
              <a:ext uri="{FF2B5EF4-FFF2-40B4-BE49-F238E27FC236}">
                <a16:creationId xmlns:a16="http://schemas.microsoft.com/office/drawing/2014/main" id="{9B0BD321-8BA9-906D-7139-E641CDBEDFAF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971800" y="33178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1" name="Oval 9">
            <a:extLst>
              <a:ext uri="{FF2B5EF4-FFF2-40B4-BE49-F238E27FC236}">
                <a16:creationId xmlns:a16="http://schemas.microsoft.com/office/drawing/2014/main" id="{A6BA2C51-BAFA-0F73-F167-8FB881483D1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667000" y="34702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2" name="Oval 10">
            <a:extLst>
              <a:ext uri="{FF2B5EF4-FFF2-40B4-BE49-F238E27FC236}">
                <a16:creationId xmlns:a16="http://schemas.microsoft.com/office/drawing/2014/main" id="{CCD8E9DB-8E95-E5BC-3345-EED602554064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286000" y="37750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3" name="Oval 11">
            <a:extLst>
              <a:ext uri="{FF2B5EF4-FFF2-40B4-BE49-F238E27FC236}">
                <a16:creationId xmlns:a16="http://schemas.microsoft.com/office/drawing/2014/main" id="{6CE56EEB-0B50-893C-B56A-20C15963857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362200" y="31654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4" name="Oval 12">
            <a:extLst>
              <a:ext uri="{FF2B5EF4-FFF2-40B4-BE49-F238E27FC236}">
                <a16:creationId xmlns:a16="http://schemas.microsoft.com/office/drawing/2014/main" id="{12B2489D-3B08-73A4-0992-9DD730FE132D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905000" y="31654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5" name="Oval 13">
            <a:extLst>
              <a:ext uri="{FF2B5EF4-FFF2-40B4-BE49-F238E27FC236}">
                <a16:creationId xmlns:a16="http://schemas.microsoft.com/office/drawing/2014/main" id="{BAA609F7-570D-346F-6AC9-4F73DB91797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066800" y="32416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6" name="Oval 14">
            <a:extLst>
              <a:ext uri="{FF2B5EF4-FFF2-40B4-BE49-F238E27FC236}">
                <a16:creationId xmlns:a16="http://schemas.microsoft.com/office/drawing/2014/main" id="{E234E651-F7A6-8518-7AE7-B090D8E0B5A9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371600" y="33940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7" name="Oval 15">
            <a:extLst>
              <a:ext uri="{FF2B5EF4-FFF2-40B4-BE49-F238E27FC236}">
                <a16:creationId xmlns:a16="http://schemas.microsoft.com/office/drawing/2014/main" id="{0AA82CAF-DB32-29F3-4153-F2E08C1DE4EB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676400" y="3581400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sz="2400"/>
          </a:p>
        </p:txBody>
      </p:sp>
      <p:sp>
        <p:nvSpPr>
          <p:cNvPr id="59408" name="Oval 16">
            <a:extLst>
              <a:ext uri="{FF2B5EF4-FFF2-40B4-BE49-F238E27FC236}">
                <a16:creationId xmlns:a16="http://schemas.microsoft.com/office/drawing/2014/main" id="{E69357B0-474E-C4DE-07FA-C7919BA67501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057400" y="35464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9" name="Oval 17">
            <a:extLst>
              <a:ext uri="{FF2B5EF4-FFF2-40B4-BE49-F238E27FC236}">
                <a16:creationId xmlns:a16="http://schemas.microsoft.com/office/drawing/2014/main" id="{FF404F70-45FA-1051-591D-E8054E904153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1828800" y="38512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10" name="Text Box 18">
            <a:extLst>
              <a:ext uri="{FF2B5EF4-FFF2-40B4-BE49-F238E27FC236}">
                <a16:creationId xmlns:a16="http://schemas.microsoft.com/office/drawing/2014/main" id="{52DA9CDA-25B4-5725-A38F-28EA4F3B4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25542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Y</a:t>
            </a:r>
          </a:p>
        </p:txBody>
      </p:sp>
      <p:sp>
        <p:nvSpPr>
          <p:cNvPr id="59411" name="Line 19">
            <a:extLst>
              <a:ext uri="{FF2B5EF4-FFF2-40B4-BE49-F238E27FC236}">
                <a16:creationId xmlns:a16="http://schemas.microsoft.com/office/drawing/2014/main" id="{500A212A-1C13-92C4-0F18-4B6D36F57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537075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12" name="Oval 20">
            <a:extLst>
              <a:ext uri="{FF2B5EF4-FFF2-40B4-BE49-F238E27FC236}">
                <a16:creationId xmlns:a16="http://schemas.microsoft.com/office/drawing/2014/main" id="{7DA79B97-7E05-7462-DBE0-F91EE9D36DA6}"/>
              </a:ext>
            </a:extLst>
          </p:cNvPr>
          <p:cNvSpPr>
            <a:spLocks noChangeArrowheads="1"/>
          </p:cNvSpPr>
          <p:nvPr/>
        </p:nvSpPr>
        <p:spPr bwMode="auto">
          <a:xfrm rot="-7282380">
            <a:off x="2795588" y="3698875"/>
            <a:ext cx="228600" cy="2286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13" name="Text Box 21">
            <a:extLst>
              <a:ext uri="{FF2B5EF4-FFF2-40B4-BE49-F238E27FC236}">
                <a16:creationId xmlns:a16="http://schemas.microsoft.com/office/drawing/2014/main" id="{F2DE07C6-BCD7-293E-3F88-784BD550A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4592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/>
              <a:t>X</a:t>
            </a:r>
          </a:p>
        </p:txBody>
      </p:sp>
      <p:sp>
        <p:nvSpPr>
          <p:cNvPr id="59414" name="Line 22">
            <a:extLst>
              <a:ext uri="{FF2B5EF4-FFF2-40B4-BE49-F238E27FC236}">
                <a16:creationId xmlns:a16="http://schemas.microsoft.com/office/drawing/2014/main" id="{1B4E4647-5753-51F8-7364-551B6F692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3622675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15" name="Text Box 23">
            <a:extLst>
              <a:ext uri="{FF2B5EF4-FFF2-40B4-BE49-F238E27FC236}">
                <a16:creationId xmlns:a16="http://schemas.microsoft.com/office/drawing/2014/main" id="{C7FCEA9D-A0DD-E4A7-5950-D65B3084C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3" y="4613275"/>
            <a:ext cx="931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7DAF7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en-US" sz="2400" b="1"/>
              <a:t>r</a:t>
            </a:r>
            <a:r>
              <a:rPr lang="en-US" altLang="en-US" sz="2400" b="1" baseline="30000"/>
              <a:t>2</a:t>
            </a:r>
            <a:r>
              <a:rPr lang="en-US" altLang="en-US" sz="2400" b="1"/>
              <a:t> = 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5035915-B9AF-FA61-D9F8-27DFF60C6D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3A5FFFB-99A3-FDE2-383C-905214E041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E6F8FD31-CF7C-422C-9D2C-43DE6585698B}" type="slidenum">
              <a:rPr lang="en-US" altLang="en-US"/>
              <a:pPr/>
              <a:t>31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A823B01-A7FC-5825-13C9-D4B54F58F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  <a:br>
              <a:rPr lang="en-US" altLang="en-US"/>
            </a:br>
            <a:r>
              <a:rPr lang="en-US" altLang="en-US"/>
              <a:t>Coefficient of Determination, r</a:t>
            </a:r>
            <a:r>
              <a:rPr lang="en-US" altLang="en-US" baseline="30000"/>
              <a:t>2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A00EDA41-4D01-7F65-41E5-7C6B22737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648200"/>
            <a:ext cx="990600" cy="228600"/>
          </a:xfrm>
          <a:prstGeom prst="rect">
            <a:avLst/>
          </a:prstGeom>
          <a:solidFill>
            <a:srgbClr val="C7DAF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EDA2A598-7463-6EB7-47BD-81C8B260D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114800"/>
            <a:ext cx="990600" cy="228600"/>
          </a:xfrm>
          <a:prstGeom prst="rect">
            <a:avLst/>
          </a:prstGeom>
          <a:solidFill>
            <a:srgbClr val="C7DAF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2" name="Oval 6">
            <a:extLst>
              <a:ext uri="{FF2B5EF4-FFF2-40B4-BE49-F238E27FC236}">
                <a16:creationId xmlns:a16="http://schemas.microsoft.com/office/drawing/2014/main" id="{50BD485B-C0F3-D912-718D-E19C865FF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33600"/>
            <a:ext cx="3124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75E8747C-6E8B-05B7-3EF7-785B40C7D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810000"/>
            <a:ext cx="381000" cy="228600"/>
          </a:xfrm>
          <a:prstGeom prst="rect">
            <a:avLst/>
          </a:prstGeom>
          <a:solidFill>
            <a:srgbClr val="C7DAF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4" name="Rectangle 8">
            <a:extLst>
              <a:ext uri="{FF2B5EF4-FFF2-40B4-BE49-F238E27FC236}">
                <a16:creationId xmlns:a16="http://schemas.microsoft.com/office/drawing/2014/main" id="{5375C072-0626-012F-F3A5-5DE2AD73E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648200"/>
            <a:ext cx="990600" cy="228600"/>
          </a:xfrm>
          <a:prstGeom prst="rect">
            <a:avLst/>
          </a:prstGeom>
          <a:solidFill>
            <a:srgbClr val="C7DAF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5" name="Rectangle 9">
            <a:extLst>
              <a:ext uri="{FF2B5EF4-FFF2-40B4-BE49-F238E27FC236}">
                <a16:creationId xmlns:a16="http://schemas.microsoft.com/office/drawing/2014/main" id="{1E4FFCB3-4977-D223-5AD2-F6A4177D8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14800"/>
            <a:ext cx="990600" cy="228600"/>
          </a:xfrm>
          <a:prstGeom prst="rect">
            <a:avLst/>
          </a:prstGeom>
          <a:solidFill>
            <a:srgbClr val="C7DAF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0426" name="Group 10">
            <a:extLst>
              <a:ext uri="{FF2B5EF4-FFF2-40B4-BE49-F238E27FC236}">
                <a16:creationId xmlns:a16="http://schemas.microsoft.com/office/drawing/2014/main" id="{00F501D2-FD61-5BE2-52B2-BE498B30D2AB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676400"/>
          <a:ext cx="8229600" cy="435483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154453589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17762802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665577156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428110242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3463641150"/>
                    </a:ext>
                  </a:extLst>
                </a:gridCol>
                <a:gridCol w="1252537">
                  <a:extLst>
                    <a:ext uri="{9D8B030D-6E8A-4147-A177-3AD203B41FA5}">
                      <a16:colId xmlns:a16="http://schemas.microsoft.com/office/drawing/2014/main" val="119129631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390442704"/>
                    </a:ext>
                  </a:extLst>
                </a:gridCol>
              </a:tblGrid>
              <a:tr h="255588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 Statistics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194333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Multiple 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0.76211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712806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 Square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0.58082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176808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Adjusted R Square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0.52842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445122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41.33032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072487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02023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828966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ANOVA</a:t>
                      </a:r>
                    </a:p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Significance 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441675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18934.9348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18934.9348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11.0848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81114"/>
                  </a:ext>
                </a:extLst>
              </a:tr>
              <a:tr h="301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Residual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13665.5652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1708.1957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601209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Total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32600.5000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639922"/>
                  </a:ext>
                </a:extLst>
              </a:tr>
              <a:tr h="28892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55591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560203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98.24833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58.03348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1.69296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0.12892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-35.57720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232.07386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049577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Square Feet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0.10977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0.03297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3.32938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0.03374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0.18580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410499"/>
                  </a:ext>
                </a:extLst>
              </a:tr>
            </a:tbl>
          </a:graphicData>
        </a:graphic>
      </p:graphicFrame>
      <p:sp>
        <p:nvSpPr>
          <p:cNvPr id="60542" name="Line 126">
            <a:extLst>
              <a:ext uri="{FF2B5EF4-FFF2-40B4-BE49-F238E27FC236}">
                <a16:creationId xmlns:a16="http://schemas.microsoft.com/office/drawing/2014/main" id="{83571815-B9FC-6581-D2BB-960E2EC2FA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1981200"/>
            <a:ext cx="838200" cy="304800"/>
          </a:xfrm>
          <a:prstGeom prst="line">
            <a:avLst/>
          </a:prstGeom>
          <a:noFill/>
          <a:ln w="28575">
            <a:solidFill>
              <a:schemeClr val="bg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60543" name="Text Box 127">
            <a:extLst>
              <a:ext uri="{FF2B5EF4-FFF2-40B4-BE49-F238E27FC236}">
                <a16:creationId xmlns:a16="http://schemas.microsoft.com/office/drawing/2014/main" id="{698513B9-8F15-C195-0ECC-8AB932809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514600"/>
            <a:ext cx="3692525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58.08% of the variation in house prices is explained by variation in square feet</a:t>
            </a:r>
          </a:p>
        </p:txBody>
      </p:sp>
      <p:sp>
        <p:nvSpPr>
          <p:cNvPr id="60544" name="Line 128">
            <a:extLst>
              <a:ext uri="{FF2B5EF4-FFF2-40B4-BE49-F238E27FC236}">
                <a16:creationId xmlns:a16="http://schemas.microsoft.com/office/drawing/2014/main" id="{2079DD04-9045-8133-9C41-2213A9AD92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1910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60545" name="Line 129">
            <a:extLst>
              <a:ext uri="{FF2B5EF4-FFF2-40B4-BE49-F238E27FC236}">
                <a16:creationId xmlns:a16="http://schemas.microsoft.com/office/drawing/2014/main" id="{ED6A94E0-697D-7452-E9E6-8715E0F10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800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graphicFrame>
        <p:nvGraphicFramePr>
          <p:cNvPr id="60546" name="Object 130">
            <a:extLst>
              <a:ext uri="{FF2B5EF4-FFF2-40B4-BE49-F238E27FC236}">
                <a16:creationId xmlns:a16="http://schemas.microsoft.com/office/drawing/2014/main" id="{548C8D0C-CB5B-4834-E7CC-F04B4EA7BF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1676400"/>
          <a:ext cx="418782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393480" progId="Equation.3">
                  <p:embed/>
                </p:oleObj>
              </mc:Choice>
              <mc:Fallback>
                <p:oleObj name="Equation" r:id="rId2" imgW="2171520" imgH="393480" progId="Equation.3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676400"/>
                        <a:ext cx="4187825" cy="7572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547" name="Line 131">
            <a:extLst>
              <a:ext uri="{FF2B5EF4-FFF2-40B4-BE49-F238E27FC236}">
                <a16:creationId xmlns:a16="http://schemas.microsoft.com/office/drawing/2014/main" id="{DB4F090D-0B8A-0223-C08A-A68D3D94F9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2286000"/>
            <a:ext cx="609600" cy="1295400"/>
          </a:xfrm>
          <a:prstGeom prst="line">
            <a:avLst/>
          </a:prstGeom>
          <a:noFill/>
          <a:ln w="28575">
            <a:solidFill>
              <a:schemeClr val="bg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60548" name="Rectangle 132">
            <a:extLst>
              <a:ext uri="{FF2B5EF4-FFF2-40B4-BE49-F238E27FC236}">
                <a16:creationId xmlns:a16="http://schemas.microsoft.com/office/drawing/2014/main" id="{FBD58705-289E-F123-7CB7-221DCBBDA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81400"/>
            <a:ext cx="4191000" cy="1371600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AB11125-4ACD-1DF5-323E-79848292E8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C048507-B3CC-C4E2-A8D9-B3EE53029B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EA291574-9F78-4F22-B159-7F03847FB781}" type="slidenum">
              <a:rPr lang="en-US" altLang="en-US"/>
              <a:pPr/>
              <a:t>32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DCC6F581-658F-1BF0-1711-62B342028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Standard Error of Estimate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65C0D04D-A974-8928-11D4-252C17E64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8382000" cy="1066800"/>
          </a:xfrm>
          <a:noFill/>
          <a:ln/>
        </p:spPr>
        <p:txBody>
          <a:bodyPr lIns="85342" tIns="42672" rIns="85342" bIns="42672"/>
          <a:lstStyle/>
          <a:p>
            <a:r>
              <a:rPr lang="en-US" altLang="en-US"/>
              <a:t>The standard deviation of the variation of observations around the regression line is estimated by</a:t>
            </a:r>
          </a:p>
        </p:txBody>
      </p:sp>
      <p:graphicFrame>
        <p:nvGraphicFramePr>
          <p:cNvPr id="61445" name="Object 5">
            <a:extLst>
              <a:ext uri="{FF2B5EF4-FFF2-40B4-BE49-F238E27FC236}">
                <a16:creationId xmlns:a16="http://schemas.microsoft.com/office/drawing/2014/main" id="{2046E177-06D2-2572-10EA-3111D1E64D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3151188"/>
          <a:ext cx="5043488" cy="1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660240" progId="Equation.3">
                  <p:embed/>
                </p:oleObj>
              </mc:Choice>
              <mc:Fallback>
                <p:oleObj name="Equation" r:id="rId2" imgW="1841400" imgH="660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3151188"/>
                        <a:ext cx="5043488" cy="18018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6" name="Rectangle 6">
            <a:extLst>
              <a:ext uri="{FF2B5EF4-FFF2-40B4-BE49-F238E27FC236}">
                <a16:creationId xmlns:a16="http://schemas.microsoft.com/office/drawing/2014/main" id="{10E277CE-C566-F15A-8556-5D39FF3EA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089525"/>
            <a:ext cx="7086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Where</a:t>
            </a:r>
          </a:p>
          <a:p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	SSE  = error sum of squares</a:t>
            </a:r>
          </a:p>
          <a:p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	      n = sample size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63B6711-4F16-1927-E7A8-296D4FE6D7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7A40082-8C4E-43DB-24F1-4A71901CA3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8ACF7BFB-14D6-4D48-9535-3492BDC37851}" type="slidenum">
              <a:rPr lang="en-US" altLang="en-US"/>
              <a:pPr/>
              <a:t>33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991066B6-1425-742E-9FF0-F5452A92CE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Regression Example</a:t>
            </a:r>
            <a:br>
              <a:rPr lang="en-US" altLang="en-US"/>
            </a:br>
            <a:r>
              <a:rPr lang="en-US" altLang="en-US"/>
              <a:t>Standard Error of Estimate</a:t>
            </a:r>
          </a:p>
        </p:txBody>
      </p:sp>
      <p:sp>
        <p:nvSpPr>
          <p:cNvPr id="62468" name="Oval 4">
            <a:extLst>
              <a:ext uri="{FF2B5EF4-FFF2-40B4-BE49-F238E27FC236}">
                <a16:creationId xmlns:a16="http://schemas.microsoft.com/office/drawing/2014/main" id="{E446A21B-BEB9-9A23-C481-4D4061616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95600"/>
            <a:ext cx="3124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2469" name="Group 5">
            <a:extLst>
              <a:ext uri="{FF2B5EF4-FFF2-40B4-BE49-F238E27FC236}">
                <a16:creationId xmlns:a16="http://schemas.microsoft.com/office/drawing/2014/main" id="{1927A888-CBBD-1E64-7D2C-C0AE9529394C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905000"/>
          <a:ext cx="8229600" cy="4368165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392438028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61551803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03489617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610106823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1911775965"/>
                    </a:ext>
                  </a:extLst>
                </a:gridCol>
                <a:gridCol w="1252537">
                  <a:extLst>
                    <a:ext uri="{9D8B030D-6E8A-4147-A177-3AD203B41FA5}">
                      <a16:colId xmlns:a16="http://schemas.microsoft.com/office/drawing/2014/main" val="276710009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168046351"/>
                    </a:ext>
                  </a:extLst>
                </a:gridCol>
              </a:tblGrid>
              <a:tr h="255588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 Statistics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012530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Multiple 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0.76211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482686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 Square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0.58082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925303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Adjusted R Square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0.52842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907555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41.33032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385955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694096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510896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ANOVA</a:t>
                      </a:r>
                    </a:p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Significance 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02367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18934.9348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18934.9348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11.0848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241852"/>
                  </a:ext>
                </a:extLst>
              </a:tr>
              <a:tr h="301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Residual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13665.5652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1708.1957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069618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Total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32600.5000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401458"/>
                  </a:ext>
                </a:extLst>
              </a:tr>
              <a:tr h="28892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055483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97055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98.24833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58.03348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1.69296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0.12892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-35.57720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232.07386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00649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Square Feet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0.10977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0.03297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3.32938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0.03374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0.18580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393998"/>
                  </a:ext>
                </a:extLst>
              </a:tr>
            </a:tbl>
          </a:graphicData>
        </a:graphic>
      </p:graphicFrame>
      <p:sp>
        <p:nvSpPr>
          <p:cNvPr id="62585" name="Line 121">
            <a:extLst>
              <a:ext uri="{FF2B5EF4-FFF2-40B4-BE49-F238E27FC236}">
                <a16:creationId xmlns:a16="http://schemas.microsoft.com/office/drawing/2014/main" id="{AA484D9A-58C2-397A-DBCC-469D08CF3B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362200"/>
            <a:ext cx="609600" cy="685800"/>
          </a:xfrm>
          <a:prstGeom prst="line">
            <a:avLst/>
          </a:prstGeom>
          <a:noFill/>
          <a:ln w="28575">
            <a:solidFill>
              <a:schemeClr val="bg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graphicFrame>
        <p:nvGraphicFramePr>
          <p:cNvPr id="62586" name="Object 122">
            <a:extLst>
              <a:ext uri="{FF2B5EF4-FFF2-40B4-BE49-F238E27FC236}">
                <a16:creationId xmlns:a16="http://schemas.microsoft.com/office/drawing/2014/main" id="{769BD428-94D3-F28A-23A1-0205F025C3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2057400"/>
          <a:ext cx="268763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215640" progId="Equation.3">
                  <p:embed/>
                </p:oleObj>
              </mc:Choice>
              <mc:Fallback>
                <p:oleObj name="Equation" r:id="rId2" imgW="1091880" imgH="215640" progId="Equation.3">
                  <p:embed/>
                  <p:pic>
                    <p:nvPicPr>
                      <p:cNvPr id="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057400"/>
                        <a:ext cx="2687638" cy="5286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3E3D615-0284-378B-5938-6416517A6A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8E8D7FA-DA58-F04D-328E-BEBB777048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E3BB3D48-C072-481B-B6AD-ABE739BD6310}" type="slidenum">
              <a:rPr lang="en-US" altLang="en-US"/>
              <a:pPr/>
              <a:t>34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EBF2446C-F206-F28F-1966-1AFFE0027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Inferences About the Slope: </a:t>
            </a:r>
            <a:br>
              <a:rPr lang="en-US" altLang="en-US"/>
            </a:br>
            <a:r>
              <a:rPr lang="en-US" altLang="en-US"/>
              <a:t>t Test</a:t>
            </a:r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CC6E6AD2-AC53-556B-8D16-D9ABC0CCA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848600" cy="2743200"/>
          </a:xfrm>
          <a:noFill/>
          <a:ln/>
        </p:spPr>
        <p:txBody>
          <a:bodyPr lIns="85342" tIns="42672" rIns="85342" bIns="42672"/>
          <a:lstStyle/>
          <a:p>
            <a:pPr>
              <a:lnSpc>
                <a:spcPct val="90000"/>
              </a:lnSpc>
            </a:pPr>
            <a:r>
              <a:rPr lang="en-US" altLang="en-US"/>
              <a:t>t test for a population slope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Is there a linear relationship between X and Y?</a:t>
            </a:r>
          </a:p>
          <a:p>
            <a:pPr>
              <a:lnSpc>
                <a:spcPct val="90000"/>
              </a:lnSpc>
            </a:pPr>
            <a:r>
              <a:rPr lang="en-US" altLang="en-US"/>
              <a:t>Null and alternative hypotheses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  H</a:t>
            </a:r>
            <a:r>
              <a:rPr lang="en-US" altLang="en-US" baseline="-25000"/>
              <a:t>0</a:t>
            </a:r>
            <a:r>
              <a:rPr lang="en-US" altLang="en-US"/>
              <a:t>:  </a:t>
            </a:r>
            <a:r>
              <a:rPr lang="el-GR" altLang="en-US"/>
              <a:t>β</a:t>
            </a:r>
            <a:r>
              <a:rPr lang="en-US" altLang="en-US" baseline="-25000"/>
              <a:t>1</a:t>
            </a:r>
            <a:r>
              <a:rPr lang="en-US" altLang="en-US"/>
              <a:t> = 0	(no linear relationship)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  H</a:t>
            </a:r>
            <a:r>
              <a:rPr lang="en-US" altLang="en-US" baseline="-25000"/>
              <a:t>1</a:t>
            </a:r>
            <a:r>
              <a:rPr lang="en-US" altLang="en-US"/>
              <a:t>:  </a:t>
            </a:r>
            <a:r>
              <a:rPr lang="el-GR" altLang="en-US"/>
              <a:t>β</a:t>
            </a:r>
            <a:r>
              <a:rPr lang="en-US" altLang="en-US" baseline="-25000"/>
              <a:t>1</a:t>
            </a:r>
            <a:r>
              <a:rPr lang="en-US" altLang="en-US"/>
              <a:t> </a:t>
            </a:r>
            <a:r>
              <a:rPr lang="en-US" altLang="en-US">
                <a:cs typeface="Times New Roman" panose="02020603050405020304" pitchFamily="18" charset="0"/>
              </a:rPr>
              <a:t>≠</a:t>
            </a:r>
            <a:r>
              <a:rPr lang="en-US" altLang="en-US"/>
              <a:t> 0	(linear relationship does exist)</a:t>
            </a:r>
          </a:p>
          <a:p>
            <a:pPr>
              <a:lnSpc>
                <a:spcPct val="90000"/>
              </a:lnSpc>
            </a:pPr>
            <a:r>
              <a:rPr lang="en-US" altLang="en-US"/>
              <a:t>Test statistic</a:t>
            </a:r>
            <a:r>
              <a:rPr lang="en-US" altLang="en-US" sz="3100"/>
              <a:t>  </a:t>
            </a:r>
          </a:p>
        </p:txBody>
      </p:sp>
      <p:graphicFrame>
        <p:nvGraphicFramePr>
          <p:cNvPr id="76806" name="Object 6">
            <a:extLst>
              <a:ext uri="{FF2B5EF4-FFF2-40B4-BE49-F238E27FC236}">
                <a16:creationId xmlns:a16="http://schemas.microsoft.com/office/drawing/2014/main" id="{704D6E58-954B-9803-8095-78BE032CED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3925" y="4419600"/>
          <a:ext cx="1876425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457200" progId="Equation.3">
                  <p:embed/>
                </p:oleObj>
              </mc:Choice>
              <mc:Fallback>
                <p:oleObj name="Equation" r:id="rId2" imgW="66024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4419600"/>
                        <a:ext cx="1876425" cy="12969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>
            <a:extLst>
              <a:ext uri="{FF2B5EF4-FFF2-40B4-BE49-F238E27FC236}">
                <a16:creationId xmlns:a16="http://schemas.microsoft.com/office/drawing/2014/main" id="{565778F1-3931-6AC3-55B5-6C0F685900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8674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177480" progId="Equation.3">
                  <p:embed/>
                </p:oleObj>
              </mc:Choice>
              <mc:Fallback>
                <p:oleObj name="Equation" r:id="rId4" imgW="711000" imgH="177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867400"/>
                        <a:ext cx="1676400" cy="4191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8" name="Rectangle 8">
            <a:extLst>
              <a:ext uri="{FF2B5EF4-FFF2-40B4-BE49-F238E27FC236}">
                <a16:creationId xmlns:a16="http://schemas.microsoft.com/office/drawing/2014/main" id="{D84C5813-33D4-655B-D571-8D62D86FF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267200"/>
            <a:ext cx="2819400" cy="204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where: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b</a:t>
            </a:r>
            <a:r>
              <a:rPr lang="en-US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= regression slope</a:t>
            </a:r>
          </a:p>
          <a:p>
            <a:pPr>
              <a:lnSpc>
                <a:spcPct val="30000"/>
              </a:lnSpc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 coefficient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l-GR" altLang="en-US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baseline="-25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= hypothesized slope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S</a:t>
            </a:r>
            <a:r>
              <a:rPr lang="en-US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b1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= standard</a:t>
            </a:r>
          </a:p>
          <a:p>
            <a:pPr>
              <a:lnSpc>
                <a:spcPct val="30000"/>
              </a:lnSpc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  error of the slope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444B3AF-6D16-F609-04BF-256C8349EE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77C89E8-5D1E-85B7-77A6-A365D13BC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D26546CD-FEDC-4334-AA95-BBEA46CE5AFB}" type="slidenum">
              <a:rPr lang="en-US" altLang="en-US"/>
              <a:pPr/>
              <a:t>35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376AAAB1-3942-9593-4F54-B5A577655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Inferences About the Slope: </a:t>
            </a:r>
            <a:br>
              <a:rPr lang="en-US" altLang="en-US"/>
            </a:br>
            <a:r>
              <a:rPr lang="en-US" altLang="en-US"/>
              <a:t>t Test Example</a:t>
            </a:r>
          </a:p>
        </p:txBody>
      </p:sp>
      <p:graphicFrame>
        <p:nvGraphicFramePr>
          <p:cNvPr id="77874" name="Group 50">
            <a:extLst>
              <a:ext uri="{FF2B5EF4-FFF2-40B4-BE49-F238E27FC236}">
                <a16:creationId xmlns:a16="http://schemas.microsoft.com/office/drawing/2014/main" id="{7D57799A-2D84-4DA7-39B3-985C8BA1B97A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2057400"/>
          <a:ext cx="2819400" cy="397764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148022853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82253295"/>
                    </a:ext>
                  </a:extLst>
                </a:gridCol>
              </a:tblGrid>
              <a:tr h="447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House Price in $1000s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(y)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DAF7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Square Feet 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(x)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913482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75835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566884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279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636658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308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1875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142702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871288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1550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145561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405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2350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34431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2450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757103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1425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332100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255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708671"/>
                  </a:ext>
                </a:extLst>
              </a:tr>
            </a:tbl>
          </a:graphicData>
        </a:graphic>
      </p:graphicFrame>
      <p:graphicFrame>
        <p:nvGraphicFramePr>
          <p:cNvPr id="77870" name="Object 46">
            <a:extLst>
              <a:ext uri="{FF2B5EF4-FFF2-40B4-BE49-F238E27FC236}">
                <a16:creationId xmlns:a16="http://schemas.microsoft.com/office/drawing/2014/main" id="{A3EA9F6F-5138-671B-46BA-3B254DE0D8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2738" y="2590800"/>
          <a:ext cx="43481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5680" imgH="203040" progId="Equation.3">
                  <p:embed/>
                </p:oleObj>
              </mc:Choice>
              <mc:Fallback>
                <p:oleObj name="Equation" r:id="rId2" imgW="2425680" imgH="20304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2590800"/>
                        <a:ext cx="43481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72" name="Rectangle 48">
            <a:extLst>
              <a:ext uri="{FF2B5EF4-FFF2-40B4-BE49-F238E27FC236}">
                <a16:creationId xmlns:a16="http://schemas.microsoft.com/office/drawing/2014/main" id="{7F2C10CC-462D-BB06-10CF-380BF8B59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900238"/>
            <a:ext cx="50292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Estimated Regression Equation:</a:t>
            </a:r>
          </a:p>
        </p:txBody>
      </p:sp>
      <p:sp>
        <p:nvSpPr>
          <p:cNvPr id="77873" name="Rectangle 49">
            <a:extLst>
              <a:ext uri="{FF2B5EF4-FFF2-40B4-BE49-F238E27FC236}">
                <a16:creationId xmlns:a16="http://schemas.microsoft.com/office/drawing/2014/main" id="{9837C420-3F6F-90E0-97BD-54FF015F7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657600"/>
            <a:ext cx="4800600" cy="17319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The slope of this model is 0.1098 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Is there a relationship between the square footage of the house and its sales price?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FDADC87-7365-22F7-DB05-329BC654D3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A4446E2-E60D-3F74-5597-DCFDDFAC13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5F3F8F05-BF10-4548-AEC0-9FF60B929788}" type="slidenum">
              <a:rPr lang="en-US" altLang="en-US"/>
              <a:pPr/>
              <a:t>36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8302F2B1-5C04-D791-B611-44379200A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Inferences About the Slope: </a:t>
            </a:r>
            <a:br>
              <a:rPr lang="en-US" altLang="en-US"/>
            </a:br>
            <a:r>
              <a:rPr lang="en-US" altLang="en-US"/>
              <a:t>t Test Example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898561C2-E49D-AEAB-86E3-B251DBB77FE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209800"/>
            <a:ext cx="2057400" cy="990600"/>
          </a:xfrm>
          <a:solidFill>
            <a:schemeClr val="accent1"/>
          </a:solidFill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 sz="2400"/>
              <a:t>H</a:t>
            </a:r>
            <a:r>
              <a:rPr lang="en-US" altLang="en-US" sz="2400" baseline="-25000"/>
              <a:t>0</a:t>
            </a:r>
            <a:r>
              <a:rPr lang="en-US" altLang="en-US" sz="2400"/>
              <a:t>: </a:t>
            </a:r>
            <a:r>
              <a:rPr lang="el-GR" altLang="en-US" sz="2400"/>
              <a:t>β</a:t>
            </a:r>
            <a:r>
              <a:rPr lang="en-US" altLang="en-US" sz="2400" baseline="-25000"/>
              <a:t>1</a:t>
            </a:r>
            <a:r>
              <a:rPr lang="en-US" altLang="en-US" sz="2400"/>
              <a:t> = 0</a:t>
            </a:r>
          </a:p>
          <a:p>
            <a:r>
              <a:rPr lang="en-US" altLang="en-US" sz="2400"/>
              <a:t>H</a:t>
            </a:r>
            <a:r>
              <a:rPr lang="en-US" altLang="en-US" sz="2400" baseline="-25000"/>
              <a:t>1</a:t>
            </a:r>
            <a:r>
              <a:rPr lang="en-US" altLang="en-US" sz="2400"/>
              <a:t>: </a:t>
            </a:r>
            <a:r>
              <a:rPr lang="el-GR" altLang="en-US" sz="2400"/>
              <a:t>β</a:t>
            </a:r>
            <a:r>
              <a:rPr lang="en-US" altLang="en-US" sz="2400" baseline="-25000"/>
              <a:t>1</a:t>
            </a:r>
            <a:r>
              <a:rPr lang="en-US" altLang="en-US" sz="2400"/>
              <a:t> </a:t>
            </a:r>
            <a:r>
              <a:rPr lang="en-US" altLang="en-US" sz="2400">
                <a:cs typeface="Times New Roman" panose="02020603050405020304" pitchFamily="18" charset="0"/>
              </a:rPr>
              <a:t>≠ </a:t>
            </a:r>
            <a:r>
              <a:rPr lang="en-US" altLang="en-US" sz="2400"/>
              <a:t>0</a:t>
            </a:r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E2509984-89E3-EF8A-3F66-DEF6A97FD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209800"/>
            <a:ext cx="36671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From Excel output: </a:t>
            </a:r>
          </a:p>
        </p:txBody>
      </p:sp>
      <p:graphicFrame>
        <p:nvGraphicFramePr>
          <p:cNvPr id="78854" name="Group 6">
            <a:extLst>
              <a:ext uri="{FF2B5EF4-FFF2-40B4-BE49-F238E27FC236}">
                <a16:creationId xmlns:a16="http://schemas.microsoft.com/office/drawing/2014/main" id="{8384FF85-4D51-1BC7-2182-64D6E20B09CB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2743200"/>
          <a:ext cx="6324600" cy="960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65435486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8502294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357256267"/>
                    </a:ext>
                  </a:extLst>
                </a:gridCol>
                <a:gridCol w="955675">
                  <a:extLst>
                    <a:ext uri="{9D8B030D-6E8A-4147-A177-3AD203B41FA5}">
                      <a16:colId xmlns:a16="http://schemas.microsoft.com/office/drawing/2014/main" val="2745735456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317299371"/>
                    </a:ext>
                  </a:extLst>
                </a:gridCol>
              </a:tblGrid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872930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98.24833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58.03348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1.69296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0.12892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3964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Square Feet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0.10977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0.03297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3.32938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87000"/>
                  </a:ext>
                </a:extLst>
              </a:tr>
            </a:tbl>
          </a:graphicData>
        </a:graphic>
      </p:graphicFrame>
      <p:sp>
        <p:nvSpPr>
          <p:cNvPr id="78880" name="Oval 32">
            <a:extLst>
              <a:ext uri="{FF2B5EF4-FFF2-40B4-BE49-F238E27FC236}">
                <a16:creationId xmlns:a16="http://schemas.microsoft.com/office/drawing/2014/main" id="{6928B151-89ED-8D6E-6251-ABFF273CA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429000"/>
            <a:ext cx="1104900" cy="304800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881" name="Oval 33">
            <a:extLst>
              <a:ext uri="{FF2B5EF4-FFF2-40B4-BE49-F238E27FC236}">
                <a16:creationId xmlns:a16="http://schemas.microsoft.com/office/drawing/2014/main" id="{D0AB2049-E9E1-876D-5F0A-3228B81E1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3400425"/>
            <a:ext cx="1042987" cy="33337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882" name="Oval 34">
            <a:extLst>
              <a:ext uri="{FF2B5EF4-FFF2-40B4-BE49-F238E27FC236}">
                <a16:creationId xmlns:a16="http://schemas.microsoft.com/office/drawing/2014/main" id="{1FDC15E8-7A03-B5F3-43D0-7C94195C4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275" y="3381375"/>
            <a:ext cx="1000125" cy="3524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883" name="Line 35">
            <a:extLst>
              <a:ext uri="{FF2B5EF4-FFF2-40B4-BE49-F238E27FC236}">
                <a16:creationId xmlns:a16="http://schemas.microsoft.com/office/drawing/2014/main" id="{B4145209-AE1C-5B3A-819C-08EC5242F1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48300" y="2514600"/>
            <a:ext cx="1028700" cy="914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884" name="Line 36">
            <a:extLst>
              <a:ext uri="{FF2B5EF4-FFF2-40B4-BE49-F238E27FC236}">
                <a16:creationId xmlns:a16="http://schemas.microsoft.com/office/drawing/2014/main" id="{FA610D15-F1D6-28B9-6D99-E3E852CD0B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72300" y="2514600"/>
            <a:ext cx="304800" cy="914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885" name="Line 37">
            <a:extLst>
              <a:ext uri="{FF2B5EF4-FFF2-40B4-BE49-F238E27FC236}">
                <a16:creationId xmlns:a16="http://schemas.microsoft.com/office/drawing/2014/main" id="{67C697BE-2DBA-FAEA-B0D1-5E8680E9BB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3733800"/>
            <a:ext cx="533400" cy="914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78886" name="Object 38">
            <a:extLst>
              <a:ext uri="{FF2B5EF4-FFF2-40B4-BE49-F238E27FC236}">
                <a16:creationId xmlns:a16="http://schemas.microsoft.com/office/drawing/2014/main" id="{63C6B50A-BFBC-1732-7B04-646FD026CE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2013" y="1981200"/>
          <a:ext cx="5318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241200" progId="Equation.3">
                  <p:embed/>
                </p:oleObj>
              </mc:Choice>
              <mc:Fallback>
                <p:oleObj name="Equation" r:id="rId2" imgW="241200" imgH="2412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2013" y="1981200"/>
                        <a:ext cx="531812" cy="533400"/>
                      </a:xfrm>
                      <a:prstGeom prst="rect">
                        <a:avLst/>
                      </a:prstGeom>
                      <a:solidFill>
                        <a:srgbClr val="C7DAF7"/>
                      </a:solid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87" name="Text Box 39">
            <a:extLst>
              <a:ext uri="{FF2B5EF4-FFF2-40B4-BE49-F238E27FC236}">
                <a16:creationId xmlns:a16="http://schemas.microsoft.com/office/drawing/2014/main" id="{00B53C6A-DFCA-6309-573F-A0E39AAB2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648200"/>
            <a:ext cx="381000" cy="476250"/>
          </a:xfrm>
          <a:prstGeom prst="rect">
            <a:avLst/>
          </a:prstGeom>
          <a:solidFill>
            <a:srgbClr val="C7DAF7"/>
          </a:solidFill>
          <a:ln w="1905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/>
              <a:t>t</a:t>
            </a:r>
          </a:p>
        </p:txBody>
      </p:sp>
      <p:sp>
        <p:nvSpPr>
          <p:cNvPr id="78888" name="Text Box 40">
            <a:extLst>
              <a:ext uri="{FF2B5EF4-FFF2-40B4-BE49-F238E27FC236}">
                <a16:creationId xmlns:a16="http://schemas.microsoft.com/office/drawing/2014/main" id="{D2E86B8D-5CDB-4D30-26FC-DCE1FDDAD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057400"/>
            <a:ext cx="533400" cy="476250"/>
          </a:xfrm>
          <a:prstGeom prst="rect">
            <a:avLst/>
          </a:prstGeom>
          <a:solidFill>
            <a:srgbClr val="C7DAF7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/>
              <a:t>b</a:t>
            </a:r>
            <a:r>
              <a:rPr lang="en-US" altLang="en-US" sz="2400" baseline="-25000"/>
              <a:t>1</a:t>
            </a:r>
          </a:p>
        </p:txBody>
      </p:sp>
      <p:graphicFrame>
        <p:nvGraphicFramePr>
          <p:cNvPr id="78889" name="Object 41">
            <a:extLst>
              <a:ext uri="{FF2B5EF4-FFF2-40B4-BE49-F238E27FC236}">
                <a16:creationId xmlns:a16="http://schemas.microsoft.com/office/drawing/2014/main" id="{714351CC-243E-A638-F88C-ED75EC2671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8350" y="4419600"/>
          <a:ext cx="550545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457200" progId="Equation.3">
                  <p:embed/>
                </p:oleObj>
              </mc:Choice>
              <mc:Fallback>
                <p:oleObj name="Equation" r:id="rId4" imgW="2361960" imgH="4572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4419600"/>
                        <a:ext cx="5505450" cy="10636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1F5DA13-1BB5-4F96-12B6-FE9F89F0B4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9F0E88D-54C5-858B-2E09-B433E4EA5A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4BA6AFAD-3FD4-4903-872D-C4B032123750}" type="slidenum">
              <a:rPr lang="en-US" altLang="en-US"/>
              <a:pPr/>
              <a:t>37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EA0EE15D-05FC-EC68-A104-4C7E2DBE2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Inferences About the Slope: </a:t>
            </a:r>
            <a:br>
              <a:rPr lang="en-US" altLang="en-US"/>
            </a:br>
            <a:r>
              <a:rPr lang="en-US" altLang="en-US"/>
              <a:t>t Test Example</a:t>
            </a:r>
          </a:p>
        </p:txBody>
      </p:sp>
      <p:sp>
        <p:nvSpPr>
          <p:cNvPr id="79877" name="Rectangle 5">
            <a:extLst>
              <a:ext uri="{FF2B5EF4-FFF2-40B4-BE49-F238E27FC236}">
                <a16:creationId xmlns:a16="http://schemas.microsoft.com/office/drawing/2014/main" id="{8BBD7FE8-64C4-DB33-01B1-C5AD49C8E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133600"/>
            <a:ext cx="403860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65188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8088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Test Statistic:  </a:t>
            </a:r>
            <a:r>
              <a:rPr lang="en-US" altLang="en-US" sz="2800" b="1">
                <a:latin typeface="Times New Roman" panose="02020603050405020304" pitchFamily="18" charset="0"/>
              </a:rPr>
              <a:t>t = 3.329</a:t>
            </a:r>
          </a:p>
        </p:txBody>
      </p:sp>
      <p:sp>
        <p:nvSpPr>
          <p:cNvPr id="79878" name="Rectangle 6">
            <a:extLst>
              <a:ext uri="{FF2B5EF4-FFF2-40B4-BE49-F238E27FC236}">
                <a16:creationId xmlns:a16="http://schemas.microsoft.com/office/drawing/2014/main" id="{D56F1115-0808-3FBE-C209-FBBBB997D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19600"/>
            <a:ext cx="4267200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There is sufficient evidence that square footage affects house price</a:t>
            </a:r>
          </a:p>
        </p:txBody>
      </p:sp>
      <p:sp>
        <p:nvSpPr>
          <p:cNvPr id="79880" name="Rectangle 8">
            <a:extLst>
              <a:ext uri="{FF2B5EF4-FFF2-40B4-BE49-F238E27FC236}">
                <a16:creationId xmlns:a16="http://schemas.microsoft.com/office/drawing/2014/main" id="{3FF6012D-542B-AD2A-7F71-D1C2E67F0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657600"/>
            <a:ext cx="397192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Decision:  Reject H</a:t>
            </a:r>
            <a:r>
              <a:rPr lang="en-US" altLang="en-US" sz="2800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79917" name="Rectangle 45">
            <a:extLst>
              <a:ext uri="{FF2B5EF4-FFF2-40B4-BE49-F238E27FC236}">
                <a16:creationId xmlns:a16="http://schemas.microsoft.com/office/drawing/2014/main" id="{30E7E02E-4379-5D11-4A42-4E843F6C1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562600"/>
            <a:ext cx="914400" cy="228600"/>
          </a:xfrm>
          <a:prstGeom prst="rect">
            <a:avLst/>
          </a:prstGeom>
          <a:solidFill>
            <a:srgbClr val="FDE0B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918" name="Rectangle 46">
            <a:extLst>
              <a:ext uri="{FF2B5EF4-FFF2-40B4-BE49-F238E27FC236}">
                <a16:creationId xmlns:a16="http://schemas.microsoft.com/office/drawing/2014/main" id="{96891E06-1E68-A073-47EA-4C3DF5E06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562600"/>
            <a:ext cx="1066800" cy="228600"/>
          </a:xfrm>
          <a:prstGeom prst="rect">
            <a:avLst/>
          </a:prstGeom>
          <a:solidFill>
            <a:srgbClr val="FDE0B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919" name="Text Box 47">
            <a:extLst>
              <a:ext uri="{FF2B5EF4-FFF2-40B4-BE49-F238E27FC236}">
                <a16:creationId xmlns:a16="http://schemas.microsoft.com/office/drawing/2014/main" id="{EBDAF229-4ED0-A66B-6115-2D3969D7E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029200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EB4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400"/>
              <a:t>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79920" name="Text Box 48">
            <a:extLst>
              <a:ext uri="{FF2B5EF4-FFF2-40B4-BE49-F238E27FC236}">
                <a16:creationId xmlns:a16="http://schemas.microsoft.com/office/drawing/2014/main" id="{7753A082-A9AB-02E9-0A8C-BAE1CDB30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029200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EB4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400"/>
              <a:t>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79921" name="Freeform 49">
            <a:extLst>
              <a:ext uri="{FF2B5EF4-FFF2-40B4-BE49-F238E27FC236}">
                <a16:creationId xmlns:a16="http://schemas.microsoft.com/office/drawing/2014/main" id="{5E80120B-6797-BD8A-8AA2-8B9B08815CEE}"/>
              </a:ext>
            </a:extLst>
          </p:cNvPr>
          <p:cNvSpPr>
            <a:spLocks/>
          </p:cNvSpPr>
          <p:nvPr/>
        </p:nvSpPr>
        <p:spPr bwMode="auto">
          <a:xfrm>
            <a:off x="2890838" y="4241800"/>
            <a:ext cx="850900" cy="561975"/>
          </a:xfrm>
          <a:custGeom>
            <a:avLst/>
            <a:gdLst>
              <a:gd name="T0" fmla="*/ 536 w 536"/>
              <a:gd name="T1" fmla="*/ 351 h 354"/>
              <a:gd name="T2" fmla="*/ 535 w 536"/>
              <a:gd name="T3" fmla="*/ 312 h 354"/>
              <a:gd name="T4" fmla="*/ 315 w 536"/>
              <a:gd name="T5" fmla="*/ 273 h 354"/>
              <a:gd name="T6" fmla="*/ 188 w 536"/>
              <a:gd name="T7" fmla="*/ 208 h 354"/>
              <a:gd name="T8" fmla="*/ 117 w 536"/>
              <a:gd name="T9" fmla="*/ 153 h 354"/>
              <a:gd name="T10" fmla="*/ 3 w 536"/>
              <a:gd name="T11" fmla="*/ 0 h 354"/>
              <a:gd name="T12" fmla="*/ 0 w 536"/>
              <a:gd name="T13" fmla="*/ 354 h 354"/>
              <a:gd name="T14" fmla="*/ 527 w 536"/>
              <a:gd name="T15" fmla="*/ 351 h 354"/>
              <a:gd name="T16" fmla="*/ 527 w 536"/>
              <a:gd name="T17" fmla="*/ 347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36" h="354">
                <a:moveTo>
                  <a:pt x="536" y="351"/>
                </a:moveTo>
                <a:lnTo>
                  <a:pt x="535" y="312"/>
                </a:lnTo>
                <a:lnTo>
                  <a:pt x="315" y="273"/>
                </a:lnTo>
                <a:lnTo>
                  <a:pt x="188" y="208"/>
                </a:lnTo>
                <a:lnTo>
                  <a:pt x="117" y="153"/>
                </a:lnTo>
                <a:lnTo>
                  <a:pt x="3" y="0"/>
                </a:lnTo>
                <a:lnTo>
                  <a:pt x="0" y="354"/>
                </a:lnTo>
                <a:lnTo>
                  <a:pt x="527" y="351"/>
                </a:lnTo>
                <a:lnTo>
                  <a:pt x="527" y="347"/>
                </a:lnTo>
              </a:path>
            </a:pathLst>
          </a:cu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66FFFF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922" name="Freeform 50">
            <a:extLst>
              <a:ext uri="{FF2B5EF4-FFF2-40B4-BE49-F238E27FC236}">
                <a16:creationId xmlns:a16="http://schemas.microsoft.com/office/drawing/2014/main" id="{9A651127-E6DE-D8C8-6A05-3C64E01374F5}"/>
              </a:ext>
            </a:extLst>
          </p:cNvPr>
          <p:cNvSpPr>
            <a:spLocks/>
          </p:cNvSpPr>
          <p:nvPr/>
        </p:nvSpPr>
        <p:spPr bwMode="auto">
          <a:xfrm>
            <a:off x="593725" y="4308475"/>
            <a:ext cx="854075" cy="495300"/>
          </a:xfrm>
          <a:custGeom>
            <a:avLst/>
            <a:gdLst>
              <a:gd name="T0" fmla="*/ 0 w 538"/>
              <a:gd name="T1" fmla="*/ 312 h 312"/>
              <a:gd name="T2" fmla="*/ 0 w 538"/>
              <a:gd name="T3" fmla="*/ 267 h 312"/>
              <a:gd name="T4" fmla="*/ 219 w 538"/>
              <a:gd name="T5" fmla="*/ 235 h 312"/>
              <a:gd name="T6" fmla="*/ 330 w 538"/>
              <a:gd name="T7" fmla="*/ 190 h 312"/>
              <a:gd name="T8" fmla="*/ 403 w 538"/>
              <a:gd name="T9" fmla="*/ 141 h 312"/>
              <a:gd name="T10" fmla="*/ 537 w 538"/>
              <a:gd name="T11" fmla="*/ 0 h 312"/>
              <a:gd name="T12" fmla="*/ 538 w 538"/>
              <a:gd name="T13" fmla="*/ 309 h 312"/>
              <a:gd name="T14" fmla="*/ 18 w 538"/>
              <a:gd name="T15" fmla="*/ 309 h 312"/>
              <a:gd name="T16" fmla="*/ 18 w 538"/>
              <a:gd name="T17" fmla="*/ 305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38" h="312">
                <a:moveTo>
                  <a:pt x="0" y="312"/>
                </a:moveTo>
                <a:lnTo>
                  <a:pt x="0" y="267"/>
                </a:lnTo>
                <a:lnTo>
                  <a:pt x="219" y="235"/>
                </a:lnTo>
                <a:lnTo>
                  <a:pt x="330" y="190"/>
                </a:lnTo>
                <a:lnTo>
                  <a:pt x="403" y="141"/>
                </a:lnTo>
                <a:lnTo>
                  <a:pt x="537" y="0"/>
                </a:lnTo>
                <a:lnTo>
                  <a:pt x="538" y="309"/>
                </a:lnTo>
                <a:lnTo>
                  <a:pt x="18" y="309"/>
                </a:lnTo>
                <a:lnTo>
                  <a:pt x="18" y="305"/>
                </a:lnTo>
              </a:path>
            </a:pathLst>
          </a:cu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66FFFF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923" name="Freeform 51">
            <a:extLst>
              <a:ext uri="{FF2B5EF4-FFF2-40B4-BE49-F238E27FC236}">
                <a16:creationId xmlns:a16="http://schemas.microsoft.com/office/drawing/2014/main" id="{73A91748-EA10-3B3F-9C14-B69088F577D5}"/>
              </a:ext>
            </a:extLst>
          </p:cNvPr>
          <p:cNvSpPr>
            <a:spLocks/>
          </p:cNvSpPr>
          <p:nvPr/>
        </p:nvSpPr>
        <p:spPr bwMode="auto">
          <a:xfrm>
            <a:off x="609600" y="3429000"/>
            <a:ext cx="1600200" cy="1295400"/>
          </a:xfrm>
          <a:custGeom>
            <a:avLst/>
            <a:gdLst>
              <a:gd name="T0" fmla="*/ 0 w 600"/>
              <a:gd name="T1" fmla="*/ 575 h 576"/>
              <a:gd name="T2" fmla="*/ 63 w 600"/>
              <a:gd name="T3" fmla="*/ 570 h 576"/>
              <a:gd name="T4" fmla="*/ 95 w 600"/>
              <a:gd name="T5" fmla="*/ 562 h 576"/>
              <a:gd name="T6" fmla="*/ 127 w 600"/>
              <a:gd name="T7" fmla="*/ 553 h 576"/>
              <a:gd name="T8" fmla="*/ 158 w 600"/>
              <a:gd name="T9" fmla="*/ 540 h 576"/>
              <a:gd name="T10" fmla="*/ 190 w 600"/>
              <a:gd name="T11" fmla="*/ 521 h 576"/>
              <a:gd name="T12" fmla="*/ 222 w 600"/>
              <a:gd name="T13" fmla="*/ 498 h 576"/>
              <a:gd name="T14" fmla="*/ 284 w 600"/>
              <a:gd name="T15" fmla="*/ 432 h 576"/>
              <a:gd name="T16" fmla="*/ 347 w 600"/>
              <a:gd name="T17" fmla="*/ 338 h 576"/>
              <a:gd name="T18" fmla="*/ 410 w 600"/>
              <a:gd name="T19" fmla="*/ 224 h 576"/>
              <a:gd name="T20" fmla="*/ 441 w 600"/>
              <a:gd name="T21" fmla="*/ 167 h 576"/>
              <a:gd name="T22" fmla="*/ 473 w 600"/>
              <a:gd name="T23" fmla="*/ 114 h 576"/>
              <a:gd name="T24" fmla="*/ 505 w 600"/>
              <a:gd name="T25" fmla="*/ 67 h 576"/>
              <a:gd name="T26" fmla="*/ 535 w 600"/>
              <a:gd name="T27" fmla="*/ 31 h 576"/>
              <a:gd name="T28" fmla="*/ 567 w 600"/>
              <a:gd name="T29" fmla="*/ 8 h 576"/>
              <a:gd name="T30" fmla="*/ 599 w 600"/>
              <a:gd name="T31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00" h="576">
                <a:moveTo>
                  <a:pt x="0" y="575"/>
                </a:moveTo>
                <a:lnTo>
                  <a:pt x="63" y="570"/>
                </a:lnTo>
                <a:lnTo>
                  <a:pt x="95" y="562"/>
                </a:lnTo>
                <a:lnTo>
                  <a:pt x="127" y="553"/>
                </a:lnTo>
                <a:lnTo>
                  <a:pt x="158" y="540"/>
                </a:lnTo>
                <a:lnTo>
                  <a:pt x="190" y="521"/>
                </a:lnTo>
                <a:lnTo>
                  <a:pt x="222" y="498"/>
                </a:lnTo>
                <a:lnTo>
                  <a:pt x="284" y="432"/>
                </a:lnTo>
                <a:lnTo>
                  <a:pt x="347" y="338"/>
                </a:lnTo>
                <a:lnTo>
                  <a:pt x="410" y="224"/>
                </a:lnTo>
                <a:lnTo>
                  <a:pt x="441" y="167"/>
                </a:lnTo>
                <a:lnTo>
                  <a:pt x="473" y="114"/>
                </a:lnTo>
                <a:lnTo>
                  <a:pt x="505" y="67"/>
                </a:lnTo>
                <a:lnTo>
                  <a:pt x="535" y="31"/>
                </a:lnTo>
                <a:lnTo>
                  <a:pt x="567" y="8"/>
                </a:lnTo>
                <a:lnTo>
                  <a:pt x="599" y="0"/>
                </a:lnTo>
              </a:path>
            </a:pathLst>
          </a:custGeom>
          <a:noFill/>
          <a:ln w="508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924" name="Freeform 52">
            <a:extLst>
              <a:ext uri="{FF2B5EF4-FFF2-40B4-BE49-F238E27FC236}">
                <a16:creationId xmlns:a16="http://schemas.microsoft.com/office/drawing/2014/main" id="{349FD4C4-F3B7-141C-9D9E-95E8C0CB2E51}"/>
              </a:ext>
            </a:extLst>
          </p:cNvPr>
          <p:cNvSpPr>
            <a:spLocks/>
          </p:cNvSpPr>
          <p:nvPr/>
        </p:nvSpPr>
        <p:spPr bwMode="auto">
          <a:xfrm>
            <a:off x="2209800" y="3429000"/>
            <a:ext cx="1524000" cy="1295400"/>
          </a:xfrm>
          <a:custGeom>
            <a:avLst/>
            <a:gdLst>
              <a:gd name="T0" fmla="*/ 575 w 576"/>
              <a:gd name="T1" fmla="*/ 575 h 576"/>
              <a:gd name="T2" fmla="*/ 515 w 576"/>
              <a:gd name="T3" fmla="*/ 570 h 576"/>
              <a:gd name="T4" fmla="*/ 484 w 576"/>
              <a:gd name="T5" fmla="*/ 562 h 576"/>
              <a:gd name="T6" fmla="*/ 455 w 576"/>
              <a:gd name="T7" fmla="*/ 553 h 576"/>
              <a:gd name="T8" fmla="*/ 424 w 576"/>
              <a:gd name="T9" fmla="*/ 540 h 576"/>
              <a:gd name="T10" fmla="*/ 393 w 576"/>
              <a:gd name="T11" fmla="*/ 521 h 576"/>
              <a:gd name="T12" fmla="*/ 364 w 576"/>
              <a:gd name="T13" fmla="*/ 498 h 576"/>
              <a:gd name="T14" fmla="*/ 303 w 576"/>
              <a:gd name="T15" fmla="*/ 432 h 576"/>
              <a:gd name="T16" fmla="*/ 242 w 576"/>
              <a:gd name="T17" fmla="*/ 338 h 576"/>
              <a:gd name="T18" fmla="*/ 182 w 576"/>
              <a:gd name="T19" fmla="*/ 224 h 576"/>
              <a:gd name="T20" fmla="*/ 151 w 576"/>
              <a:gd name="T21" fmla="*/ 167 h 576"/>
              <a:gd name="T22" fmla="*/ 120 w 576"/>
              <a:gd name="T23" fmla="*/ 114 h 576"/>
              <a:gd name="T24" fmla="*/ 91 w 576"/>
              <a:gd name="T25" fmla="*/ 67 h 576"/>
              <a:gd name="T26" fmla="*/ 60 w 576"/>
              <a:gd name="T27" fmla="*/ 31 h 576"/>
              <a:gd name="T28" fmla="*/ 30 w 576"/>
              <a:gd name="T29" fmla="*/ 8 h 576"/>
              <a:gd name="T30" fmla="*/ 0 w 576"/>
              <a:gd name="T31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76" h="576">
                <a:moveTo>
                  <a:pt x="575" y="575"/>
                </a:moveTo>
                <a:lnTo>
                  <a:pt x="515" y="570"/>
                </a:lnTo>
                <a:lnTo>
                  <a:pt x="484" y="562"/>
                </a:lnTo>
                <a:lnTo>
                  <a:pt x="455" y="553"/>
                </a:lnTo>
                <a:lnTo>
                  <a:pt x="424" y="540"/>
                </a:lnTo>
                <a:lnTo>
                  <a:pt x="393" y="521"/>
                </a:lnTo>
                <a:lnTo>
                  <a:pt x="364" y="498"/>
                </a:lnTo>
                <a:lnTo>
                  <a:pt x="303" y="432"/>
                </a:lnTo>
                <a:lnTo>
                  <a:pt x="242" y="338"/>
                </a:lnTo>
                <a:lnTo>
                  <a:pt x="182" y="224"/>
                </a:lnTo>
                <a:lnTo>
                  <a:pt x="151" y="167"/>
                </a:lnTo>
                <a:lnTo>
                  <a:pt x="120" y="114"/>
                </a:lnTo>
                <a:lnTo>
                  <a:pt x="91" y="67"/>
                </a:lnTo>
                <a:lnTo>
                  <a:pt x="60" y="31"/>
                </a:lnTo>
                <a:lnTo>
                  <a:pt x="30" y="8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925" name="Line 53">
            <a:extLst>
              <a:ext uri="{FF2B5EF4-FFF2-40B4-BE49-F238E27FC236}">
                <a16:creationId xmlns:a16="http://schemas.microsoft.com/office/drawing/2014/main" id="{8FDF6AA0-377C-2C83-2B14-42A61881EA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4800600"/>
            <a:ext cx="320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926" name="Line 54">
            <a:extLst>
              <a:ext uri="{FF2B5EF4-FFF2-40B4-BE49-F238E27FC236}">
                <a16:creationId xmlns:a16="http://schemas.microsoft.com/office/drawing/2014/main" id="{337AF661-0370-388D-79DF-B7B1D16B71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267200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927" name="Rectangle 55">
            <a:extLst>
              <a:ext uri="{FF2B5EF4-FFF2-40B4-BE49-F238E27FC236}">
                <a16:creationId xmlns:a16="http://schemas.microsoft.com/office/drawing/2014/main" id="{34B45AB9-71A9-1168-1F9A-93C2ACD5094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57200" y="3962400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latin typeface="Symbol" panose="05050102010706020507" pitchFamily="18" charset="2"/>
              </a:rPr>
              <a:t>a</a:t>
            </a:r>
            <a:r>
              <a:rPr lang="en-US" altLang="en-US" sz="1600"/>
              <a:t>/2=.025</a:t>
            </a:r>
          </a:p>
        </p:txBody>
      </p:sp>
      <p:sp>
        <p:nvSpPr>
          <p:cNvPr id="79928" name="Line 56">
            <a:extLst>
              <a:ext uri="{FF2B5EF4-FFF2-40B4-BE49-F238E27FC236}">
                <a16:creationId xmlns:a16="http://schemas.microsoft.com/office/drawing/2014/main" id="{B1E02EBC-9892-D903-E940-B558A8FCC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429000"/>
            <a:ext cx="0" cy="1371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9929" name="Line 57">
            <a:extLst>
              <a:ext uri="{FF2B5EF4-FFF2-40B4-BE49-F238E27FC236}">
                <a16:creationId xmlns:a16="http://schemas.microsoft.com/office/drawing/2014/main" id="{5D9B229F-E2EB-1F7B-20AF-C1B754008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8768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930" name="Text Box 58">
            <a:extLst>
              <a:ext uri="{FF2B5EF4-FFF2-40B4-BE49-F238E27FC236}">
                <a16:creationId xmlns:a16="http://schemas.microsoft.com/office/drawing/2014/main" id="{6D7C73A0-2948-2198-D9C8-FB4EE1F7E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1054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-t</a:t>
            </a:r>
            <a:r>
              <a:rPr lang="el-GR" altLang="en-US" sz="2000" baseline="-25000">
                <a:cs typeface="Arial" panose="020B0604020202020204" pitchFamily="34" charset="0"/>
              </a:rPr>
              <a:t>α</a:t>
            </a:r>
            <a:r>
              <a:rPr lang="en-US" altLang="en-US" sz="2000" baseline="-25000">
                <a:cs typeface="Arial" panose="020B0604020202020204" pitchFamily="34" charset="0"/>
              </a:rPr>
              <a:t>/2</a:t>
            </a:r>
            <a:endParaRPr lang="el-GR" altLang="en-US" sz="2000" baseline="-25000">
              <a:cs typeface="Arial" panose="020B0604020202020204" pitchFamily="34" charset="0"/>
            </a:endParaRPr>
          </a:p>
        </p:txBody>
      </p:sp>
      <p:sp>
        <p:nvSpPr>
          <p:cNvPr id="79931" name="Line 59">
            <a:extLst>
              <a:ext uri="{FF2B5EF4-FFF2-40B4-BE49-F238E27FC236}">
                <a16:creationId xmlns:a16="http://schemas.microsoft.com/office/drawing/2014/main" id="{D1D0BB95-FBF5-7B3C-6B85-B710B7C1D0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029200"/>
            <a:ext cx="1447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932" name="Text Box 60">
            <a:extLst>
              <a:ext uri="{FF2B5EF4-FFF2-40B4-BE49-F238E27FC236}">
                <a16:creationId xmlns:a16="http://schemas.microsoft.com/office/drawing/2014/main" id="{73192C37-55F5-8668-0FB0-ED8560A26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029200"/>
            <a:ext cx="152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400"/>
              <a:t>Do not 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79933" name="Line 61">
            <a:extLst>
              <a:ext uri="{FF2B5EF4-FFF2-40B4-BE49-F238E27FC236}">
                <a16:creationId xmlns:a16="http://schemas.microsoft.com/office/drawing/2014/main" id="{ECD0EF13-F42B-C7A3-AAC8-0208D0115E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50292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934" name="Text Box 62">
            <a:extLst>
              <a:ext uri="{FF2B5EF4-FFF2-40B4-BE49-F238E27FC236}">
                <a16:creationId xmlns:a16="http://schemas.microsoft.com/office/drawing/2014/main" id="{C0F760D8-C349-9C9C-99FD-0BB4697FE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2578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/>
              <a:t>0</a:t>
            </a:r>
            <a:endParaRPr lang="el-GR" altLang="en-US" baseline="-25000">
              <a:cs typeface="Arial" panose="020B0604020202020204" pitchFamily="34" charset="0"/>
            </a:endParaRPr>
          </a:p>
        </p:txBody>
      </p:sp>
      <p:sp>
        <p:nvSpPr>
          <p:cNvPr id="79935" name="Text Box 63">
            <a:extLst>
              <a:ext uri="{FF2B5EF4-FFF2-40B4-BE49-F238E27FC236}">
                <a16:creationId xmlns:a16="http://schemas.microsoft.com/office/drawing/2014/main" id="{D9139F8B-1EAB-EB46-522D-6AF74D315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t</a:t>
            </a:r>
            <a:r>
              <a:rPr lang="el-GR" altLang="en-US" sz="2000" baseline="-25000">
                <a:cs typeface="Arial" panose="020B0604020202020204" pitchFamily="34" charset="0"/>
              </a:rPr>
              <a:t>α</a:t>
            </a:r>
            <a:r>
              <a:rPr lang="en-US" altLang="en-US" sz="2000" baseline="-25000">
                <a:cs typeface="Arial" panose="020B0604020202020204" pitchFamily="34" charset="0"/>
              </a:rPr>
              <a:t>/2</a:t>
            </a:r>
            <a:endParaRPr lang="el-GR" altLang="en-US" sz="2000" baseline="-25000">
              <a:cs typeface="Arial" panose="020B0604020202020204" pitchFamily="34" charset="0"/>
            </a:endParaRPr>
          </a:p>
        </p:txBody>
      </p:sp>
      <p:sp>
        <p:nvSpPr>
          <p:cNvPr id="79936" name="Line 64">
            <a:extLst>
              <a:ext uri="{FF2B5EF4-FFF2-40B4-BE49-F238E27FC236}">
                <a16:creationId xmlns:a16="http://schemas.microsoft.com/office/drawing/2014/main" id="{B676D781-A750-E581-BC4A-D095D40EB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8768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937" name="Freeform 65">
            <a:extLst>
              <a:ext uri="{FF2B5EF4-FFF2-40B4-BE49-F238E27FC236}">
                <a16:creationId xmlns:a16="http://schemas.microsoft.com/office/drawing/2014/main" id="{81F35629-2907-B3A7-2932-3857D4C20E9D}"/>
              </a:ext>
            </a:extLst>
          </p:cNvPr>
          <p:cNvSpPr>
            <a:spLocks/>
          </p:cNvSpPr>
          <p:nvPr/>
        </p:nvSpPr>
        <p:spPr bwMode="auto">
          <a:xfrm>
            <a:off x="3048000" y="4237038"/>
            <a:ext cx="204788" cy="411162"/>
          </a:xfrm>
          <a:custGeom>
            <a:avLst/>
            <a:gdLst>
              <a:gd name="T0" fmla="*/ 48 w 48"/>
              <a:gd name="T1" fmla="*/ 0 h 249"/>
              <a:gd name="T2" fmla="*/ 0 w 48"/>
              <a:gd name="T3" fmla="*/ 249 h 24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8" h="249">
                <a:moveTo>
                  <a:pt x="48" y="0"/>
                </a:moveTo>
                <a:lnTo>
                  <a:pt x="0" y="249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938" name="Rectangle 66">
            <a:extLst>
              <a:ext uri="{FF2B5EF4-FFF2-40B4-BE49-F238E27FC236}">
                <a16:creationId xmlns:a16="http://schemas.microsoft.com/office/drawing/2014/main" id="{260AB3CE-4898-0D93-C94D-51D678D2D3D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71800" y="3962400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latin typeface="Symbol" panose="05050102010706020507" pitchFamily="18" charset="2"/>
              </a:rPr>
              <a:t>a</a:t>
            </a:r>
            <a:r>
              <a:rPr lang="en-US" altLang="en-US" sz="1600"/>
              <a:t>/2=.025</a:t>
            </a:r>
          </a:p>
        </p:txBody>
      </p:sp>
      <p:sp>
        <p:nvSpPr>
          <p:cNvPr id="79939" name="Rectangle 67">
            <a:extLst>
              <a:ext uri="{FF2B5EF4-FFF2-40B4-BE49-F238E27FC236}">
                <a16:creationId xmlns:a16="http://schemas.microsoft.com/office/drawing/2014/main" id="{2E9F1CE7-F7B9-AB37-C4A0-D89DF86F674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8200" y="5486400"/>
            <a:ext cx="1219200" cy="393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/>
              <a:t>-2.3060</a:t>
            </a:r>
          </a:p>
        </p:txBody>
      </p:sp>
      <p:sp>
        <p:nvSpPr>
          <p:cNvPr id="79940" name="Rectangle 68">
            <a:extLst>
              <a:ext uri="{FF2B5EF4-FFF2-40B4-BE49-F238E27FC236}">
                <a16:creationId xmlns:a16="http://schemas.microsoft.com/office/drawing/2014/main" id="{EAFD4E05-DB73-3EF4-FE00-3FC8D328085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38400" y="5486400"/>
            <a:ext cx="990600" cy="393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/>
              <a:t>2.3060</a:t>
            </a:r>
          </a:p>
        </p:txBody>
      </p:sp>
      <p:sp>
        <p:nvSpPr>
          <p:cNvPr id="79941" name="Rectangle 69">
            <a:extLst>
              <a:ext uri="{FF2B5EF4-FFF2-40B4-BE49-F238E27FC236}">
                <a16:creationId xmlns:a16="http://schemas.microsoft.com/office/drawing/2014/main" id="{09B3EEF8-A8FA-0053-F01A-4A6D76C707C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29000" y="5486400"/>
            <a:ext cx="838200" cy="412750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/>
              <a:t>3.329</a:t>
            </a:r>
          </a:p>
        </p:txBody>
      </p:sp>
      <p:sp>
        <p:nvSpPr>
          <p:cNvPr id="79942" name="Rectangle 70">
            <a:extLst>
              <a:ext uri="{FF2B5EF4-FFF2-40B4-BE49-F238E27FC236}">
                <a16:creationId xmlns:a16="http://schemas.microsoft.com/office/drawing/2014/main" id="{01E45BD2-9C6A-55D9-1646-3C9F879C4CE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600" y="3276600"/>
            <a:ext cx="1676400" cy="3333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/>
              <a:t>d.f. = 10- 2 = 8</a:t>
            </a:r>
          </a:p>
        </p:txBody>
      </p:sp>
      <p:sp>
        <p:nvSpPr>
          <p:cNvPr id="79943" name="Line 71">
            <a:extLst>
              <a:ext uri="{FF2B5EF4-FFF2-40B4-BE49-F238E27FC236}">
                <a16:creationId xmlns:a16="http://schemas.microsoft.com/office/drawing/2014/main" id="{1FCD1C7F-5494-88F4-2F76-5952A3EBB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029200"/>
            <a:ext cx="1371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79944" name="Line 72">
            <a:extLst>
              <a:ext uri="{FF2B5EF4-FFF2-40B4-BE49-F238E27FC236}">
                <a16:creationId xmlns:a16="http://schemas.microsoft.com/office/drawing/2014/main" id="{08ADA417-413A-46D9-25BC-47276C9C3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1400" y="4800600"/>
            <a:ext cx="0" cy="6858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948" name="Rectangle 76">
            <a:extLst>
              <a:ext uri="{FF2B5EF4-FFF2-40B4-BE49-F238E27FC236}">
                <a16:creationId xmlns:a16="http://schemas.microsoft.com/office/drawing/2014/main" id="{0D6369D6-0A12-1FDC-B27C-5465F37AE04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248400" y="2133600"/>
            <a:ext cx="2057400" cy="990600"/>
          </a:xfrm>
          <a:solidFill>
            <a:schemeClr val="accent1"/>
          </a:solidFill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 sz="2400"/>
              <a:t>H</a:t>
            </a:r>
            <a:r>
              <a:rPr lang="en-US" altLang="en-US" sz="2400" baseline="-25000"/>
              <a:t>0</a:t>
            </a:r>
            <a:r>
              <a:rPr lang="en-US" altLang="en-US" sz="2400"/>
              <a:t>: </a:t>
            </a:r>
            <a:r>
              <a:rPr lang="el-GR" altLang="en-US" sz="2400"/>
              <a:t>β</a:t>
            </a:r>
            <a:r>
              <a:rPr lang="en-US" altLang="en-US" sz="2400" baseline="-25000"/>
              <a:t>1</a:t>
            </a:r>
            <a:r>
              <a:rPr lang="en-US" altLang="en-US" sz="2400"/>
              <a:t> = 0</a:t>
            </a:r>
          </a:p>
          <a:p>
            <a:r>
              <a:rPr lang="en-US" altLang="en-US" sz="2400"/>
              <a:t>H</a:t>
            </a:r>
            <a:r>
              <a:rPr lang="en-US" altLang="en-US" sz="2400" baseline="-25000"/>
              <a:t>1</a:t>
            </a:r>
            <a:r>
              <a:rPr lang="en-US" altLang="en-US" sz="2400"/>
              <a:t>: </a:t>
            </a:r>
            <a:r>
              <a:rPr lang="el-GR" altLang="en-US" sz="2400"/>
              <a:t>β</a:t>
            </a:r>
            <a:r>
              <a:rPr lang="en-US" altLang="en-US" sz="2400" baseline="-25000"/>
              <a:t>1</a:t>
            </a:r>
            <a:r>
              <a:rPr lang="en-US" altLang="en-US" sz="2400"/>
              <a:t> ≠ 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194F17F-F893-B352-B0DB-465A8E1535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43BFC13-99D2-A962-837A-D3579C39A0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69C77B47-73B7-4A01-848C-32BAE022F225}" type="slidenum">
              <a:rPr lang="en-US" altLang="en-US"/>
              <a:pPr/>
              <a:t>38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6D07EF70-2EF6-9C56-2CD7-6855764BF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Inferences About the Slope: </a:t>
            </a:r>
            <a:br>
              <a:rPr lang="en-US" altLang="en-US"/>
            </a:br>
            <a:r>
              <a:rPr lang="en-US" altLang="en-US"/>
              <a:t>t Test Example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CBA71F33-633C-E0A2-3B4C-B7B46A4068D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3429000"/>
            <a:ext cx="2057400" cy="990600"/>
          </a:xfrm>
          <a:solidFill>
            <a:schemeClr val="accent1"/>
          </a:solidFill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 sz="2400"/>
              <a:t>H</a:t>
            </a:r>
            <a:r>
              <a:rPr lang="en-US" altLang="en-US" sz="2400" baseline="-25000"/>
              <a:t>0</a:t>
            </a:r>
            <a:r>
              <a:rPr lang="en-US" altLang="en-US" sz="2400"/>
              <a:t>: </a:t>
            </a:r>
            <a:r>
              <a:rPr lang="el-GR" altLang="en-US" sz="2400"/>
              <a:t>β</a:t>
            </a:r>
            <a:r>
              <a:rPr lang="en-US" altLang="en-US" sz="2400" baseline="-25000"/>
              <a:t>1</a:t>
            </a:r>
            <a:r>
              <a:rPr lang="en-US" altLang="en-US" sz="2400"/>
              <a:t> = 0</a:t>
            </a:r>
          </a:p>
          <a:p>
            <a:r>
              <a:rPr lang="en-US" altLang="en-US" sz="2400"/>
              <a:t>H</a:t>
            </a:r>
            <a:r>
              <a:rPr lang="en-US" altLang="en-US" sz="2400" baseline="-25000"/>
              <a:t>1</a:t>
            </a:r>
            <a:r>
              <a:rPr lang="en-US" altLang="en-US" sz="2400"/>
              <a:t>: </a:t>
            </a:r>
            <a:r>
              <a:rPr lang="el-GR" altLang="en-US" sz="2400"/>
              <a:t>β</a:t>
            </a:r>
            <a:r>
              <a:rPr lang="en-US" altLang="en-US" sz="2400" baseline="-25000"/>
              <a:t>1</a:t>
            </a:r>
            <a:r>
              <a:rPr lang="en-US" altLang="en-US" sz="2400"/>
              <a:t> ≠ 0</a:t>
            </a:r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7484B331-C46E-A04B-35E7-5C55B9DD8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209800"/>
            <a:ext cx="36671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From Excel output: </a:t>
            </a:r>
          </a:p>
        </p:txBody>
      </p:sp>
      <p:graphicFrame>
        <p:nvGraphicFramePr>
          <p:cNvPr id="80902" name="Group 6">
            <a:extLst>
              <a:ext uri="{FF2B5EF4-FFF2-40B4-BE49-F238E27FC236}">
                <a16:creationId xmlns:a16="http://schemas.microsoft.com/office/drawing/2014/main" id="{2B4541E4-EF4D-8B88-7DA4-A298E32ABBC9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2743200"/>
          <a:ext cx="6324600" cy="960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83459676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94609525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408580172"/>
                    </a:ext>
                  </a:extLst>
                </a:gridCol>
                <a:gridCol w="955675">
                  <a:extLst>
                    <a:ext uri="{9D8B030D-6E8A-4147-A177-3AD203B41FA5}">
                      <a16:colId xmlns:a16="http://schemas.microsoft.com/office/drawing/2014/main" val="232304134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633042260"/>
                    </a:ext>
                  </a:extLst>
                </a:gridCol>
              </a:tblGrid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082895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98.24833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58.03348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1.69296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0.12892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229784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Square Feet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0.10977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0.03297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3.32938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342466"/>
                  </a:ext>
                </a:extLst>
              </a:tr>
            </a:tbl>
          </a:graphicData>
        </a:graphic>
      </p:graphicFrame>
      <p:sp>
        <p:nvSpPr>
          <p:cNvPr id="80930" name="Oval 34">
            <a:extLst>
              <a:ext uri="{FF2B5EF4-FFF2-40B4-BE49-F238E27FC236}">
                <a16:creationId xmlns:a16="http://schemas.microsoft.com/office/drawing/2014/main" id="{BDBFA0E2-AD07-0BC4-E5F4-58D0BFA71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5" y="3352800"/>
            <a:ext cx="1000125" cy="3524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32" name="Line 36">
            <a:extLst>
              <a:ext uri="{FF2B5EF4-FFF2-40B4-BE49-F238E27FC236}">
                <a16:creationId xmlns:a16="http://schemas.microsoft.com/office/drawing/2014/main" id="{9AD06346-7FFD-A09B-7BE8-113E61F9D4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2514600"/>
            <a:ext cx="228600" cy="838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0933" name="Text Box 37">
            <a:extLst>
              <a:ext uri="{FF2B5EF4-FFF2-40B4-BE49-F238E27FC236}">
                <a16:creationId xmlns:a16="http://schemas.microsoft.com/office/drawing/2014/main" id="{D8E3989F-299A-09C2-F168-6C4A82690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057400"/>
            <a:ext cx="1295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/>
              <a:t>P-Value</a:t>
            </a:r>
            <a:endParaRPr lang="en-US" altLang="en-US" sz="2400" baseline="-25000"/>
          </a:p>
        </p:txBody>
      </p:sp>
      <p:sp>
        <p:nvSpPr>
          <p:cNvPr id="80934" name="Rectangle 38">
            <a:extLst>
              <a:ext uri="{FF2B5EF4-FFF2-40B4-BE49-F238E27FC236}">
                <a16:creationId xmlns:a16="http://schemas.microsoft.com/office/drawing/2014/main" id="{27BE2A1B-297E-FA11-86C1-57B58BE31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800600"/>
            <a:ext cx="5638800" cy="9429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There is sufficient evidence that square footage affects house price.</a:t>
            </a:r>
          </a:p>
        </p:txBody>
      </p:sp>
      <p:sp>
        <p:nvSpPr>
          <p:cNvPr id="80935" name="Rectangle 39">
            <a:extLst>
              <a:ext uri="{FF2B5EF4-FFF2-40B4-BE49-F238E27FC236}">
                <a16:creationId xmlns:a16="http://schemas.microsoft.com/office/drawing/2014/main" id="{A9BDFC77-D70A-EB44-E7E3-3B798A555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038600"/>
            <a:ext cx="594360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Decision:  Reject H</a:t>
            </a:r>
            <a:r>
              <a:rPr lang="en-US" altLang="en-US" sz="2800" baseline="-25000">
                <a:latin typeface="Times New Roman" panose="02020603050405020304" pitchFamily="18" charset="0"/>
              </a:rPr>
              <a:t>0</a:t>
            </a:r>
            <a:r>
              <a:rPr lang="en-US" altLang="en-US" sz="2800">
                <a:latin typeface="Times New Roman" panose="02020603050405020304" pitchFamily="18" charset="0"/>
              </a:rPr>
              <a:t>, since p-value &lt; </a:t>
            </a:r>
            <a:r>
              <a:rPr lang="el-GR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l-GR" altLang="en-US" sz="28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9CFBA2C-218F-CDE8-CCB9-1DE4B688CB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9230B33-4579-6DEF-4B98-3B1F05A3B4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0C4AE253-0100-4C54-BA9E-66A494BFAD87}" type="slidenum">
              <a:rPr lang="en-US" altLang="en-US"/>
              <a:pPr/>
              <a:t>39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54267FF1-0CBE-E0B8-29F1-49733479B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F-Test for Significance</a:t>
            </a:r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2CECD0D0-A070-AB83-5CD5-9C4651C3A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8077200" cy="1905000"/>
          </a:xfrm>
          <a:noFill/>
          <a:ln/>
        </p:spPr>
        <p:txBody>
          <a:bodyPr lIns="85342" tIns="42672" rIns="85342" bIns="42672"/>
          <a:lstStyle/>
          <a:p>
            <a:r>
              <a:rPr lang="en-US" altLang="en-US"/>
              <a:t>F Test statistic:</a:t>
            </a:r>
          </a:p>
          <a:p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	where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   </a:t>
            </a:r>
          </a:p>
        </p:txBody>
      </p:sp>
      <p:graphicFrame>
        <p:nvGraphicFramePr>
          <p:cNvPr id="81925" name="Object 5">
            <a:extLst>
              <a:ext uri="{FF2B5EF4-FFF2-40B4-BE49-F238E27FC236}">
                <a16:creationId xmlns:a16="http://schemas.microsoft.com/office/drawing/2014/main" id="{7C2AE372-CEE8-EB63-F159-2F738CEB31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1676400"/>
          <a:ext cx="17557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640" imgH="393480" progId="Equation.3">
                  <p:embed/>
                </p:oleObj>
              </mc:Choice>
              <mc:Fallback>
                <p:oleObj name="Equation" r:id="rId2" imgW="64764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676400"/>
                        <a:ext cx="1755775" cy="1066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6" name="Object 6">
            <a:extLst>
              <a:ext uri="{FF2B5EF4-FFF2-40B4-BE49-F238E27FC236}">
                <a16:creationId xmlns:a16="http://schemas.microsoft.com/office/drawing/2014/main" id="{59573926-7E96-803B-8496-44C010677A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3513" y="3270250"/>
          <a:ext cx="1881187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812520" progId="Equation.3">
                  <p:embed/>
                </p:oleObj>
              </mc:Choice>
              <mc:Fallback>
                <p:oleObj name="Equation" r:id="rId4" imgW="1028520" imgH="8125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513" y="3270250"/>
                        <a:ext cx="1881187" cy="1485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Text Box 7">
            <a:extLst>
              <a:ext uri="{FF2B5EF4-FFF2-40B4-BE49-F238E27FC236}">
                <a16:creationId xmlns:a16="http://schemas.microsoft.com/office/drawing/2014/main" id="{2913005D-DC0C-D646-CE41-31F393333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953000"/>
            <a:ext cx="7848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2000">
                <a:latin typeface="Times New Roman" panose="02020603050405020304" pitchFamily="18" charset="0"/>
              </a:rPr>
              <a:t>where F follows an F distribution with  k  numerator degrees of freedom and (n - k - 1)  denominator degrees of freedom </a:t>
            </a:r>
          </a:p>
          <a:p>
            <a:pPr eaLnBrk="1" hangingPunct="1"/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>
                <a:latin typeface="Times New Roman" panose="02020603050405020304" pitchFamily="18" charset="0"/>
              </a:rPr>
              <a:t>(k = the number of independent variables in the regression model)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3D7E752-7730-E4EB-428C-4DA533779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F1439B2-6EAF-FECE-45EE-7D5F562054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4F765660-DFB7-43F7-BA97-B8C0E0206E8F}" type="slidenum">
              <a:rPr lang="en-US" altLang="en-US"/>
              <a:pPr/>
              <a:t>40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EF775748-20FD-26CD-70F8-CE082BC7F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F-Test for Significance</a:t>
            </a:r>
            <a:br>
              <a:rPr lang="en-US" altLang="en-US"/>
            </a:br>
            <a:r>
              <a:rPr lang="en-US" altLang="en-US"/>
              <a:t>Excel Output</a:t>
            </a:r>
          </a:p>
        </p:txBody>
      </p:sp>
      <p:graphicFrame>
        <p:nvGraphicFramePr>
          <p:cNvPr id="83044" name="Group 100">
            <a:extLst>
              <a:ext uri="{FF2B5EF4-FFF2-40B4-BE49-F238E27FC236}">
                <a16:creationId xmlns:a16="http://schemas.microsoft.com/office/drawing/2014/main" id="{19C283B4-5219-7398-70AE-476224E2B16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209800"/>
          <a:ext cx="8229600" cy="325056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0245066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55380505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60090931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569590088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3640886262"/>
                    </a:ext>
                  </a:extLst>
                </a:gridCol>
                <a:gridCol w="1252537">
                  <a:extLst>
                    <a:ext uri="{9D8B030D-6E8A-4147-A177-3AD203B41FA5}">
                      <a16:colId xmlns:a16="http://schemas.microsoft.com/office/drawing/2014/main" val="53539946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96518538"/>
                    </a:ext>
                  </a:extLst>
                </a:gridCol>
              </a:tblGrid>
              <a:tr h="255588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 Statistics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661763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Multiple 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0.76211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943937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 Square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0.58082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218769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Adjusted R Square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0.52842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96594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41.33032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947755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696884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916015"/>
                  </a:ext>
                </a:extLst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ANOVA</a:t>
                      </a:r>
                    </a:p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Significance F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793457"/>
                  </a:ext>
                </a:extLst>
              </a:tr>
              <a:tr h="280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18934.9348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18934.9348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11.0848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993861"/>
                  </a:ext>
                </a:extLst>
              </a:tr>
              <a:tr h="301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Residual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13665.5652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1708.1957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328025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Total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32600.5000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945233"/>
                  </a:ext>
                </a:extLst>
              </a:tr>
            </a:tbl>
          </a:graphicData>
        </a:graphic>
      </p:graphicFrame>
      <p:graphicFrame>
        <p:nvGraphicFramePr>
          <p:cNvPr id="83033" name="Object 89">
            <a:extLst>
              <a:ext uri="{FF2B5EF4-FFF2-40B4-BE49-F238E27FC236}">
                <a16:creationId xmlns:a16="http://schemas.microsoft.com/office/drawing/2014/main" id="{E18FCA0A-0118-0C03-833E-D0363DAAE4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2514600"/>
          <a:ext cx="47021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393480" progId="Equation.3">
                  <p:embed/>
                </p:oleObj>
              </mc:Choice>
              <mc:Fallback>
                <p:oleObj name="Equation" r:id="rId2" imgW="2336760" imgH="393480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514600"/>
                        <a:ext cx="4702175" cy="7874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034" name="Line 90">
            <a:extLst>
              <a:ext uri="{FF2B5EF4-FFF2-40B4-BE49-F238E27FC236}">
                <a16:creationId xmlns:a16="http://schemas.microsoft.com/office/drawing/2014/main" id="{EEF22E4D-70A5-6344-AA20-721266BF52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40386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3035" name="Line 91">
            <a:extLst>
              <a:ext uri="{FF2B5EF4-FFF2-40B4-BE49-F238E27FC236}">
                <a16:creationId xmlns:a16="http://schemas.microsoft.com/office/drawing/2014/main" id="{5951E480-5C49-68A9-218C-0B2101FA55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124200"/>
            <a:ext cx="99060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3036" name="Line 92">
            <a:extLst>
              <a:ext uri="{FF2B5EF4-FFF2-40B4-BE49-F238E27FC236}">
                <a16:creationId xmlns:a16="http://schemas.microsoft.com/office/drawing/2014/main" id="{B4FAE9BA-5569-8DEA-C573-EDD3ECAB96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4191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3039" name="Text Box 95">
            <a:extLst>
              <a:ext uri="{FF2B5EF4-FFF2-40B4-BE49-F238E27FC236}">
                <a16:creationId xmlns:a16="http://schemas.microsoft.com/office/drawing/2014/main" id="{E02AB42A-B357-4431-8256-CE617E3E9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05200"/>
            <a:ext cx="2362200" cy="581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 b="1"/>
              <a:t>With 1 and 8 degrees of freedom</a:t>
            </a:r>
          </a:p>
        </p:txBody>
      </p:sp>
      <p:sp>
        <p:nvSpPr>
          <p:cNvPr id="83040" name="Text Box 96">
            <a:extLst>
              <a:ext uri="{FF2B5EF4-FFF2-40B4-BE49-F238E27FC236}">
                <a16:creationId xmlns:a16="http://schemas.microsoft.com/office/drawing/2014/main" id="{04CA1EC3-F9F7-072E-4F70-B981159E8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581400"/>
            <a:ext cx="1295400" cy="581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 b="1"/>
              <a:t>P-value for the F-Test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C388043-F499-E6B5-02DC-F2B9962760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1D39310-B92F-F635-89D9-80E248B591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A7EBAF4D-A35C-4C41-BBAB-5196ADAC19B7}" type="slidenum">
              <a:rPr lang="en-US" altLang="en-US"/>
              <a:pPr/>
              <a:t>41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5144A468-2A8B-7711-D77E-169564273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F-Test for Significance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3C4B7B03-2FCA-ECD1-0BF3-C75844EFE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52600"/>
            <a:ext cx="220980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9E58D0E5-8609-E056-EBB8-9FFECB1ABF7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752600"/>
            <a:ext cx="3848100" cy="182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 sz="2400"/>
              <a:t>H</a:t>
            </a:r>
            <a:r>
              <a:rPr lang="en-US" altLang="en-US" sz="2400" baseline="-25000"/>
              <a:t>0</a:t>
            </a:r>
            <a:r>
              <a:rPr lang="en-US" altLang="en-US" sz="2400"/>
              <a:t>: </a:t>
            </a:r>
            <a:r>
              <a:rPr lang="el-GR" altLang="en-US" sz="2400"/>
              <a:t>β</a:t>
            </a:r>
            <a:r>
              <a:rPr lang="en-US" altLang="en-US" sz="2400" baseline="-25000"/>
              <a:t>1</a:t>
            </a:r>
            <a:r>
              <a:rPr lang="en-US" altLang="en-US" sz="2400"/>
              <a:t> = 0</a:t>
            </a:r>
          </a:p>
          <a:p>
            <a:r>
              <a:rPr lang="en-US" altLang="en-US" sz="2400"/>
              <a:t>H</a:t>
            </a:r>
            <a:r>
              <a:rPr lang="en-US" altLang="en-US" sz="2400" baseline="-25000"/>
              <a:t>1</a:t>
            </a:r>
            <a:r>
              <a:rPr lang="en-US" altLang="en-US" sz="2400"/>
              <a:t>: </a:t>
            </a:r>
            <a:r>
              <a:rPr lang="el-GR" altLang="en-US" sz="2400"/>
              <a:t>β</a:t>
            </a:r>
            <a:r>
              <a:rPr lang="en-US" altLang="en-US" sz="2400" baseline="-25000"/>
              <a:t>1</a:t>
            </a:r>
            <a:r>
              <a:rPr lang="en-US" altLang="en-US" sz="2400"/>
              <a:t> ≠ 0</a:t>
            </a:r>
          </a:p>
          <a:p>
            <a:r>
              <a:rPr lang="en-US" altLang="en-US" sz="2400">
                <a:sym typeface="Symbol" panose="05050102010706020507" pitchFamily="18" charset="2"/>
              </a:rPr>
              <a:t></a:t>
            </a:r>
            <a:r>
              <a:rPr lang="en-US" altLang="en-US" sz="2400"/>
              <a:t> = .05</a:t>
            </a:r>
          </a:p>
          <a:p>
            <a:r>
              <a:rPr lang="en-US" altLang="en-US" sz="2400"/>
              <a:t>df</a:t>
            </a:r>
            <a:r>
              <a:rPr lang="en-US" altLang="en-US" sz="2400" baseline="-25000"/>
              <a:t>1</a:t>
            </a:r>
            <a:r>
              <a:rPr lang="en-US" altLang="en-US" sz="2400"/>
              <a:t>= 1      df</a:t>
            </a:r>
            <a:r>
              <a:rPr lang="en-US" altLang="en-US" sz="2400" baseline="-25000"/>
              <a:t>2</a:t>
            </a:r>
            <a:r>
              <a:rPr lang="en-US" altLang="en-US" sz="2400"/>
              <a:t> = 8 </a:t>
            </a:r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A261FED9-10C5-DD88-6A10-75CECC55E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676400"/>
            <a:ext cx="3810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65188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8088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Test Statistic: </a:t>
            </a:r>
            <a:endParaRPr lang="en-US" altLang="en-US" sz="28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Decision:</a:t>
            </a:r>
            <a:endParaRPr lang="en-US" altLang="en-US" sz="28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endParaRPr lang="en-US" altLang="en-US" sz="2800" b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Conclusion:</a:t>
            </a:r>
            <a:endParaRPr lang="en-US" altLang="en-US" sz="2800">
              <a:latin typeface="Times New Roman" panose="02020603050405020304" pitchFamily="18" charset="0"/>
            </a:endParaRPr>
          </a:p>
          <a:p>
            <a:pPr latinLnBrk="1"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90E7FAC1-F5AC-B0DC-164C-F16F78DAE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3733800" cy="5159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Reject H</a:t>
            </a:r>
            <a:r>
              <a:rPr lang="en-US" altLang="en-US" sz="2800" baseline="-25000"/>
              <a:t>0</a:t>
            </a:r>
            <a:r>
              <a:rPr lang="en-US" altLang="en-US" sz="2800"/>
              <a:t> at  </a:t>
            </a:r>
            <a:r>
              <a:rPr lang="en-US" altLang="en-US" sz="2800" b="1">
                <a:latin typeface="Symbol" panose="05050102010706020507" pitchFamily="18" charset="2"/>
              </a:rPr>
              <a:t></a:t>
            </a:r>
            <a:r>
              <a:rPr lang="en-US" altLang="en-US" sz="2800"/>
              <a:t> = 0.05</a:t>
            </a:r>
          </a:p>
        </p:txBody>
      </p:sp>
      <p:sp>
        <p:nvSpPr>
          <p:cNvPr id="85000" name="Rectangle 8">
            <a:extLst>
              <a:ext uri="{FF2B5EF4-FFF2-40B4-BE49-F238E27FC236}">
                <a16:creationId xmlns:a16="http://schemas.microsoft.com/office/drawing/2014/main" id="{EC04FB96-B212-DED3-F6FA-437F38542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257800"/>
            <a:ext cx="4114800" cy="8191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There is sufficient evidence that house size affects selling price</a:t>
            </a:r>
          </a:p>
        </p:txBody>
      </p:sp>
      <p:sp>
        <p:nvSpPr>
          <p:cNvPr id="85001" name="Freeform 9">
            <a:extLst>
              <a:ext uri="{FF2B5EF4-FFF2-40B4-BE49-F238E27FC236}">
                <a16:creationId xmlns:a16="http://schemas.microsoft.com/office/drawing/2014/main" id="{22416D8B-B13F-ADD5-AC1D-80FC7042D4C4}"/>
              </a:ext>
            </a:extLst>
          </p:cNvPr>
          <p:cNvSpPr>
            <a:spLocks/>
          </p:cNvSpPr>
          <p:nvPr/>
        </p:nvSpPr>
        <p:spPr bwMode="auto">
          <a:xfrm>
            <a:off x="2051050" y="5486400"/>
            <a:ext cx="1555750" cy="223838"/>
          </a:xfrm>
          <a:custGeom>
            <a:avLst/>
            <a:gdLst>
              <a:gd name="T0" fmla="*/ 4 w 980"/>
              <a:gd name="T1" fmla="*/ 154 h 154"/>
              <a:gd name="T2" fmla="*/ 0 w 980"/>
              <a:gd name="T3" fmla="*/ 0 h 154"/>
              <a:gd name="T4" fmla="*/ 83 w 980"/>
              <a:gd name="T5" fmla="*/ 39 h 154"/>
              <a:gd name="T6" fmla="*/ 154 w 980"/>
              <a:gd name="T7" fmla="*/ 61 h 154"/>
              <a:gd name="T8" fmla="*/ 209 w 980"/>
              <a:gd name="T9" fmla="*/ 76 h 154"/>
              <a:gd name="T10" fmla="*/ 283 w 980"/>
              <a:gd name="T11" fmla="*/ 91 h 154"/>
              <a:gd name="T12" fmla="*/ 428 w 980"/>
              <a:gd name="T13" fmla="*/ 111 h 154"/>
              <a:gd name="T14" fmla="*/ 592 w 980"/>
              <a:gd name="T15" fmla="*/ 126 h 154"/>
              <a:gd name="T16" fmla="*/ 979 w 980"/>
              <a:gd name="T17" fmla="*/ 141 h 154"/>
              <a:gd name="T18" fmla="*/ 980 w 980"/>
              <a:gd name="T19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80" h="154">
                <a:moveTo>
                  <a:pt x="4" y="154"/>
                </a:moveTo>
                <a:lnTo>
                  <a:pt x="0" y="0"/>
                </a:lnTo>
                <a:lnTo>
                  <a:pt x="83" y="39"/>
                </a:lnTo>
                <a:lnTo>
                  <a:pt x="154" y="61"/>
                </a:lnTo>
                <a:lnTo>
                  <a:pt x="209" y="76"/>
                </a:lnTo>
                <a:lnTo>
                  <a:pt x="283" y="91"/>
                </a:lnTo>
                <a:lnTo>
                  <a:pt x="428" y="111"/>
                </a:lnTo>
                <a:lnTo>
                  <a:pt x="592" y="126"/>
                </a:lnTo>
                <a:lnTo>
                  <a:pt x="979" y="141"/>
                </a:lnTo>
                <a:lnTo>
                  <a:pt x="980" y="154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5002" name="Freeform 10">
            <a:extLst>
              <a:ext uri="{FF2B5EF4-FFF2-40B4-BE49-F238E27FC236}">
                <a16:creationId xmlns:a16="http://schemas.microsoft.com/office/drawing/2014/main" id="{B83D817C-BD1A-D8E7-C221-91C4849C0209}"/>
              </a:ext>
            </a:extLst>
          </p:cNvPr>
          <p:cNvSpPr>
            <a:spLocks/>
          </p:cNvSpPr>
          <p:nvPr/>
        </p:nvSpPr>
        <p:spPr bwMode="auto">
          <a:xfrm>
            <a:off x="373063" y="4100513"/>
            <a:ext cx="3513137" cy="1614487"/>
          </a:xfrm>
          <a:custGeom>
            <a:avLst/>
            <a:gdLst>
              <a:gd name="T0" fmla="*/ 0 w 3388"/>
              <a:gd name="T1" fmla="*/ 0 h 1023"/>
              <a:gd name="T2" fmla="*/ 0 w 3388"/>
              <a:gd name="T3" fmla="*/ 1022 h 1023"/>
              <a:gd name="T4" fmla="*/ 3387 w 3388"/>
              <a:gd name="T5" fmla="*/ 1022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88" h="1023">
                <a:moveTo>
                  <a:pt x="0" y="0"/>
                </a:moveTo>
                <a:lnTo>
                  <a:pt x="0" y="1022"/>
                </a:lnTo>
                <a:lnTo>
                  <a:pt x="3387" y="102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5003" name="Rectangle 11">
            <a:extLst>
              <a:ext uri="{FF2B5EF4-FFF2-40B4-BE49-F238E27FC236}">
                <a16:creationId xmlns:a16="http://schemas.microsoft.com/office/drawing/2014/main" id="{1607F267-8ECD-FD5B-EC90-F5C91FD36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45720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/>
              <a:t>0</a:t>
            </a:r>
            <a:r>
              <a:rPr lang="en-US" altLang="en-US" sz="3600" b="1"/>
              <a:t> </a:t>
            </a:r>
          </a:p>
        </p:txBody>
      </p:sp>
      <p:sp>
        <p:nvSpPr>
          <p:cNvPr id="85004" name="Line 12">
            <a:extLst>
              <a:ext uri="{FF2B5EF4-FFF2-40B4-BE49-F238E27FC236}">
                <a16:creationId xmlns:a16="http://schemas.microsoft.com/office/drawing/2014/main" id="{BEBB25EB-FA71-B251-5047-43632E22A0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8" y="4419600"/>
            <a:ext cx="317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5005" name="Freeform 13">
            <a:extLst>
              <a:ext uri="{FF2B5EF4-FFF2-40B4-BE49-F238E27FC236}">
                <a16:creationId xmlns:a16="http://schemas.microsoft.com/office/drawing/2014/main" id="{274B73EB-82D3-43E7-3D6F-7C90C6D201ED}"/>
              </a:ext>
            </a:extLst>
          </p:cNvPr>
          <p:cNvSpPr>
            <a:spLocks/>
          </p:cNvSpPr>
          <p:nvPr/>
        </p:nvSpPr>
        <p:spPr bwMode="auto">
          <a:xfrm>
            <a:off x="381000" y="4343400"/>
            <a:ext cx="3429000" cy="1392238"/>
          </a:xfrm>
          <a:custGeom>
            <a:avLst/>
            <a:gdLst>
              <a:gd name="T0" fmla="*/ 0 w 3492"/>
              <a:gd name="T1" fmla="*/ 1011 h 1021"/>
              <a:gd name="T2" fmla="*/ 162 w 3492"/>
              <a:gd name="T3" fmla="*/ 837 h 1021"/>
              <a:gd name="T4" fmla="*/ 714 w 3492"/>
              <a:gd name="T5" fmla="*/ 3 h 1021"/>
              <a:gd name="T6" fmla="*/ 1728 w 3492"/>
              <a:gd name="T7" fmla="*/ 855 h 1021"/>
              <a:gd name="T8" fmla="*/ 3492 w 3492"/>
              <a:gd name="T9" fmla="*/ 999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2" h="1021">
                <a:moveTo>
                  <a:pt x="0" y="1011"/>
                </a:moveTo>
                <a:cubicBezTo>
                  <a:pt x="27" y="982"/>
                  <a:pt x="43" y="1005"/>
                  <a:pt x="162" y="837"/>
                </a:cubicBezTo>
                <a:cubicBezTo>
                  <a:pt x="281" y="669"/>
                  <a:pt x="453" y="0"/>
                  <a:pt x="714" y="3"/>
                </a:cubicBezTo>
                <a:cubicBezTo>
                  <a:pt x="975" y="6"/>
                  <a:pt x="1265" y="689"/>
                  <a:pt x="1728" y="855"/>
                </a:cubicBezTo>
                <a:cubicBezTo>
                  <a:pt x="2191" y="1021"/>
                  <a:pt x="3125" y="969"/>
                  <a:pt x="3492" y="999"/>
                </a:cubicBezTo>
              </a:path>
            </a:pathLst>
          </a:custGeom>
          <a:noFill/>
          <a:ln w="38100" cap="flat" cmpd="sng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5006" name="Line 14">
            <a:extLst>
              <a:ext uri="{FF2B5EF4-FFF2-40B4-BE49-F238E27FC236}">
                <a16:creationId xmlns:a16="http://schemas.microsoft.com/office/drawing/2014/main" id="{8C347007-9E63-2B5D-BC9B-71172DB313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5486400"/>
            <a:ext cx="1588" cy="2286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5007" name="Line 15">
            <a:extLst>
              <a:ext uri="{FF2B5EF4-FFF2-40B4-BE49-F238E27FC236}">
                <a16:creationId xmlns:a16="http://schemas.microsoft.com/office/drawing/2014/main" id="{57870FA5-2D59-1AAA-8CDB-5C699F416A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2200" y="5257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5008" name="Text Box 16">
            <a:extLst>
              <a:ext uri="{FF2B5EF4-FFF2-40B4-BE49-F238E27FC236}">
                <a16:creationId xmlns:a16="http://schemas.microsoft.com/office/drawing/2014/main" id="{9B3A913D-2349-7611-5686-94C1E93AB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9530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>
                <a:sym typeface="Symbol" panose="05050102010706020507" pitchFamily="18" charset="2"/>
              </a:rPr>
              <a:t> = .05</a:t>
            </a:r>
            <a:endParaRPr lang="en-US" altLang="en-US" sz="2000" baseline="-25000">
              <a:sym typeface="Symbol" panose="05050102010706020507" pitchFamily="18" charset="2"/>
            </a:endParaRPr>
          </a:p>
        </p:txBody>
      </p:sp>
      <p:sp>
        <p:nvSpPr>
          <p:cNvPr id="85009" name="Rectangle 17">
            <a:extLst>
              <a:ext uri="{FF2B5EF4-FFF2-40B4-BE49-F238E27FC236}">
                <a16:creationId xmlns:a16="http://schemas.microsoft.com/office/drawing/2014/main" id="{548A57B2-8EC3-7790-B02D-F655C69A9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6019800"/>
            <a:ext cx="15240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/>
              <a:t>F</a:t>
            </a:r>
            <a:r>
              <a:rPr lang="en-US" altLang="en-US" sz="2000" b="1" baseline="-25000">
                <a:sym typeface="Symbol" panose="05050102010706020507" pitchFamily="18" charset="2"/>
              </a:rPr>
              <a:t>.05 </a:t>
            </a:r>
            <a:r>
              <a:rPr lang="en-US" altLang="en-US" sz="2000" b="1"/>
              <a:t>= 5.32</a:t>
            </a:r>
          </a:p>
        </p:txBody>
      </p:sp>
      <p:sp>
        <p:nvSpPr>
          <p:cNvPr id="85010" name="Line 18">
            <a:extLst>
              <a:ext uri="{FF2B5EF4-FFF2-40B4-BE49-F238E27FC236}">
                <a16:creationId xmlns:a16="http://schemas.microsoft.com/office/drawing/2014/main" id="{A146116A-9F5C-FBEC-11D8-464E529D22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5715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5011" name="Line 19">
            <a:extLst>
              <a:ext uri="{FF2B5EF4-FFF2-40B4-BE49-F238E27FC236}">
                <a16:creationId xmlns:a16="http://schemas.microsoft.com/office/drawing/2014/main" id="{0AC99B3C-B22E-C86D-87E7-939A524662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" y="5943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5012" name="Line 20">
            <a:extLst>
              <a:ext uri="{FF2B5EF4-FFF2-40B4-BE49-F238E27FC236}">
                <a16:creationId xmlns:a16="http://schemas.microsoft.com/office/drawing/2014/main" id="{EDE0E3F9-0C57-B55A-0821-C39D9C3DAF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5943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5013" name="Rectangle 21">
            <a:extLst>
              <a:ext uri="{FF2B5EF4-FFF2-40B4-BE49-F238E27FC236}">
                <a16:creationId xmlns:a16="http://schemas.microsoft.com/office/drawing/2014/main" id="{9BD068DF-9A0A-8E92-B1C4-CB3B9A4A9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867400"/>
            <a:ext cx="9906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/>
              <a:t>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85014" name="Rectangle 22">
            <a:extLst>
              <a:ext uri="{FF2B5EF4-FFF2-40B4-BE49-F238E27FC236}">
                <a16:creationId xmlns:a16="http://schemas.microsoft.com/office/drawing/2014/main" id="{C07900E4-ED3E-A3BA-B8A6-5043A6A47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867400"/>
            <a:ext cx="914400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/>
              <a:t>Do not 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US" altLang="en-US" sz="1400"/>
              <a:t>reject H</a:t>
            </a:r>
            <a:r>
              <a:rPr lang="en-US" altLang="en-US" sz="1400" baseline="-25000"/>
              <a:t>0</a:t>
            </a:r>
          </a:p>
        </p:txBody>
      </p:sp>
      <p:graphicFrame>
        <p:nvGraphicFramePr>
          <p:cNvPr id="85015" name="Object 23">
            <a:extLst>
              <a:ext uri="{FF2B5EF4-FFF2-40B4-BE49-F238E27FC236}">
                <a16:creationId xmlns:a16="http://schemas.microsoft.com/office/drawing/2014/main" id="{27F4416D-D7D7-FD74-0E96-8F86EEE52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59325" y="2209800"/>
          <a:ext cx="2613025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393480" progId="Equation.3">
                  <p:embed/>
                </p:oleObj>
              </mc:Choice>
              <mc:Fallback>
                <p:oleObj name="Equation" r:id="rId2" imgW="1180800" imgH="3934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325" y="2209800"/>
                        <a:ext cx="2613025" cy="8556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16" name="Line 24">
            <a:extLst>
              <a:ext uri="{FF2B5EF4-FFF2-40B4-BE49-F238E27FC236}">
                <a16:creationId xmlns:a16="http://schemas.microsoft.com/office/drawing/2014/main" id="{46240A15-9DB3-8B29-E749-87C8A4F82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886200"/>
            <a:ext cx="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5017" name="Line 25">
            <a:extLst>
              <a:ext uri="{FF2B5EF4-FFF2-40B4-BE49-F238E27FC236}">
                <a16:creationId xmlns:a16="http://schemas.microsoft.com/office/drawing/2014/main" id="{44207D47-2238-AB73-EE03-875255FE58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743200"/>
            <a:ext cx="12192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5018" name="Rectangle 26">
            <a:extLst>
              <a:ext uri="{FF2B5EF4-FFF2-40B4-BE49-F238E27FC236}">
                <a16:creationId xmlns:a16="http://schemas.microsoft.com/office/drawing/2014/main" id="{E2D9240A-7829-DB59-C1BA-79A550B09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886200"/>
            <a:ext cx="1828800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Critical Value:  </a:t>
            </a:r>
          </a:p>
          <a:p>
            <a:pPr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F</a:t>
            </a:r>
            <a:r>
              <a:rPr lang="en-US" altLang="en-US" sz="20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en-US" sz="2000" b="1">
                <a:latin typeface="Times New Roman" panose="02020603050405020304" pitchFamily="18" charset="0"/>
              </a:rPr>
              <a:t>= 5.32</a:t>
            </a:r>
          </a:p>
        </p:txBody>
      </p:sp>
      <p:sp>
        <p:nvSpPr>
          <p:cNvPr id="85020" name="Text Box 28">
            <a:extLst>
              <a:ext uri="{FF2B5EF4-FFF2-40B4-BE49-F238E27FC236}">
                <a16:creationId xmlns:a16="http://schemas.microsoft.com/office/drawing/2014/main" id="{6296184C-67B8-5352-4F18-CDF9E7135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638800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/>
              <a:t>F</a:t>
            </a:r>
          </a:p>
        </p:txBody>
      </p:sp>
      <p:sp>
        <p:nvSpPr>
          <p:cNvPr id="85021" name="AutoShape 29">
            <a:extLst>
              <a:ext uri="{FF2B5EF4-FFF2-40B4-BE49-F238E27FC236}">
                <a16:creationId xmlns:a16="http://schemas.microsoft.com/office/drawing/2014/main" id="{3F403723-DF1D-4413-581E-E6ED564A268B}"/>
              </a:ext>
            </a:extLst>
          </p:cNvPr>
          <p:cNvSpPr>
            <a:spLocks/>
          </p:cNvSpPr>
          <p:nvPr/>
        </p:nvSpPr>
        <p:spPr bwMode="auto">
          <a:xfrm rot="16200000">
            <a:off x="1562100" y="2400300"/>
            <a:ext cx="228600" cy="2438400"/>
          </a:xfrm>
          <a:prstGeom prst="leftBrace">
            <a:avLst>
              <a:gd name="adj1" fmla="val 88889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9238E38-578F-BA70-36E8-7563E38EF1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173A506-9C16-8D43-EFAC-45783018CA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6AE6B859-19A5-4A21-9C40-28FE325D8E9C}" type="slidenum">
              <a:rPr lang="en-US" altLang="en-US"/>
              <a:pPr/>
              <a:t>42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CF2AFD5E-E05E-7013-B543-943B8EE9B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Confidence Interval Estimate </a:t>
            </a:r>
            <a:br>
              <a:rPr lang="en-US" altLang="en-US"/>
            </a:br>
            <a:r>
              <a:rPr lang="en-US" altLang="en-US"/>
              <a:t>for the Slope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6F750EE2-D356-BCA8-CD7B-66F7666D1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647700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Confidence Interval Estimate of the Slope:</a:t>
            </a: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C08025A1-FA84-CD9D-B21F-52F9D9890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352800"/>
            <a:ext cx="45053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Excel Printout for House Prices:</a:t>
            </a:r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5E86A59B-0C78-6FFA-C58B-07461AFE2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181600"/>
            <a:ext cx="6934200" cy="8191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At the 95% level of confidence, the confidence interval for the slope is (0.0337, 0.1858)</a:t>
            </a:r>
          </a:p>
        </p:txBody>
      </p:sp>
      <p:graphicFrame>
        <p:nvGraphicFramePr>
          <p:cNvPr id="86023" name="Object 7">
            <a:extLst>
              <a:ext uri="{FF2B5EF4-FFF2-40B4-BE49-F238E27FC236}">
                <a16:creationId xmlns:a16="http://schemas.microsoft.com/office/drawing/2014/main" id="{654B585E-3CF3-34BD-F4B1-321A78933B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2438400"/>
          <a:ext cx="239077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241200" progId="Equation.3">
                  <p:embed/>
                </p:oleObj>
              </mc:Choice>
              <mc:Fallback>
                <p:oleObj name="Equation" r:id="rId2" imgW="72360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438400"/>
                        <a:ext cx="2390775" cy="7937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Group 8">
            <a:extLst>
              <a:ext uri="{FF2B5EF4-FFF2-40B4-BE49-F238E27FC236}">
                <a16:creationId xmlns:a16="http://schemas.microsoft.com/office/drawing/2014/main" id="{6EBD13FA-F6EB-C6FB-7A30-E640A672C3D0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3733800"/>
          <a:ext cx="8382000" cy="86868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19260067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8156558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39782609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002837354"/>
                    </a:ext>
                  </a:extLst>
                </a:gridCol>
                <a:gridCol w="881063">
                  <a:extLst>
                    <a:ext uri="{9D8B030D-6E8A-4147-A177-3AD203B41FA5}">
                      <a16:colId xmlns:a16="http://schemas.microsoft.com/office/drawing/2014/main" val="446327049"/>
                    </a:ext>
                  </a:extLst>
                </a:gridCol>
                <a:gridCol w="1252537">
                  <a:extLst>
                    <a:ext uri="{9D8B030D-6E8A-4147-A177-3AD203B41FA5}">
                      <a16:colId xmlns:a16="http://schemas.microsoft.com/office/drawing/2014/main" val="306923283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615004791"/>
                    </a:ext>
                  </a:extLst>
                </a:gridCol>
              </a:tblGrid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55809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98.24833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58.03348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1.69296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0.12892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-35.57720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232.07386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95616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Square Feet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0.10977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0.03297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3.32938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0.03374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0.18580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416881"/>
                  </a:ext>
                </a:extLst>
              </a:tr>
            </a:tbl>
          </a:graphicData>
        </a:graphic>
      </p:graphicFrame>
      <p:sp>
        <p:nvSpPr>
          <p:cNvPr id="86058" name="Oval 42">
            <a:extLst>
              <a:ext uri="{FF2B5EF4-FFF2-40B4-BE49-F238E27FC236}">
                <a16:creationId xmlns:a16="http://schemas.microsoft.com/office/drawing/2014/main" id="{A4BAA0F3-5DED-0E3B-B433-5609345C7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267200"/>
            <a:ext cx="1000125" cy="4286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6059" name="Oval 43">
            <a:extLst>
              <a:ext uri="{FF2B5EF4-FFF2-40B4-BE49-F238E27FC236}">
                <a16:creationId xmlns:a16="http://schemas.microsoft.com/office/drawing/2014/main" id="{FA38B0B8-B476-250A-D3CA-C589A7485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75" y="4267200"/>
            <a:ext cx="1000125" cy="4286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6060" name="Oval 44">
            <a:extLst>
              <a:ext uri="{FF2B5EF4-FFF2-40B4-BE49-F238E27FC236}">
                <a16:creationId xmlns:a16="http://schemas.microsoft.com/office/drawing/2014/main" id="{AFA96CB4-451B-A8BA-70A3-5DAEB390F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657600"/>
            <a:ext cx="2590800" cy="4286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6061" name="Oval 45">
            <a:extLst>
              <a:ext uri="{FF2B5EF4-FFF2-40B4-BE49-F238E27FC236}">
                <a16:creationId xmlns:a16="http://schemas.microsoft.com/office/drawing/2014/main" id="{8384259C-2EA1-058F-0AA4-4DAF9E016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267200"/>
            <a:ext cx="1000125" cy="4286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6062" name="Rectangle 46">
            <a:extLst>
              <a:ext uri="{FF2B5EF4-FFF2-40B4-BE49-F238E27FC236}">
                <a16:creationId xmlns:a16="http://schemas.microsoft.com/office/drawing/2014/main" id="{3B657456-4C48-153E-DBCC-E177829EA45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400800" y="2667000"/>
            <a:ext cx="1143000" cy="3333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/>
              <a:t>d.f. = n - 2</a:t>
            </a:r>
          </a:p>
        </p:txBody>
      </p:sp>
      <p:sp>
        <p:nvSpPr>
          <p:cNvPr id="86063" name="Line 47">
            <a:extLst>
              <a:ext uri="{FF2B5EF4-FFF2-40B4-BE49-F238E27FC236}">
                <a16:creationId xmlns:a16="http://schemas.microsoft.com/office/drawing/2014/main" id="{302314B0-C149-3E17-B0CF-2C2D92E2DA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3124200"/>
            <a:ext cx="914400" cy="11430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4" name="Line 48">
            <a:extLst>
              <a:ext uri="{FF2B5EF4-FFF2-40B4-BE49-F238E27FC236}">
                <a16:creationId xmlns:a16="http://schemas.microsoft.com/office/drawing/2014/main" id="{0ABDB486-FC89-E1BF-9B1D-6DCEE733F2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3048000"/>
            <a:ext cx="1219200" cy="1295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5" name="Oval 49">
            <a:extLst>
              <a:ext uri="{FF2B5EF4-FFF2-40B4-BE49-F238E27FC236}">
                <a16:creationId xmlns:a16="http://schemas.microsoft.com/office/drawing/2014/main" id="{F519AF48-1EFC-0F99-C59B-EA72A3147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267200"/>
            <a:ext cx="1000125" cy="4286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FA0F3EC-3AA5-7605-E64D-0F5F916524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0DEBFF3-0FBB-35AF-1629-044DCEBB8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4845BE9F-D8E7-4A2B-BFC5-F7F7B7483BA6}" type="slidenum">
              <a:rPr lang="en-US" altLang="en-US"/>
              <a:pPr/>
              <a:t>43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62CD8B41-E669-12BE-FE79-EE391FE65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Confidence Interval Estimate </a:t>
            </a:r>
            <a:br>
              <a:rPr lang="en-US" altLang="en-US"/>
            </a:br>
            <a:r>
              <a:rPr lang="en-US" altLang="en-US"/>
              <a:t>for the Slope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21113EE0-4C2C-4BDE-B7AC-E75047147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505200"/>
            <a:ext cx="7543800" cy="11842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Since the units of the house price variable is $1000s, you are 95% confident that the mean change in sales price is between $33.74 and $185.80 per square foot of house size</a:t>
            </a:r>
          </a:p>
        </p:txBody>
      </p:sp>
      <p:graphicFrame>
        <p:nvGraphicFramePr>
          <p:cNvPr id="87084" name="Group 44">
            <a:extLst>
              <a:ext uri="{FF2B5EF4-FFF2-40B4-BE49-F238E27FC236}">
                <a16:creationId xmlns:a16="http://schemas.microsoft.com/office/drawing/2014/main" id="{FCE33920-C50F-5ECF-CB71-BB86DE9CCFD8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2133600"/>
          <a:ext cx="8382000" cy="86868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305803676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471528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0275726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500923975"/>
                    </a:ext>
                  </a:extLst>
                </a:gridCol>
                <a:gridCol w="881063">
                  <a:extLst>
                    <a:ext uri="{9D8B030D-6E8A-4147-A177-3AD203B41FA5}">
                      <a16:colId xmlns:a16="http://schemas.microsoft.com/office/drawing/2014/main" val="758132536"/>
                    </a:ext>
                  </a:extLst>
                </a:gridCol>
                <a:gridCol w="1252537">
                  <a:extLst>
                    <a:ext uri="{9D8B030D-6E8A-4147-A177-3AD203B41FA5}">
                      <a16:colId xmlns:a16="http://schemas.microsoft.com/office/drawing/2014/main" val="5361816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132257060"/>
                    </a:ext>
                  </a:extLst>
                </a:gridCol>
              </a:tblGrid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35221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98.24833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58.03348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1.69296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0.12892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-35.57720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232.07386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881995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Square Feet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0.10977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0.03297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3.32938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0.01039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0.03374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0.18580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504031"/>
                  </a:ext>
                </a:extLst>
              </a:tr>
            </a:tbl>
          </a:graphicData>
        </a:graphic>
      </p:graphicFrame>
      <p:sp>
        <p:nvSpPr>
          <p:cNvPr id="87079" name="Oval 39">
            <a:extLst>
              <a:ext uri="{FF2B5EF4-FFF2-40B4-BE49-F238E27FC236}">
                <a16:creationId xmlns:a16="http://schemas.microsoft.com/office/drawing/2014/main" id="{72BE7AFC-1D0E-47AF-77D8-4921EC89B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6075" y="2667000"/>
            <a:ext cx="1000125" cy="4286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7080" name="Oval 40">
            <a:extLst>
              <a:ext uri="{FF2B5EF4-FFF2-40B4-BE49-F238E27FC236}">
                <a16:creationId xmlns:a16="http://schemas.microsoft.com/office/drawing/2014/main" id="{04AC6890-D7D6-FFA6-C4F9-C01463C8C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667000"/>
            <a:ext cx="1000125" cy="4286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7081" name="Oval 41">
            <a:extLst>
              <a:ext uri="{FF2B5EF4-FFF2-40B4-BE49-F238E27FC236}">
                <a16:creationId xmlns:a16="http://schemas.microsoft.com/office/drawing/2014/main" id="{1AC23A15-C945-D791-3713-C2D0ED9A1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057400"/>
            <a:ext cx="2590800" cy="4286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7082" name="Oval 42">
            <a:extLst>
              <a:ext uri="{FF2B5EF4-FFF2-40B4-BE49-F238E27FC236}">
                <a16:creationId xmlns:a16="http://schemas.microsoft.com/office/drawing/2014/main" id="{C7BB92C2-5A4F-91D9-BCDA-DB1902687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667000"/>
            <a:ext cx="1000125" cy="428625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7083" name="Rectangle 43">
            <a:extLst>
              <a:ext uri="{FF2B5EF4-FFF2-40B4-BE49-F238E27FC236}">
                <a16:creationId xmlns:a16="http://schemas.microsoft.com/office/drawing/2014/main" id="{70E6706F-5C2E-3F51-9534-A60C41950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29200"/>
            <a:ext cx="7470775" cy="1155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This 95% confidence interval does not include 0.</a:t>
            </a:r>
          </a:p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Conclusion: There is a significant relationship between house price and square feet at the .05 level of significance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7519EA5-D9C3-410B-CFFF-1EAAE78E7D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C6F2504-7F53-0C31-70F4-5BA0C380D2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2502E8CF-3573-456A-99BC-EAECB9FA214D}" type="slidenum">
              <a:rPr lang="en-US" altLang="en-US"/>
              <a:pPr/>
              <a:t>44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33416539-CF78-6D4D-D5DB-869291CA51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457200"/>
            <a:ext cx="7315200" cy="1295400"/>
          </a:xfrm>
        </p:spPr>
        <p:txBody>
          <a:bodyPr/>
          <a:lstStyle/>
          <a:p>
            <a:r>
              <a:rPr lang="en-US" altLang="en-US" sz="3600"/>
              <a:t>t Test for a Correlation Coefficient</a:t>
            </a:r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5B3AA7DC-E1CF-F121-63E3-E567D2C2D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133600"/>
            <a:ext cx="6629400" cy="990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D0397913-8043-C477-2E5D-7C7DBDEEC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8077200" cy="3276600"/>
          </a:xfrm>
          <a:noFill/>
          <a:ln/>
        </p:spPr>
        <p:txBody>
          <a:bodyPr lIns="85342" tIns="42672" rIns="85342" bIns="42672"/>
          <a:lstStyle/>
          <a:p>
            <a:r>
              <a:rPr lang="en-US" altLang="en-US"/>
              <a:t>Hypotheses </a:t>
            </a:r>
          </a:p>
          <a:p>
            <a:pPr lvl="1"/>
            <a:r>
              <a:rPr lang="en-US" altLang="en-US"/>
              <a:t>	H</a:t>
            </a:r>
            <a:r>
              <a:rPr lang="en-US" altLang="en-US" baseline="-25000"/>
              <a:t>0</a:t>
            </a:r>
            <a:r>
              <a:rPr lang="en-US" altLang="en-US"/>
              <a:t>: </a:t>
            </a:r>
            <a:r>
              <a:rPr lang="el-GR" altLang="en-US"/>
              <a:t>ρ</a:t>
            </a:r>
            <a:r>
              <a:rPr lang="en-US" altLang="en-US"/>
              <a:t> = 0 	(no correlation between X and Y) </a:t>
            </a:r>
          </a:p>
          <a:p>
            <a:pPr lvl="1"/>
            <a:r>
              <a:rPr lang="en-US" altLang="en-US"/>
              <a:t>	H</a:t>
            </a:r>
            <a:r>
              <a:rPr lang="en-US" altLang="en-US" baseline="-25000"/>
              <a:t>1</a:t>
            </a:r>
            <a:r>
              <a:rPr lang="en-US" altLang="en-US"/>
              <a:t>: </a:t>
            </a:r>
            <a:r>
              <a:rPr lang="el-GR" altLang="en-US"/>
              <a:t>ρ</a:t>
            </a:r>
            <a:r>
              <a:rPr lang="en-US" altLang="en-US" i="1"/>
              <a:t> </a:t>
            </a:r>
            <a:r>
              <a:rPr lang="en-US" altLang="en-US"/>
              <a:t>≠ 0 	(correlation exists)</a:t>
            </a:r>
          </a:p>
          <a:p>
            <a:endParaRPr lang="en-US" altLang="en-US"/>
          </a:p>
          <a:p>
            <a:r>
              <a:rPr lang="en-US" altLang="en-US"/>
              <a:t>Test statistic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 					(with n – 2 degrees of freedom)</a:t>
            </a:r>
          </a:p>
        </p:txBody>
      </p:sp>
      <p:graphicFrame>
        <p:nvGraphicFramePr>
          <p:cNvPr id="88070" name="Object 6">
            <a:extLst>
              <a:ext uri="{FF2B5EF4-FFF2-40B4-BE49-F238E27FC236}">
                <a16:creationId xmlns:a16="http://schemas.microsoft.com/office/drawing/2014/main" id="{CFCCD672-E358-F5D2-6F86-05329A8936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038600"/>
          <a:ext cx="2133600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647640" progId="Equation.3">
                  <p:embed/>
                </p:oleObj>
              </mc:Choice>
              <mc:Fallback>
                <p:oleObj name="Equation" r:id="rId2" imgW="736560" imgH="647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038600"/>
                        <a:ext cx="2133600" cy="18764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1" name="Object 7">
            <a:extLst>
              <a:ext uri="{FF2B5EF4-FFF2-40B4-BE49-F238E27FC236}">
                <a16:creationId xmlns:a16="http://schemas.microsoft.com/office/drawing/2014/main" id="{FBE29C5D-972C-6D39-1D96-BED3893F1D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4724400"/>
          <a:ext cx="1960563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927000" progId="Equation.3">
                  <p:embed/>
                </p:oleObj>
              </mc:Choice>
              <mc:Fallback>
                <p:oleObj name="Equation" r:id="rId4" imgW="114300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724400"/>
                        <a:ext cx="1960563" cy="158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E0B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27E9502-2646-C941-06BE-7927446D26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626E6AE-6AF4-A06E-9A25-835A1492F9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B101E860-EEC7-41C1-89BE-0BDCC4D8EC17}" type="slidenum">
              <a:rPr lang="en-US" altLang="en-US"/>
              <a:pPr/>
              <a:t>45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54D96C3B-F209-FFE7-1A77-44A8E9744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457200"/>
            <a:ext cx="7239000" cy="1295400"/>
          </a:xfrm>
        </p:spPr>
        <p:txBody>
          <a:bodyPr/>
          <a:lstStyle/>
          <a:p>
            <a:r>
              <a:rPr lang="en-US" altLang="en-US" sz="3600"/>
              <a:t>t Test for a Correlation Coefficient</a:t>
            </a:r>
          </a:p>
        </p:txBody>
      </p:sp>
      <p:sp>
        <p:nvSpPr>
          <p:cNvPr id="89092" name="Text Box 4">
            <a:extLst>
              <a:ext uri="{FF2B5EF4-FFF2-40B4-BE49-F238E27FC236}">
                <a16:creationId xmlns:a16="http://schemas.microsoft.com/office/drawing/2014/main" id="{09E20411-4C3B-8AB1-BCA1-D91943F5E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905000"/>
            <a:ext cx="61722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DE0B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>
                <a:latin typeface="Times New Roman" panose="02020603050405020304" pitchFamily="18" charset="0"/>
              </a:rPr>
              <a:t>Is there evidence of a linear relationship between square feet and house price at the .05 level of significance?</a:t>
            </a:r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C5F24738-0654-1BE6-2111-4C33A5561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200400"/>
            <a:ext cx="3886200" cy="1447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  <a:defRPr sz="2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  <a:defRPr sz="21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SzPct val="65000"/>
              <a:buFont typeface="Wingdings" panose="05000000000000000000" pitchFamily="2" charset="2"/>
              <a:buNone/>
            </a:pPr>
            <a:r>
              <a:rPr lang="en-US" altLang="en-US" sz="2300"/>
              <a:t>H</a:t>
            </a:r>
            <a:r>
              <a:rPr lang="en-US" altLang="en-US" sz="2300" baseline="-25000"/>
              <a:t>0</a:t>
            </a:r>
            <a:r>
              <a:rPr lang="en-US" altLang="en-US" sz="2300"/>
              <a:t>: </a:t>
            </a:r>
            <a:r>
              <a:rPr lang="el-GR" altLang="en-US" sz="2300">
                <a:cs typeface="Arial" panose="020B0604020202020204" pitchFamily="34" charset="0"/>
              </a:rPr>
              <a:t>ρ</a:t>
            </a:r>
            <a:r>
              <a:rPr lang="en-US" altLang="en-US" sz="2300" baseline="-25000"/>
              <a:t> </a:t>
            </a:r>
            <a:r>
              <a:rPr lang="en-US" altLang="en-US" sz="2300"/>
              <a:t>= 0    (No correlation)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300"/>
              <a:t>H</a:t>
            </a:r>
            <a:r>
              <a:rPr lang="en-US" altLang="en-US" sz="2300" baseline="-25000"/>
              <a:t>1</a:t>
            </a:r>
            <a:r>
              <a:rPr lang="en-US" altLang="en-US" sz="2300"/>
              <a:t>: </a:t>
            </a:r>
            <a:r>
              <a:rPr lang="el-GR" altLang="en-US" sz="2300">
                <a:cs typeface="Arial" panose="020B0604020202020204" pitchFamily="34" charset="0"/>
              </a:rPr>
              <a:t>ρ</a:t>
            </a:r>
            <a:r>
              <a:rPr lang="en-US" altLang="en-US" sz="2300"/>
              <a:t> </a:t>
            </a:r>
            <a:r>
              <a:rPr lang="en-US" altLang="en-US" sz="2300">
                <a:cs typeface="Arial" panose="020B0604020202020204" pitchFamily="34" charset="0"/>
              </a:rPr>
              <a:t>≠</a:t>
            </a:r>
            <a:r>
              <a:rPr lang="en-US" altLang="en-US" sz="2300"/>
              <a:t> 0    (correlation exists)</a:t>
            </a:r>
            <a:endParaRPr lang="en-US" altLang="en-US" sz="2300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300" i="1">
                <a:sym typeface="Symbol" panose="05050102010706020507" pitchFamily="18" charset="2"/>
              </a:rPr>
              <a:t>   </a:t>
            </a:r>
            <a:r>
              <a:rPr lang="en-US" altLang="en-US" sz="2300">
                <a:sym typeface="Symbol" panose="05050102010706020507" pitchFamily="18" charset="2"/>
              </a:rPr>
              <a:t></a:t>
            </a:r>
            <a:r>
              <a:rPr lang="en-US" altLang="en-US" sz="2300" b="1"/>
              <a:t> </a:t>
            </a:r>
            <a:r>
              <a:rPr lang="en-US" altLang="en-US" sz="2300"/>
              <a:t>=.05 ,   df</a:t>
            </a:r>
            <a:r>
              <a:rPr lang="en-US" altLang="en-US" sz="2300" b="1"/>
              <a:t> </a:t>
            </a:r>
            <a:r>
              <a:rPr lang="en-US" altLang="en-US" sz="2300"/>
              <a:t>=</a:t>
            </a:r>
            <a:r>
              <a:rPr lang="en-US" altLang="en-US" sz="2300" b="1"/>
              <a:t> </a:t>
            </a:r>
            <a:r>
              <a:rPr lang="en-US" altLang="en-US" sz="2300"/>
              <a:t>10 - 2  = 8</a:t>
            </a:r>
          </a:p>
        </p:txBody>
      </p:sp>
      <p:graphicFrame>
        <p:nvGraphicFramePr>
          <p:cNvPr id="89094" name="Object 6">
            <a:extLst>
              <a:ext uri="{FF2B5EF4-FFF2-40B4-BE49-F238E27FC236}">
                <a16:creationId xmlns:a16="http://schemas.microsoft.com/office/drawing/2014/main" id="{C6D2CA4F-3B57-1966-38B9-1CBDBCB91C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6163" y="4800600"/>
          <a:ext cx="4865687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647640" progId="Equation.3">
                  <p:embed/>
                </p:oleObj>
              </mc:Choice>
              <mc:Fallback>
                <p:oleObj name="Equation" r:id="rId2" imgW="2044440" imgH="647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63" y="4800600"/>
                        <a:ext cx="4865687" cy="154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E0B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DE16725-8335-F998-1390-727AC1965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-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3000C14-DE88-160C-8AB7-34F20D5372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36273D50-764B-470A-BCC7-525EC5E39F71}" type="slidenum">
              <a:rPr lang="en-US" altLang="en-US"/>
              <a:pPr/>
              <a:t>46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08E06C86-5067-930E-0278-754F74BC8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457200"/>
            <a:ext cx="7239000" cy="1295400"/>
          </a:xfrm>
        </p:spPr>
        <p:txBody>
          <a:bodyPr/>
          <a:lstStyle/>
          <a:p>
            <a:r>
              <a:rPr lang="en-US" altLang="en-US" sz="3600"/>
              <a:t>t Test for a Correlation Coefficient</a:t>
            </a:r>
          </a:p>
        </p:txBody>
      </p:sp>
      <p:sp>
        <p:nvSpPr>
          <p:cNvPr id="83974" name="Text Box 6">
            <a:extLst>
              <a:ext uri="{FF2B5EF4-FFF2-40B4-BE49-F238E27FC236}">
                <a16:creationId xmlns:a16="http://schemas.microsoft.com/office/drawing/2014/main" id="{FA9A90A6-59F1-A755-AC04-D29CC97C2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267200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EB4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400"/>
              <a:t>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83975" name="Text Box 7">
            <a:extLst>
              <a:ext uri="{FF2B5EF4-FFF2-40B4-BE49-F238E27FC236}">
                <a16:creationId xmlns:a16="http://schemas.microsoft.com/office/drawing/2014/main" id="{38250ADB-D493-3095-9AF0-633655028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67200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EB4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400"/>
              <a:t>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83976" name="Freeform 8">
            <a:extLst>
              <a:ext uri="{FF2B5EF4-FFF2-40B4-BE49-F238E27FC236}">
                <a16:creationId xmlns:a16="http://schemas.microsoft.com/office/drawing/2014/main" id="{EC1DB8D9-792F-BFAE-FBDE-ADB8DBE1FFAB}"/>
              </a:ext>
            </a:extLst>
          </p:cNvPr>
          <p:cNvSpPr>
            <a:spLocks/>
          </p:cNvSpPr>
          <p:nvPr/>
        </p:nvSpPr>
        <p:spPr bwMode="auto">
          <a:xfrm flipH="1">
            <a:off x="4572000" y="3810000"/>
            <a:ext cx="842963" cy="228600"/>
          </a:xfrm>
          <a:custGeom>
            <a:avLst/>
            <a:gdLst>
              <a:gd name="T0" fmla="*/ 9 w 582"/>
              <a:gd name="T1" fmla="*/ 177 h 183"/>
              <a:gd name="T2" fmla="*/ 0 w 582"/>
              <a:gd name="T3" fmla="*/ 132 h 183"/>
              <a:gd name="T4" fmla="*/ 258 w 582"/>
              <a:gd name="T5" fmla="*/ 114 h 183"/>
              <a:gd name="T6" fmla="*/ 423 w 582"/>
              <a:gd name="T7" fmla="*/ 66 h 183"/>
              <a:gd name="T8" fmla="*/ 504 w 582"/>
              <a:gd name="T9" fmla="*/ 48 h 183"/>
              <a:gd name="T10" fmla="*/ 582 w 582"/>
              <a:gd name="T11" fmla="*/ 0 h 183"/>
              <a:gd name="T12" fmla="*/ 582 w 582"/>
              <a:gd name="T13" fmla="*/ 183 h 183"/>
              <a:gd name="T14" fmla="*/ 9 w 582"/>
              <a:gd name="T15" fmla="*/ 182 h 183"/>
              <a:gd name="T16" fmla="*/ 9 w 582"/>
              <a:gd name="T17" fmla="*/ 177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2" h="183">
                <a:moveTo>
                  <a:pt x="9" y="177"/>
                </a:moveTo>
                <a:lnTo>
                  <a:pt x="0" y="132"/>
                </a:lnTo>
                <a:lnTo>
                  <a:pt x="258" y="114"/>
                </a:lnTo>
                <a:lnTo>
                  <a:pt x="423" y="66"/>
                </a:lnTo>
                <a:lnTo>
                  <a:pt x="504" y="48"/>
                </a:lnTo>
                <a:lnTo>
                  <a:pt x="582" y="0"/>
                </a:lnTo>
                <a:lnTo>
                  <a:pt x="582" y="183"/>
                </a:lnTo>
                <a:lnTo>
                  <a:pt x="9" y="182"/>
                </a:lnTo>
                <a:lnTo>
                  <a:pt x="9" y="177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66FFFF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77" name="Freeform 9">
            <a:extLst>
              <a:ext uri="{FF2B5EF4-FFF2-40B4-BE49-F238E27FC236}">
                <a16:creationId xmlns:a16="http://schemas.microsoft.com/office/drawing/2014/main" id="{9A839AAB-B32C-0673-AED6-452FBD351D2C}"/>
              </a:ext>
            </a:extLst>
          </p:cNvPr>
          <p:cNvSpPr>
            <a:spLocks/>
          </p:cNvSpPr>
          <p:nvPr/>
        </p:nvSpPr>
        <p:spPr bwMode="auto">
          <a:xfrm>
            <a:off x="685800" y="3810000"/>
            <a:ext cx="833438" cy="228600"/>
          </a:xfrm>
          <a:custGeom>
            <a:avLst/>
            <a:gdLst>
              <a:gd name="T0" fmla="*/ 9 w 582"/>
              <a:gd name="T1" fmla="*/ 177 h 183"/>
              <a:gd name="T2" fmla="*/ 0 w 582"/>
              <a:gd name="T3" fmla="*/ 132 h 183"/>
              <a:gd name="T4" fmla="*/ 258 w 582"/>
              <a:gd name="T5" fmla="*/ 114 h 183"/>
              <a:gd name="T6" fmla="*/ 423 w 582"/>
              <a:gd name="T7" fmla="*/ 66 h 183"/>
              <a:gd name="T8" fmla="*/ 504 w 582"/>
              <a:gd name="T9" fmla="*/ 48 h 183"/>
              <a:gd name="T10" fmla="*/ 582 w 582"/>
              <a:gd name="T11" fmla="*/ 0 h 183"/>
              <a:gd name="T12" fmla="*/ 582 w 582"/>
              <a:gd name="T13" fmla="*/ 183 h 183"/>
              <a:gd name="T14" fmla="*/ 9 w 582"/>
              <a:gd name="T15" fmla="*/ 182 h 183"/>
              <a:gd name="T16" fmla="*/ 9 w 582"/>
              <a:gd name="T17" fmla="*/ 177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2" h="183">
                <a:moveTo>
                  <a:pt x="9" y="177"/>
                </a:moveTo>
                <a:lnTo>
                  <a:pt x="0" y="132"/>
                </a:lnTo>
                <a:lnTo>
                  <a:pt x="258" y="114"/>
                </a:lnTo>
                <a:lnTo>
                  <a:pt x="423" y="66"/>
                </a:lnTo>
                <a:lnTo>
                  <a:pt x="504" y="48"/>
                </a:lnTo>
                <a:lnTo>
                  <a:pt x="582" y="0"/>
                </a:lnTo>
                <a:lnTo>
                  <a:pt x="582" y="183"/>
                </a:lnTo>
                <a:lnTo>
                  <a:pt x="9" y="182"/>
                </a:lnTo>
                <a:lnTo>
                  <a:pt x="9" y="177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66FFFF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78" name="Freeform 10">
            <a:extLst>
              <a:ext uri="{FF2B5EF4-FFF2-40B4-BE49-F238E27FC236}">
                <a16:creationId xmlns:a16="http://schemas.microsoft.com/office/drawing/2014/main" id="{479A71DD-A9B5-14F4-FA53-F4AA98E68301}"/>
              </a:ext>
            </a:extLst>
          </p:cNvPr>
          <p:cNvSpPr>
            <a:spLocks/>
          </p:cNvSpPr>
          <p:nvPr/>
        </p:nvSpPr>
        <p:spPr bwMode="auto">
          <a:xfrm>
            <a:off x="762000" y="2667000"/>
            <a:ext cx="2362200" cy="1295400"/>
          </a:xfrm>
          <a:custGeom>
            <a:avLst/>
            <a:gdLst>
              <a:gd name="T0" fmla="*/ 0 w 600"/>
              <a:gd name="T1" fmla="*/ 575 h 576"/>
              <a:gd name="T2" fmla="*/ 63 w 600"/>
              <a:gd name="T3" fmla="*/ 570 h 576"/>
              <a:gd name="T4" fmla="*/ 95 w 600"/>
              <a:gd name="T5" fmla="*/ 562 h 576"/>
              <a:gd name="T6" fmla="*/ 127 w 600"/>
              <a:gd name="T7" fmla="*/ 553 h 576"/>
              <a:gd name="T8" fmla="*/ 158 w 600"/>
              <a:gd name="T9" fmla="*/ 540 h 576"/>
              <a:gd name="T10" fmla="*/ 190 w 600"/>
              <a:gd name="T11" fmla="*/ 521 h 576"/>
              <a:gd name="T12" fmla="*/ 222 w 600"/>
              <a:gd name="T13" fmla="*/ 498 h 576"/>
              <a:gd name="T14" fmla="*/ 284 w 600"/>
              <a:gd name="T15" fmla="*/ 432 h 576"/>
              <a:gd name="T16" fmla="*/ 347 w 600"/>
              <a:gd name="T17" fmla="*/ 338 h 576"/>
              <a:gd name="T18" fmla="*/ 410 w 600"/>
              <a:gd name="T19" fmla="*/ 224 h 576"/>
              <a:gd name="T20" fmla="*/ 441 w 600"/>
              <a:gd name="T21" fmla="*/ 167 h 576"/>
              <a:gd name="T22" fmla="*/ 473 w 600"/>
              <a:gd name="T23" fmla="*/ 114 h 576"/>
              <a:gd name="T24" fmla="*/ 505 w 600"/>
              <a:gd name="T25" fmla="*/ 67 h 576"/>
              <a:gd name="T26" fmla="*/ 535 w 600"/>
              <a:gd name="T27" fmla="*/ 31 h 576"/>
              <a:gd name="T28" fmla="*/ 567 w 600"/>
              <a:gd name="T29" fmla="*/ 8 h 576"/>
              <a:gd name="T30" fmla="*/ 599 w 600"/>
              <a:gd name="T31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00" h="576">
                <a:moveTo>
                  <a:pt x="0" y="575"/>
                </a:moveTo>
                <a:lnTo>
                  <a:pt x="63" y="570"/>
                </a:lnTo>
                <a:lnTo>
                  <a:pt x="95" y="562"/>
                </a:lnTo>
                <a:lnTo>
                  <a:pt x="127" y="553"/>
                </a:lnTo>
                <a:lnTo>
                  <a:pt x="158" y="540"/>
                </a:lnTo>
                <a:lnTo>
                  <a:pt x="190" y="521"/>
                </a:lnTo>
                <a:lnTo>
                  <a:pt x="222" y="498"/>
                </a:lnTo>
                <a:lnTo>
                  <a:pt x="284" y="432"/>
                </a:lnTo>
                <a:lnTo>
                  <a:pt x="347" y="338"/>
                </a:lnTo>
                <a:lnTo>
                  <a:pt x="410" y="224"/>
                </a:lnTo>
                <a:lnTo>
                  <a:pt x="441" y="167"/>
                </a:lnTo>
                <a:lnTo>
                  <a:pt x="473" y="114"/>
                </a:lnTo>
                <a:lnTo>
                  <a:pt x="505" y="67"/>
                </a:lnTo>
                <a:lnTo>
                  <a:pt x="535" y="31"/>
                </a:lnTo>
                <a:lnTo>
                  <a:pt x="567" y="8"/>
                </a:lnTo>
                <a:lnTo>
                  <a:pt x="599" y="0"/>
                </a:lnTo>
              </a:path>
            </a:pathLst>
          </a:custGeom>
          <a:noFill/>
          <a:ln w="508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79" name="Freeform 11">
            <a:extLst>
              <a:ext uri="{FF2B5EF4-FFF2-40B4-BE49-F238E27FC236}">
                <a16:creationId xmlns:a16="http://schemas.microsoft.com/office/drawing/2014/main" id="{26D5FCEC-0B92-2E78-D0F8-C37243555938}"/>
              </a:ext>
            </a:extLst>
          </p:cNvPr>
          <p:cNvSpPr>
            <a:spLocks/>
          </p:cNvSpPr>
          <p:nvPr/>
        </p:nvSpPr>
        <p:spPr bwMode="auto">
          <a:xfrm>
            <a:off x="3124200" y="2667000"/>
            <a:ext cx="2209800" cy="1295400"/>
          </a:xfrm>
          <a:custGeom>
            <a:avLst/>
            <a:gdLst>
              <a:gd name="T0" fmla="*/ 575 w 576"/>
              <a:gd name="T1" fmla="*/ 575 h 576"/>
              <a:gd name="T2" fmla="*/ 515 w 576"/>
              <a:gd name="T3" fmla="*/ 570 h 576"/>
              <a:gd name="T4" fmla="*/ 484 w 576"/>
              <a:gd name="T5" fmla="*/ 562 h 576"/>
              <a:gd name="T6" fmla="*/ 455 w 576"/>
              <a:gd name="T7" fmla="*/ 553 h 576"/>
              <a:gd name="T8" fmla="*/ 424 w 576"/>
              <a:gd name="T9" fmla="*/ 540 h 576"/>
              <a:gd name="T10" fmla="*/ 393 w 576"/>
              <a:gd name="T11" fmla="*/ 521 h 576"/>
              <a:gd name="T12" fmla="*/ 364 w 576"/>
              <a:gd name="T13" fmla="*/ 498 h 576"/>
              <a:gd name="T14" fmla="*/ 303 w 576"/>
              <a:gd name="T15" fmla="*/ 432 h 576"/>
              <a:gd name="T16" fmla="*/ 242 w 576"/>
              <a:gd name="T17" fmla="*/ 338 h 576"/>
              <a:gd name="T18" fmla="*/ 182 w 576"/>
              <a:gd name="T19" fmla="*/ 224 h 576"/>
              <a:gd name="T20" fmla="*/ 151 w 576"/>
              <a:gd name="T21" fmla="*/ 167 h 576"/>
              <a:gd name="T22" fmla="*/ 120 w 576"/>
              <a:gd name="T23" fmla="*/ 114 h 576"/>
              <a:gd name="T24" fmla="*/ 91 w 576"/>
              <a:gd name="T25" fmla="*/ 67 h 576"/>
              <a:gd name="T26" fmla="*/ 60 w 576"/>
              <a:gd name="T27" fmla="*/ 31 h 576"/>
              <a:gd name="T28" fmla="*/ 30 w 576"/>
              <a:gd name="T29" fmla="*/ 8 h 576"/>
              <a:gd name="T30" fmla="*/ 0 w 576"/>
              <a:gd name="T31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76" h="576">
                <a:moveTo>
                  <a:pt x="575" y="575"/>
                </a:moveTo>
                <a:lnTo>
                  <a:pt x="515" y="570"/>
                </a:lnTo>
                <a:lnTo>
                  <a:pt x="484" y="562"/>
                </a:lnTo>
                <a:lnTo>
                  <a:pt x="455" y="553"/>
                </a:lnTo>
                <a:lnTo>
                  <a:pt x="424" y="540"/>
                </a:lnTo>
                <a:lnTo>
                  <a:pt x="393" y="521"/>
                </a:lnTo>
                <a:lnTo>
                  <a:pt x="364" y="498"/>
                </a:lnTo>
                <a:lnTo>
                  <a:pt x="303" y="432"/>
                </a:lnTo>
                <a:lnTo>
                  <a:pt x="242" y="338"/>
                </a:lnTo>
                <a:lnTo>
                  <a:pt x="182" y="224"/>
                </a:lnTo>
                <a:lnTo>
                  <a:pt x="151" y="167"/>
                </a:lnTo>
                <a:lnTo>
                  <a:pt x="120" y="114"/>
                </a:lnTo>
                <a:lnTo>
                  <a:pt x="91" y="67"/>
                </a:lnTo>
                <a:lnTo>
                  <a:pt x="60" y="31"/>
                </a:lnTo>
                <a:lnTo>
                  <a:pt x="30" y="8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0" name="Line 12">
            <a:extLst>
              <a:ext uri="{FF2B5EF4-FFF2-40B4-BE49-F238E27FC236}">
                <a16:creationId xmlns:a16="http://schemas.microsoft.com/office/drawing/2014/main" id="{72F2B8DF-240D-DAF9-B2B0-88030785C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4038600"/>
            <a:ext cx="510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81" name="Line 13">
            <a:extLst>
              <a:ext uri="{FF2B5EF4-FFF2-40B4-BE49-F238E27FC236}">
                <a16:creationId xmlns:a16="http://schemas.microsoft.com/office/drawing/2014/main" id="{1BC7C086-30AE-2492-72F2-6F0AEC808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505200"/>
            <a:ext cx="2286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82" name="Rectangle 14">
            <a:extLst>
              <a:ext uri="{FF2B5EF4-FFF2-40B4-BE49-F238E27FC236}">
                <a16:creationId xmlns:a16="http://schemas.microsoft.com/office/drawing/2014/main" id="{48152611-C828-9BD4-B9EA-7DA84B8F7F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57200" y="3200400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latin typeface="Symbol" panose="05050102010706020507" pitchFamily="18" charset="2"/>
              </a:rPr>
              <a:t>a</a:t>
            </a:r>
            <a:r>
              <a:rPr lang="en-US" altLang="en-US" sz="1600"/>
              <a:t>/2=.025</a:t>
            </a:r>
          </a:p>
        </p:txBody>
      </p:sp>
      <p:sp>
        <p:nvSpPr>
          <p:cNvPr id="83983" name="Line 15">
            <a:extLst>
              <a:ext uri="{FF2B5EF4-FFF2-40B4-BE49-F238E27FC236}">
                <a16:creationId xmlns:a16="http://schemas.microsoft.com/office/drawing/2014/main" id="{A56BB15D-45A3-2CAC-699A-3D5F81AB2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667000"/>
            <a:ext cx="0" cy="1371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3984" name="Line 16">
            <a:extLst>
              <a:ext uri="{FF2B5EF4-FFF2-40B4-BE49-F238E27FC236}">
                <a16:creationId xmlns:a16="http://schemas.microsoft.com/office/drawing/2014/main" id="{92CF5FFE-67DB-E0F4-4605-262F529086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1148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85" name="Text Box 17">
            <a:extLst>
              <a:ext uri="{FF2B5EF4-FFF2-40B4-BE49-F238E27FC236}">
                <a16:creationId xmlns:a16="http://schemas.microsoft.com/office/drawing/2014/main" id="{84585B4E-2E90-5935-1F1E-E8C6B537C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3434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-t</a:t>
            </a:r>
            <a:r>
              <a:rPr lang="el-GR" altLang="en-US" sz="2000" baseline="-25000">
                <a:cs typeface="Arial" panose="020B0604020202020204" pitchFamily="34" charset="0"/>
              </a:rPr>
              <a:t>α</a:t>
            </a:r>
            <a:r>
              <a:rPr lang="en-US" altLang="en-US" sz="2000" baseline="-25000">
                <a:cs typeface="Arial" panose="020B0604020202020204" pitchFamily="34" charset="0"/>
              </a:rPr>
              <a:t>/2</a:t>
            </a:r>
            <a:endParaRPr lang="el-GR" altLang="en-US" sz="2000" baseline="-25000">
              <a:cs typeface="Arial" panose="020B0604020202020204" pitchFamily="34" charset="0"/>
            </a:endParaRPr>
          </a:p>
        </p:txBody>
      </p:sp>
      <p:sp>
        <p:nvSpPr>
          <p:cNvPr id="83986" name="Line 18">
            <a:extLst>
              <a:ext uri="{FF2B5EF4-FFF2-40B4-BE49-F238E27FC236}">
                <a16:creationId xmlns:a16="http://schemas.microsoft.com/office/drawing/2014/main" id="{1D034A15-9E05-1457-2C9D-57DBA1FB4E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267200"/>
            <a:ext cx="304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87" name="Text Box 19">
            <a:extLst>
              <a:ext uri="{FF2B5EF4-FFF2-40B4-BE49-F238E27FC236}">
                <a16:creationId xmlns:a16="http://schemas.microsoft.com/office/drawing/2014/main" id="{5A1A1EBE-0806-D5A1-9AB0-C4451A022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267200"/>
            <a:ext cx="152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400"/>
              <a:t>Do not 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83988" name="Line 20">
            <a:extLst>
              <a:ext uri="{FF2B5EF4-FFF2-40B4-BE49-F238E27FC236}">
                <a16:creationId xmlns:a16="http://schemas.microsoft.com/office/drawing/2014/main" id="{2F5A1F82-DE43-2BBB-9EEE-0B326CFB0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42672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89" name="Text Box 21">
            <a:extLst>
              <a:ext uri="{FF2B5EF4-FFF2-40B4-BE49-F238E27FC236}">
                <a16:creationId xmlns:a16="http://schemas.microsoft.com/office/drawing/2014/main" id="{C480E416-85DC-75F6-C786-8F8F41D36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/>
              <a:t>0</a:t>
            </a:r>
            <a:endParaRPr lang="el-GR" altLang="en-US" baseline="-25000">
              <a:cs typeface="Arial" panose="020B0604020202020204" pitchFamily="34" charset="0"/>
            </a:endParaRPr>
          </a:p>
        </p:txBody>
      </p:sp>
      <p:sp>
        <p:nvSpPr>
          <p:cNvPr id="83990" name="Text Box 22">
            <a:extLst>
              <a:ext uri="{FF2B5EF4-FFF2-40B4-BE49-F238E27FC236}">
                <a16:creationId xmlns:a16="http://schemas.microsoft.com/office/drawing/2014/main" id="{A304CC58-3F36-387B-35CE-118453E2D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t</a:t>
            </a:r>
            <a:r>
              <a:rPr lang="el-GR" altLang="en-US" sz="2000" baseline="-25000">
                <a:cs typeface="Arial" panose="020B0604020202020204" pitchFamily="34" charset="0"/>
              </a:rPr>
              <a:t>α</a:t>
            </a:r>
            <a:r>
              <a:rPr lang="en-US" altLang="en-US" sz="2000" baseline="-25000">
                <a:cs typeface="Arial" panose="020B0604020202020204" pitchFamily="34" charset="0"/>
              </a:rPr>
              <a:t>/2</a:t>
            </a:r>
            <a:endParaRPr lang="el-GR" altLang="en-US" sz="2000" baseline="-25000">
              <a:cs typeface="Arial" panose="020B0604020202020204" pitchFamily="34" charset="0"/>
            </a:endParaRPr>
          </a:p>
        </p:txBody>
      </p:sp>
      <p:sp>
        <p:nvSpPr>
          <p:cNvPr id="83991" name="Line 23">
            <a:extLst>
              <a:ext uri="{FF2B5EF4-FFF2-40B4-BE49-F238E27FC236}">
                <a16:creationId xmlns:a16="http://schemas.microsoft.com/office/drawing/2014/main" id="{E78829EE-6C28-2AED-D63C-41DC542E9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1148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92" name="Line 24">
            <a:extLst>
              <a:ext uri="{FF2B5EF4-FFF2-40B4-BE49-F238E27FC236}">
                <a16:creationId xmlns:a16="http://schemas.microsoft.com/office/drawing/2014/main" id="{A0319A40-0A2A-A4A7-FCE0-6B268533D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267200"/>
            <a:ext cx="1219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93" name="Line 25">
            <a:extLst>
              <a:ext uri="{FF2B5EF4-FFF2-40B4-BE49-F238E27FC236}">
                <a16:creationId xmlns:a16="http://schemas.microsoft.com/office/drawing/2014/main" id="{905917DF-A14D-9E6D-ACD6-F922DC822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505200"/>
            <a:ext cx="76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94" name="Rectangle 26">
            <a:extLst>
              <a:ext uri="{FF2B5EF4-FFF2-40B4-BE49-F238E27FC236}">
                <a16:creationId xmlns:a16="http://schemas.microsoft.com/office/drawing/2014/main" id="{F40913C1-4827-D68E-2EA6-D2BBA566452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91000" y="3200400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latin typeface="Symbol" panose="05050102010706020507" pitchFamily="18" charset="2"/>
              </a:rPr>
              <a:t>a</a:t>
            </a:r>
            <a:r>
              <a:rPr lang="en-US" altLang="en-US" sz="1600"/>
              <a:t>/2=.025</a:t>
            </a:r>
          </a:p>
        </p:txBody>
      </p:sp>
      <p:sp>
        <p:nvSpPr>
          <p:cNvPr id="83995" name="Rectangle 27">
            <a:extLst>
              <a:ext uri="{FF2B5EF4-FFF2-40B4-BE49-F238E27FC236}">
                <a16:creationId xmlns:a16="http://schemas.microsoft.com/office/drawing/2014/main" id="{FF6F6D49-3AFC-8948-B470-442A6EF3CB3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90600" y="4800600"/>
            <a:ext cx="12192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/>
              <a:t>-2.3060</a:t>
            </a:r>
          </a:p>
        </p:txBody>
      </p:sp>
      <p:sp>
        <p:nvSpPr>
          <p:cNvPr id="83996" name="Rectangle 28">
            <a:extLst>
              <a:ext uri="{FF2B5EF4-FFF2-40B4-BE49-F238E27FC236}">
                <a16:creationId xmlns:a16="http://schemas.microsoft.com/office/drawing/2014/main" id="{7F4B6DA5-D9B5-5644-1DC3-66AF8633430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62400" y="4724400"/>
            <a:ext cx="12192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/>
              <a:t>2.3060</a:t>
            </a:r>
          </a:p>
        </p:txBody>
      </p:sp>
      <p:sp>
        <p:nvSpPr>
          <p:cNvPr id="83997" name="Rectangle 29">
            <a:extLst>
              <a:ext uri="{FF2B5EF4-FFF2-40B4-BE49-F238E27FC236}">
                <a16:creationId xmlns:a16="http://schemas.microsoft.com/office/drawing/2014/main" id="{FDDF8833-E4ED-058C-6FBD-3BBBFCD32BF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81600" y="4876800"/>
            <a:ext cx="9906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solidFill>
                  <a:schemeClr val="hlink"/>
                </a:solidFill>
              </a:rPr>
              <a:t>3.329</a:t>
            </a:r>
          </a:p>
        </p:txBody>
      </p:sp>
      <p:sp>
        <p:nvSpPr>
          <p:cNvPr id="83998" name="Line 30">
            <a:extLst>
              <a:ext uri="{FF2B5EF4-FFF2-40B4-BE49-F238E27FC236}">
                <a16:creationId xmlns:a16="http://schemas.microsoft.com/office/drawing/2014/main" id="{3D9D9DBB-50DD-EC38-469E-1F922595D2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4267200"/>
            <a:ext cx="0" cy="685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99" name="Rectangle 31">
            <a:extLst>
              <a:ext uri="{FF2B5EF4-FFF2-40B4-BE49-F238E27FC236}">
                <a16:creationId xmlns:a16="http://schemas.microsoft.com/office/drawing/2014/main" id="{B363E99D-F828-29B6-0D50-3B8365C7ED8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1000" y="2590800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endParaRPr lang="en-US" altLang="en-US" sz="1600"/>
          </a:p>
        </p:txBody>
      </p:sp>
      <p:sp>
        <p:nvSpPr>
          <p:cNvPr id="84000" name="Rectangle 32">
            <a:extLst>
              <a:ext uri="{FF2B5EF4-FFF2-40B4-BE49-F238E27FC236}">
                <a16:creationId xmlns:a16="http://schemas.microsoft.com/office/drawing/2014/main" id="{76876D43-204A-102F-5E45-ADF830B5E73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04800" y="2514600"/>
            <a:ext cx="17526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D5D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/>
              <a:t>d.f. = 10- 2 = 8</a:t>
            </a:r>
          </a:p>
        </p:txBody>
      </p:sp>
      <p:sp>
        <p:nvSpPr>
          <p:cNvPr id="84001" name="Rectangle 33">
            <a:extLst>
              <a:ext uri="{FF2B5EF4-FFF2-40B4-BE49-F238E27FC236}">
                <a16:creationId xmlns:a16="http://schemas.microsoft.com/office/drawing/2014/main" id="{60C05924-A2AB-CF74-DC50-54D311CDF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276600"/>
            <a:ext cx="2590800" cy="22796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Conclusion:</a:t>
            </a:r>
            <a:br>
              <a:rPr lang="en-US" altLang="en-US" sz="2400">
                <a:latin typeface="Times New Roman" panose="02020603050405020304" pitchFamily="18" charset="0"/>
              </a:rPr>
            </a:br>
            <a:r>
              <a:rPr lang="en-US" altLang="en-US" sz="2400">
                <a:latin typeface="Times New Roman" panose="02020603050405020304" pitchFamily="18" charset="0"/>
              </a:rPr>
              <a:t>There is evidence of a linear association at the 5% level of significance</a:t>
            </a:r>
          </a:p>
        </p:txBody>
      </p:sp>
      <p:sp>
        <p:nvSpPr>
          <p:cNvPr id="84002" name="Rectangle 34">
            <a:extLst>
              <a:ext uri="{FF2B5EF4-FFF2-40B4-BE49-F238E27FC236}">
                <a16:creationId xmlns:a16="http://schemas.microsoft.com/office/drawing/2014/main" id="{4ACEB102-5C3B-02B6-1C31-8098FE00B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286000"/>
            <a:ext cx="1914525" cy="8191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Decision:</a:t>
            </a:r>
            <a:br>
              <a:rPr lang="en-US" altLang="en-US" sz="2400">
                <a:latin typeface="Times New Roman" panose="02020603050405020304" pitchFamily="18" charset="0"/>
              </a:rPr>
            </a:br>
            <a:r>
              <a:rPr lang="en-US" altLang="en-US" sz="2400">
                <a:latin typeface="Times New Roman" panose="02020603050405020304" pitchFamily="18" charset="0"/>
              </a:rPr>
              <a:t>Reject H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082CE6D-F245-B5C7-3B08-A9137711E4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165ECAA-9CCE-DA9A-7F5B-647260165F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66F04B5C-7E30-4CF1-9E4D-B88D6F1C91FB}" type="slidenum">
              <a:rPr lang="en-US" altLang="en-US"/>
              <a:pPr/>
              <a:t>47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20F695B7-37BC-4025-463E-36D4F6EB4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Multiple Regression Model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17760F9B-AA09-8EC9-C411-BE75796E0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86000"/>
            <a:ext cx="8077200" cy="8191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Idea: Examine the linear relationship between 1 dependent (Y) &amp; 2 or more independent variables (X</a:t>
            </a:r>
            <a:r>
              <a:rPr lang="en-US" altLang="en-US" sz="2400" baseline="-25000">
                <a:latin typeface="Times New Roman" panose="02020603050405020304" pitchFamily="18" charset="0"/>
              </a:rPr>
              <a:t>i</a:t>
            </a:r>
            <a:r>
              <a:rPr lang="en-US" altLang="en-US" sz="2400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26629" name="Line 5">
            <a:extLst>
              <a:ext uri="{FF2B5EF4-FFF2-40B4-BE49-F238E27FC236}">
                <a16:creationId xmlns:a16="http://schemas.microsoft.com/office/drawing/2014/main" id="{4696A2B9-A9F4-0376-E58E-924034C61F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913" y="4373563"/>
            <a:ext cx="76200" cy="457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0" name="Line 6">
            <a:extLst>
              <a:ext uri="{FF2B5EF4-FFF2-40B4-BE49-F238E27FC236}">
                <a16:creationId xmlns:a16="http://schemas.microsoft.com/office/drawing/2014/main" id="{FFB491EB-76E8-CA32-508D-FA4AA4EFB9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6713" y="4373563"/>
            <a:ext cx="1066800" cy="381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1" name="Line 7">
            <a:extLst>
              <a:ext uri="{FF2B5EF4-FFF2-40B4-BE49-F238E27FC236}">
                <a16:creationId xmlns:a16="http://schemas.microsoft.com/office/drawing/2014/main" id="{5AEC6E1A-F6B2-B9CB-1031-1D017DEE5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0713" y="4373563"/>
            <a:ext cx="0" cy="381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2" name="Line 8">
            <a:extLst>
              <a:ext uri="{FF2B5EF4-FFF2-40B4-BE49-F238E27FC236}">
                <a16:creationId xmlns:a16="http://schemas.microsoft.com/office/drawing/2014/main" id="{C4806B99-D8D0-45EF-3F8C-60AF1822FE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2713" y="4373563"/>
            <a:ext cx="1665287" cy="42703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3" name="Line 9">
            <a:extLst>
              <a:ext uri="{FF2B5EF4-FFF2-40B4-BE49-F238E27FC236}">
                <a16:creationId xmlns:a16="http://schemas.microsoft.com/office/drawing/2014/main" id="{0926C7AB-5FDC-2DEF-810B-4364937DA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9313" y="4373563"/>
            <a:ext cx="76200" cy="50323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6634" name="Object 10">
            <a:extLst>
              <a:ext uri="{FF2B5EF4-FFF2-40B4-BE49-F238E27FC236}">
                <a16:creationId xmlns:a16="http://schemas.microsoft.com/office/drawing/2014/main" id="{B7EF2686-2A30-4EE1-1C7C-C2935F7B54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825" y="4724400"/>
          <a:ext cx="82708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87520" imgH="228600" progId="Equation.3">
                  <p:embed/>
                </p:oleObj>
              </mc:Choice>
              <mc:Fallback>
                <p:oleObj name="Equation" r:id="rId2" imgW="2387520" imgH="228600" progId="Equation.3">
                  <p:embed/>
                  <p:pic>
                    <p:nvPicPr>
                      <p:cNvPr id="26634" name="Object 10">
                        <a:extLst>
                          <a:ext uri="{FF2B5EF4-FFF2-40B4-BE49-F238E27FC236}">
                            <a16:creationId xmlns:a16="http://schemas.microsoft.com/office/drawing/2014/main" id="{B7EF2686-2A30-4EE1-1C7C-C2935F7B54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25" y="4724400"/>
                        <a:ext cx="827087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5" name="Rectangle 11">
            <a:extLst>
              <a:ext uri="{FF2B5EF4-FFF2-40B4-BE49-F238E27FC236}">
                <a16:creationId xmlns:a16="http://schemas.microsoft.com/office/drawing/2014/main" id="{310A08EF-113A-E11F-EB01-5F845D5AE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429000"/>
            <a:ext cx="6096000" cy="393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Multiple Regression Model with k Independent Variables:</a:t>
            </a:r>
          </a:p>
        </p:txBody>
      </p:sp>
      <p:sp>
        <p:nvSpPr>
          <p:cNvPr id="26636" name="Rectangle 12">
            <a:extLst>
              <a:ext uri="{FF2B5EF4-FFF2-40B4-BE49-F238E27FC236}">
                <a16:creationId xmlns:a16="http://schemas.microsoft.com/office/drawing/2014/main" id="{C83459F0-E47F-3470-3BF4-27B4DE23B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513" y="4068763"/>
            <a:ext cx="1219200" cy="3460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latin typeface="Times New Roman" panose="02020603050405020304" pitchFamily="18" charset="0"/>
              </a:rPr>
              <a:t>Y-intercept</a:t>
            </a:r>
          </a:p>
        </p:txBody>
      </p:sp>
      <p:sp>
        <p:nvSpPr>
          <p:cNvPr id="26637" name="Rectangle 13">
            <a:extLst>
              <a:ext uri="{FF2B5EF4-FFF2-40B4-BE49-F238E27FC236}">
                <a16:creationId xmlns:a16="http://schemas.microsoft.com/office/drawing/2014/main" id="{A2405751-A285-3ABA-F590-D7A3DCC6E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038600"/>
            <a:ext cx="1817688" cy="3460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latin typeface="Times New Roman" panose="02020603050405020304" pitchFamily="18" charset="0"/>
              </a:rPr>
              <a:t>Population slopes</a:t>
            </a:r>
          </a:p>
        </p:txBody>
      </p:sp>
      <p:sp>
        <p:nvSpPr>
          <p:cNvPr id="26638" name="Rectangle 14">
            <a:extLst>
              <a:ext uri="{FF2B5EF4-FFF2-40B4-BE49-F238E27FC236}">
                <a16:creationId xmlns:a16="http://schemas.microsoft.com/office/drawing/2014/main" id="{1113329A-3D97-7775-C51A-786510686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038600"/>
            <a:ext cx="1535113" cy="3460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latin typeface="Times New Roman" panose="02020603050405020304" pitchFamily="18" charset="0"/>
              </a:rPr>
              <a:t>Random Error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DF8CAEE-C7D9-831B-458C-BC8213469D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C0DEB9E-21D3-A5E2-6FB7-6B30DE5856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9F66C68C-EB50-483A-B932-18D12424008F}" type="slidenum">
              <a:rPr lang="en-US" altLang="en-US"/>
              <a:pPr/>
              <a:t>48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93074E54-BCAE-81A8-232C-E91B35B89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Regression Equation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F6263874-2827-D951-AE48-104472E88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828800"/>
            <a:ext cx="6324600" cy="8191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The coefficients of the multiple regression model are estimated using sample data</a:t>
            </a:r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74050739-1A95-8CA8-720C-BE6775C0C9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065588"/>
            <a:ext cx="152400" cy="381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54" name="Line 6">
            <a:extLst>
              <a:ext uri="{FF2B5EF4-FFF2-40B4-BE49-F238E27FC236}">
                <a16:creationId xmlns:a16="http://schemas.microsoft.com/office/drawing/2014/main" id="{3C3CC0BE-83A1-D6E3-6A31-E440B4D9BF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836988"/>
            <a:ext cx="1600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55" name="Line 7">
            <a:extLst>
              <a:ext uri="{FF2B5EF4-FFF2-40B4-BE49-F238E27FC236}">
                <a16:creationId xmlns:a16="http://schemas.microsoft.com/office/drawing/2014/main" id="{C419A177-0B1D-59FB-CA56-BAC31CEEF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836988"/>
            <a:ext cx="1219200" cy="658812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56" name="Line 8">
            <a:extLst>
              <a:ext uri="{FF2B5EF4-FFF2-40B4-BE49-F238E27FC236}">
                <a16:creationId xmlns:a16="http://schemas.microsoft.com/office/drawing/2014/main" id="{CEC946E4-3C57-5470-DBD1-91DDF9C44F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3836988"/>
            <a:ext cx="304800" cy="658812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7657" name="Object 9">
            <a:extLst>
              <a:ext uri="{FF2B5EF4-FFF2-40B4-BE49-F238E27FC236}">
                <a16:creationId xmlns:a16="http://schemas.microsoft.com/office/drawing/2014/main" id="{52135999-D96C-5E08-23DF-229F25C7A9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988" y="4248150"/>
          <a:ext cx="792321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8920" imgH="253800" progId="Equation.3">
                  <p:embed/>
                </p:oleObj>
              </mc:Choice>
              <mc:Fallback>
                <p:oleObj name="Equation" r:id="rId2" imgW="2158920" imgH="253800" progId="Equation.3">
                  <p:embed/>
                  <p:pic>
                    <p:nvPicPr>
                      <p:cNvPr id="27657" name="Object 9">
                        <a:extLst>
                          <a:ext uri="{FF2B5EF4-FFF2-40B4-BE49-F238E27FC236}">
                            <a16:creationId xmlns:a16="http://schemas.microsoft.com/office/drawing/2014/main" id="{52135999-D96C-5E08-23DF-229F25C7A9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4248150"/>
                        <a:ext cx="792321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Line 10">
            <a:extLst>
              <a:ext uri="{FF2B5EF4-FFF2-40B4-BE49-F238E27FC236}">
                <a16:creationId xmlns:a16="http://schemas.microsoft.com/office/drawing/2014/main" id="{C2246D19-F8AC-F3E7-3510-D2FE9221DD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3913188"/>
            <a:ext cx="685800" cy="6096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5CADCD9A-2D71-BF7C-57C8-3EAC12ED5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379788"/>
            <a:ext cx="1447800" cy="7127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/>
              <a:t>Estimated 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US" altLang="en-US" sz="1600"/>
              <a:t>(or predicted) </a:t>
            </a:r>
          </a:p>
          <a:p>
            <a:pPr>
              <a:lnSpc>
                <a:spcPct val="30000"/>
              </a:lnSpc>
              <a:spcBef>
                <a:spcPct val="50000"/>
              </a:spcBef>
            </a:pPr>
            <a:r>
              <a:rPr lang="en-US" altLang="en-US" sz="1600"/>
              <a:t>value of Y</a:t>
            </a:r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331FE0D8-7A31-51B9-B40C-7B934C9E6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532188"/>
            <a:ext cx="2743200" cy="3460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/>
              <a:t>Estimated slope coefficients</a:t>
            </a:r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C50D567E-D780-F055-AC5D-462B5F18F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819400"/>
            <a:ext cx="6172200" cy="393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Multiple regression equation with k independent variables:</a:t>
            </a:r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B9D2200E-5DCB-FD25-F572-95A831D72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455988"/>
            <a:ext cx="1143000" cy="5175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/>
              <a:t>Estimated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US" altLang="en-US" sz="1600"/>
              <a:t>intercept</a:t>
            </a:r>
          </a:p>
        </p:txBody>
      </p:sp>
      <p:sp>
        <p:nvSpPr>
          <p:cNvPr id="27663" name="Rectangle 15">
            <a:extLst>
              <a:ext uri="{FF2B5EF4-FFF2-40B4-BE49-F238E27FC236}">
                <a16:creationId xmlns:a16="http://schemas.microsoft.com/office/drawing/2014/main" id="{E7C1FC33-A9B4-4275-EDDE-DD6A5BF48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410200"/>
            <a:ext cx="8077200" cy="8191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In this chapter we will always use Excel to obtain the regression slope coefficients and other regression summary measures.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2F6FF8E-5934-A4CF-4D83-B8D2A0F2BE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3B3F4C9-E8CC-D628-625A-FDB33A9E41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9202BBBF-2AEB-422F-BD8A-DC3A510CF8E0}" type="slidenum">
              <a:rPr lang="en-US" altLang="en-US"/>
              <a:pPr/>
              <a:t>49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765E767C-DED2-B486-5255-762B91B493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Regression Equation</a:t>
            </a:r>
          </a:p>
        </p:txBody>
      </p:sp>
      <p:sp>
        <p:nvSpPr>
          <p:cNvPr id="28676" name="Line 4">
            <a:extLst>
              <a:ext uri="{FF2B5EF4-FFF2-40B4-BE49-F238E27FC236}">
                <a16:creationId xmlns:a16="http://schemas.microsoft.com/office/drawing/2014/main" id="{6325F78C-79B6-EC20-5DE2-A0C7B193C7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5181600"/>
            <a:ext cx="1905000" cy="1066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8677" name="Line 5">
            <a:extLst>
              <a:ext uri="{FF2B5EF4-FFF2-40B4-BE49-F238E27FC236}">
                <a16:creationId xmlns:a16="http://schemas.microsoft.com/office/drawing/2014/main" id="{5030C9DC-35A4-9E8C-4FFE-C22A1BCC3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953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8678" name="Line 6">
            <a:extLst>
              <a:ext uri="{FF2B5EF4-FFF2-40B4-BE49-F238E27FC236}">
                <a16:creationId xmlns:a16="http://schemas.microsoft.com/office/drawing/2014/main" id="{47715F67-E692-820C-22A0-91A1A1F55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800600"/>
            <a:ext cx="2438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8679" name="Freeform 7">
            <a:extLst>
              <a:ext uri="{FF2B5EF4-FFF2-40B4-BE49-F238E27FC236}">
                <a16:creationId xmlns:a16="http://schemas.microsoft.com/office/drawing/2014/main" id="{24509C09-14D4-5491-117B-156A0BEA9286}"/>
              </a:ext>
            </a:extLst>
          </p:cNvPr>
          <p:cNvSpPr>
            <a:spLocks/>
          </p:cNvSpPr>
          <p:nvPr/>
        </p:nvSpPr>
        <p:spPr bwMode="auto">
          <a:xfrm>
            <a:off x="1314450" y="3143250"/>
            <a:ext cx="5562600" cy="2428875"/>
          </a:xfrm>
          <a:custGeom>
            <a:avLst/>
            <a:gdLst>
              <a:gd name="T0" fmla="*/ 0 w 3504"/>
              <a:gd name="T1" fmla="*/ 1530 h 1530"/>
              <a:gd name="T2" fmla="*/ 1140 w 3504"/>
              <a:gd name="T3" fmla="*/ 522 h 1530"/>
              <a:gd name="T4" fmla="*/ 3504 w 3504"/>
              <a:gd name="T5" fmla="*/ 0 h 1530"/>
              <a:gd name="T6" fmla="*/ 2346 w 3504"/>
              <a:gd name="T7" fmla="*/ 1128 h 1530"/>
              <a:gd name="T8" fmla="*/ 0 w 3504"/>
              <a:gd name="T9" fmla="*/ 1530 h 1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04" h="1530">
                <a:moveTo>
                  <a:pt x="0" y="1530"/>
                </a:moveTo>
                <a:lnTo>
                  <a:pt x="1140" y="522"/>
                </a:lnTo>
                <a:lnTo>
                  <a:pt x="3504" y="0"/>
                </a:lnTo>
                <a:lnTo>
                  <a:pt x="2346" y="1128"/>
                </a:lnTo>
                <a:lnTo>
                  <a:pt x="0" y="153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8680" name="Rectangle 8">
            <a:extLst>
              <a:ext uri="{FF2B5EF4-FFF2-40B4-BE49-F238E27FC236}">
                <a16:creationId xmlns:a16="http://schemas.microsoft.com/office/drawing/2014/main" id="{454D48F5-3CC4-B745-D169-6140BCA94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057400"/>
            <a:ext cx="2438400" cy="11842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Example with two independent variables</a:t>
            </a:r>
            <a:endParaRPr lang="en-US" altLang="en-US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681" name="Line 9">
            <a:extLst>
              <a:ext uri="{FF2B5EF4-FFF2-40B4-BE49-F238E27FC236}">
                <a16:creationId xmlns:a16="http://schemas.microsoft.com/office/drawing/2014/main" id="{008C864E-2532-C2EB-CDAA-1EE77E7E7A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3622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8682" name="Line 10">
            <a:extLst>
              <a:ext uri="{FF2B5EF4-FFF2-40B4-BE49-F238E27FC236}">
                <a16:creationId xmlns:a16="http://schemas.microsoft.com/office/drawing/2014/main" id="{AAF23457-27E0-FA4F-13FB-73ACC31C0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58674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8683" name="Line 11">
            <a:extLst>
              <a:ext uri="{FF2B5EF4-FFF2-40B4-BE49-F238E27FC236}">
                <a16:creationId xmlns:a16="http://schemas.microsoft.com/office/drawing/2014/main" id="{38DB29F7-14B8-EE14-E596-E32683DA1F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4800600"/>
            <a:ext cx="1828800" cy="1066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8684" name="Line 12">
            <a:extLst>
              <a:ext uri="{FF2B5EF4-FFF2-40B4-BE49-F238E27FC236}">
                <a16:creationId xmlns:a16="http://schemas.microsoft.com/office/drawing/2014/main" id="{B3CD7136-352E-2426-AAF0-EB87EBEF0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1242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8685" name="Line 13">
            <a:extLst>
              <a:ext uri="{FF2B5EF4-FFF2-40B4-BE49-F238E27FC236}">
                <a16:creationId xmlns:a16="http://schemas.microsoft.com/office/drawing/2014/main" id="{B1974975-8955-2A09-7DA2-9C2D46CB18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5562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8686" name="Text Box 14">
            <a:extLst>
              <a:ext uri="{FF2B5EF4-FFF2-40B4-BE49-F238E27FC236}">
                <a16:creationId xmlns:a16="http://schemas.microsoft.com/office/drawing/2014/main" id="{C3B68B1C-698D-6443-DFB0-CEE810688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981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/>
              <a:t>Y</a:t>
            </a:r>
          </a:p>
        </p:txBody>
      </p:sp>
      <p:sp>
        <p:nvSpPr>
          <p:cNvPr id="28687" name="Text Box 15">
            <a:extLst>
              <a:ext uri="{FF2B5EF4-FFF2-40B4-BE49-F238E27FC236}">
                <a16:creationId xmlns:a16="http://schemas.microsoft.com/office/drawing/2014/main" id="{6F4B0D61-6207-EC88-2D7F-571C416BD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19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/>
              <a:t>X</a:t>
            </a:r>
            <a:r>
              <a:rPr lang="en-US" altLang="en-US" sz="2400" baseline="-25000"/>
              <a:t>1</a:t>
            </a:r>
          </a:p>
        </p:txBody>
      </p:sp>
      <p:sp>
        <p:nvSpPr>
          <p:cNvPr id="28688" name="Text Box 16">
            <a:extLst>
              <a:ext uri="{FF2B5EF4-FFF2-40B4-BE49-F238E27FC236}">
                <a16:creationId xmlns:a16="http://schemas.microsoft.com/office/drawing/2014/main" id="{135EF80A-B8BC-F77D-08EC-800418533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648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/>
              <a:t>X</a:t>
            </a:r>
            <a:r>
              <a:rPr lang="en-US" altLang="en-US" sz="2400" baseline="-25000"/>
              <a:t>2</a:t>
            </a:r>
          </a:p>
        </p:txBody>
      </p:sp>
      <p:graphicFrame>
        <p:nvGraphicFramePr>
          <p:cNvPr id="28689" name="Object 17">
            <a:extLst>
              <a:ext uri="{FF2B5EF4-FFF2-40B4-BE49-F238E27FC236}">
                <a16:creationId xmlns:a16="http://schemas.microsoft.com/office/drawing/2014/main" id="{66D6A921-1AB2-04FD-36C1-703C9C8FD4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1663" y="2255838"/>
          <a:ext cx="3309937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253800" progId="Equation.3">
                  <p:embed/>
                </p:oleObj>
              </mc:Choice>
              <mc:Fallback>
                <p:oleObj name="Equation" r:id="rId2" imgW="1346040" imgH="253800" progId="Equation.3">
                  <p:embed/>
                  <p:pic>
                    <p:nvPicPr>
                      <p:cNvPr id="28689" name="Object 17">
                        <a:extLst>
                          <a:ext uri="{FF2B5EF4-FFF2-40B4-BE49-F238E27FC236}">
                            <a16:creationId xmlns:a16="http://schemas.microsoft.com/office/drawing/2014/main" id="{66D6A921-1AB2-04FD-36C1-703C9C8FD4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1663" y="2255838"/>
                        <a:ext cx="3309937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0" name="Freeform 18">
            <a:extLst>
              <a:ext uri="{FF2B5EF4-FFF2-40B4-BE49-F238E27FC236}">
                <a16:creationId xmlns:a16="http://schemas.microsoft.com/office/drawing/2014/main" id="{22B8AF57-3C6B-3DA2-4AB5-C7651F7D3DEE}"/>
              </a:ext>
            </a:extLst>
          </p:cNvPr>
          <p:cNvSpPr>
            <a:spLocks/>
          </p:cNvSpPr>
          <p:nvPr/>
        </p:nvSpPr>
        <p:spPr bwMode="auto">
          <a:xfrm>
            <a:off x="5638800" y="2667000"/>
            <a:ext cx="557213" cy="704850"/>
          </a:xfrm>
          <a:custGeom>
            <a:avLst/>
            <a:gdLst>
              <a:gd name="T0" fmla="*/ 116 w 351"/>
              <a:gd name="T1" fmla="*/ 0 h 444"/>
              <a:gd name="T2" fmla="*/ 39 w 351"/>
              <a:gd name="T3" fmla="*/ 270 h 444"/>
              <a:gd name="T4" fmla="*/ 351 w 351"/>
              <a:gd name="T5" fmla="*/ 444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1" h="444">
                <a:moveTo>
                  <a:pt x="116" y="0"/>
                </a:moveTo>
                <a:cubicBezTo>
                  <a:pt x="105" y="45"/>
                  <a:pt x="0" y="196"/>
                  <a:pt x="39" y="270"/>
                </a:cubicBezTo>
                <a:cubicBezTo>
                  <a:pt x="78" y="344"/>
                  <a:pt x="286" y="408"/>
                  <a:pt x="351" y="4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8691" name="Text Box 19">
            <a:extLst>
              <a:ext uri="{FF2B5EF4-FFF2-40B4-BE49-F238E27FC236}">
                <a16:creationId xmlns:a16="http://schemas.microsoft.com/office/drawing/2014/main" id="{F43B31E5-2E8A-B774-7B8A-74D9F560CFB0}"/>
              </a:ext>
            </a:extLst>
          </p:cNvPr>
          <p:cNvSpPr txBox="1">
            <a:spLocks noChangeArrowheads="1"/>
          </p:cNvSpPr>
          <p:nvPr/>
        </p:nvSpPr>
        <p:spPr bwMode="auto">
          <a:xfrm rot="-2468002">
            <a:off x="1143000" y="4191000"/>
            <a:ext cx="2514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/>
              <a:t>Slope for variable X</a:t>
            </a:r>
            <a:r>
              <a:rPr lang="en-US" altLang="en-US" sz="1600" baseline="-25000"/>
              <a:t>1</a:t>
            </a:r>
          </a:p>
        </p:txBody>
      </p:sp>
      <p:sp>
        <p:nvSpPr>
          <p:cNvPr id="28692" name="Text Box 20">
            <a:extLst>
              <a:ext uri="{FF2B5EF4-FFF2-40B4-BE49-F238E27FC236}">
                <a16:creationId xmlns:a16="http://schemas.microsoft.com/office/drawing/2014/main" id="{BFEE7759-EE03-87D9-0F7C-079399FECA1F}"/>
              </a:ext>
            </a:extLst>
          </p:cNvPr>
          <p:cNvSpPr txBox="1">
            <a:spLocks noChangeArrowheads="1"/>
          </p:cNvSpPr>
          <p:nvPr/>
        </p:nvSpPr>
        <p:spPr bwMode="auto">
          <a:xfrm rot="-621772">
            <a:off x="2057400" y="5181600"/>
            <a:ext cx="2514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/>
              <a:t>Slope for variable X</a:t>
            </a:r>
            <a:r>
              <a:rPr lang="en-US" altLang="en-US" sz="1600" baseline="-25000"/>
              <a:t>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F1E5591-F827-B3FE-7B9B-0EC17636D5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075ACEB-D93E-D3C8-2466-15AD1FAA64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D163EFCB-6EBC-43F8-AFF7-E358885E24CE}" type="slidenum">
              <a:rPr lang="en-US" altLang="en-US"/>
              <a:pPr/>
              <a:t>50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37B6248-B868-3620-020B-C599C2024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Regression Equation</a:t>
            </a:r>
            <a:br>
              <a:rPr lang="en-US" altLang="en-US"/>
            </a:br>
            <a:r>
              <a:rPr lang="en-US" altLang="en-US"/>
              <a:t>2 Variable Example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9F2B3C5E-1E84-84A3-DA40-C68BFC0AD0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981200"/>
            <a:ext cx="7696200" cy="3733800"/>
          </a:xfrm>
          <a:solidFill>
            <a:schemeClr val="accent1"/>
          </a:solidFill>
          <a:ln/>
        </p:spPr>
        <p:txBody>
          <a:bodyPr lIns="85342" tIns="42672" rIns="85342" bIns="42672"/>
          <a:lstStyle/>
          <a:p>
            <a:r>
              <a:rPr lang="en-US" altLang="en-US"/>
              <a:t>A distributor of frozen dessert pies wants to evaluate factors thought to influence demand</a:t>
            </a:r>
          </a:p>
          <a:p>
            <a:endParaRPr lang="en-US" altLang="en-US"/>
          </a:p>
          <a:p>
            <a:pPr lvl="1"/>
            <a:r>
              <a:rPr lang="en-US" altLang="en-US"/>
              <a:t>Dependent variable:       Pie sales (units per week)</a:t>
            </a:r>
          </a:p>
          <a:p>
            <a:pPr lvl="1"/>
            <a:r>
              <a:rPr lang="en-US" altLang="en-US"/>
              <a:t>Independent variables:   Price (in $)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					  Advertising ($100’s)</a:t>
            </a:r>
          </a:p>
          <a:p>
            <a:r>
              <a:rPr lang="en-US" altLang="en-US"/>
              <a:t>Data are collected for 15 weeks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B770574-1D34-7C78-E377-D1AE9154D5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51546BD-7646-AF7A-40C4-C7A0B07EE2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E919D55D-1CF0-4E69-8C47-F6BAC2776CDF}" type="slidenum">
              <a:rPr lang="en-US" altLang="en-US"/>
              <a:pPr/>
              <a:t>51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020FEE69-68E1-EA5F-30BE-7445F770C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Regression Equation</a:t>
            </a:r>
            <a:br>
              <a:rPr lang="en-US" altLang="en-US"/>
            </a:br>
            <a:r>
              <a:rPr lang="en-US" altLang="en-US"/>
              <a:t>2 Variable Example</a:t>
            </a:r>
          </a:p>
        </p:txBody>
      </p:sp>
      <p:sp>
        <p:nvSpPr>
          <p:cNvPr id="30801" name="Rectangle 81">
            <a:extLst>
              <a:ext uri="{FF2B5EF4-FFF2-40B4-BE49-F238E27FC236}">
                <a16:creationId xmlns:a16="http://schemas.microsoft.com/office/drawing/2014/main" id="{643964EB-31F1-DC53-A22B-4DE2EFA477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0" y="2971800"/>
            <a:ext cx="4343400" cy="2895600"/>
          </a:xfrm>
          <a:noFill/>
          <a:ln/>
        </p:spPr>
        <p:txBody>
          <a:bodyPr lIns="85342" tIns="42672" rIns="85342" bIns="42672"/>
          <a:lstStyle/>
          <a:p>
            <a:r>
              <a:rPr lang="en-US" altLang="en-US"/>
              <a:t>Sales = b</a:t>
            </a:r>
            <a:r>
              <a:rPr lang="en-US" altLang="en-US" baseline="-25000"/>
              <a:t>0</a:t>
            </a:r>
            <a:r>
              <a:rPr lang="en-US" altLang="en-US"/>
              <a:t> + b</a:t>
            </a:r>
            <a:r>
              <a:rPr lang="en-US" altLang="en-US" baseline="-25000"/>
              <a:t>1</a:t>
            </a:r>
            <a:r>
              <a:rPr lang="en-US" altLang="en-US"/>
              <a:t> (Price) + b</a:t>
            </a:r>
            <a:r>
              <a:rPr lang="en-US" altLang="en-US" baseline="-25000"/>
              <a:t>2</a:t>
            </a:r>
            <a:r>
              <a:rPr lang="en-US" altLang="en-US"/>
              <a:t> (Advertising)</a:t>
            </a:r>
          </a:p>
          <a:p>
            <a:r>
              <a:rPr lang="en-US" altLang="en-US"/>
              <a:t>Sales = b</a:t>
            </a:r>
            <a:r>
              <a:rPr lang="en-US" altLang="en-US" baseline="-25000"/>
              <a:t>0</a:t>
            </a:r>
            <a:r>
              <a:rPr lang="en-US" altLang="en-US"/>
              <a:t> +b</a:t>
            </a:r>
            <a:r>
              <a:rPr lang="en-US" altLang="en-US" baseline="-25000"/>
              <a:t>1</a:t>
            </a:r>
            <a:r>
              <a:rPr lang="en-US" altLang="en-US"/>
              <a:t>X</a:t>
            </a:r>
            <a:r>
              <a:rPr lang="en-US" altLang="en-US" baseline="-25000"/>
              <a:t>1</a:t>
            </a:r>
            <a:r>
              <a:rPr lang="en-US" altLang="en-US"/>
              <a:t> + b</a:t>
            </a:r>
            <a:r>
              <a:rPr lang="en-US" altLang="en-US" baseline="-25000"/>
              <a:t>2</a:t>
            </a:r>
            <a:r>
              <a:rPr lang="en-US" altLang="en-US"/>
              <a:t>X</a:t>
            </a:r>
            <a:r>
              <a:rPr lang="en-US" altLang="en-US" baseline="-25000"/>
              <a:t>2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baseline="-25000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Where X</a:t>
            </a:r>
            <a:r>
              <a:rPr lang="en-US" altLang="en-US" baseline="-25000"/>
              <a:t>1</a:t>
            </a:r>
            <a:r>
              <a:rPr lang="en-US" altLang="en-US"/>
              <a:t> = Price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 X</a:t>
            </a:r>
            <a:r>
              <a:rPr lang="en-US" altLang="en-US" baseline="-25000"/>
              <a:t>2</a:t>
            </a:r>
            <a:r>
              <a:rPr lang="en-US" altLang="en-US"/>
              <a:t> = Advertising</a:t>
            </a:r>
          </a:p>
        </p:txBody>
      </p:sp>
      <p:graphicFrame>
        <p:nvGraphicFramePr>
          <p:cNvPr id="30882" name="Group 162">
            <a:extLst>
              <a:ext uri="{FF2B5EF4-FFF2-40B4-BE49-F238E27FC236}">
                <a16:creationId xmlns:a16="http://schemas.microsoft.com/office/drawing/2014/main" id="{8106CA55-B280-6C2E-6F8E-DA44DABA4388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752600"/>
          <a:ext cx="3505200" cy="460406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444698213"/>
                    </a:ext>
                  </a:extLst>
                </a:gridCol>
                <a:gridCol w="839788">
                  <a:extLst>
                    <a:ext uri="{9D8B030D-6E8A-4147-A177-3AD203B41FA5}">
                      <a16:colId xmlns:a16="http://schemas.microsoft.com/office/drawing/2014/main" val="3610692995"/>
                    </a:ext>
                  </a:extLst>
                </a:gridCol>
                <a:gridCol w="760412">
                  <a:extLst>
                    <a:ext uri="{9D8B030D-6E8A-4147-A177-3AD203B41FA5}">
                      <a16:colId xmlns:a16="http://schemas.microsoft.com/office/drawing/2014/main" val="3950528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7100662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Week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DA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Pie Sales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DA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</a:p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($)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DA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Advertising</a:t>
                      </a:r>
                    </a:p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($100s)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711589"/>
                  </a:ext>
                </a:extLst>
              </a:tr>
              <a:tr h="306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350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5.50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3.3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672597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460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7.50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3.3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21535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350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8.00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95605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430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8.00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4.5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790929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350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6.80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533181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380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7.50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4.0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2823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430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4.50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926259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470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6.40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52637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450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7.00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3.5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52340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490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5.00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4.0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94311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340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7.20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3.5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51342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7.90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09202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440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5.90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4.0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769096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450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5.00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3.5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311011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7.00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2.7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603181"/>
                  </a:ext>
                </a:extLst>
              </a:tr>
            </a:tbl>
          </a:graphicData>
        </a:graphic>
      </p:graphicFrame>
      <p:sp>
        <p:nvSpPr>
          <p:cNvPr id="30877" name="Rectangle 157">
            <a:extLst>
              <a:ext uri="{FF2B5EF4-FFF2-40B4-BE49-F238E27FC236}">
                <a16:creationId xmlns:a16="http://schemas.microsoft.com/office/drawing/2014/main" id="{6335CD1A-6C30-F358-B4C2-1F95B2798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28600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Multiple regression equation: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41FFC85-D7AD-74B0-2631-973D7B75E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97C6AFC-37D0-D48B-BB6C-E401B582B5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B1EB75FF-D362-4B24-A8A7-83D68822C221}" type="slidenum">
              <a:rPr lang="en-US" altLang="en-US"/>
              <a:pPr/>
              <a:t>52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D61E3E0C-7F80-4B14-2C9A-AC216ECBB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Regression Equation</a:t>
            </a:r>
            <a:br>
              <a:rPr lang="en-US" altLang="en-US"/>
            </a:br>
            <a:r>
              <a:rPr lang="en-US" altLang="en-US"/>
              <a:t>2 Variable Example, Excel</a:t>
            </a:r>
          </a:p>
        </p:txBody>
      </p:sp>
      <p:graphicFrame>
        <p:nvGraphicFramePr>
          <p:cNvPr id="31875" name="Group 131">
            <a:extLst>
              <a:ext uri="{FF2B5EF4-FFF2-40B4-BE49-F238E27FC236}">
                <a16:creationId xmlns:a16="http://schemas.microsoft.com/office/drawing/2014/main" id="{4D99AF22-F87E-1FFA-FA18-1DB0216784F8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752600"/>
          <a:ext cx="8763000" cy="4648200"/>
        </p:xfrm>
        <a:graphic>
          <a:graphicData uri="http://schemas.openxmlformats.org/drawingml/2006/table">
            <a:tbl>
              <a:tblPr/>
              <a:tblGrid>
                <a:gridCol w="1706563">
                  <a:extLst>
                    <a:ext uri="{9D8B030D-6E8A-4147-A177-3AD203B41FA5}">
                      <a16:colId xmlns:a16="http://schemas.microsoft.com/office/drawing/2014/main" val="2895109149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138107894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758146195"/>
                    </a:ext>
                  </a:extLst>
                </a:gridCol>
                <a:gridCol w="1068387">
                  <a:extLst>
                    <a:ext uri="{9D8B030D-6E8A-4147-A177-3AD203B41FA5}">
                      <a16:colId xmlns:a16="http://schemas.microsoft.com/office/drawing/2014/main" val="35418933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4727172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390704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258993106"/>
                    </a:ext>
                  </a:extLst>
                </a:gridCol>
              </a:tblGrid>
              <a:tr h="2381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 Statistics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571446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Multiple 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0.72213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74371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 Square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0.52148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21427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Adjusted R Square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0.44172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53582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47.46341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050027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448347"/>
                  </a:ext>
                </a:extLst>
              </a:tr>
              <a:tr h="171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540586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ANOVA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1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Significance 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438306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29460.027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14730.013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6.53861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0.01201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694857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Residual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27033.306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2252.776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0967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Total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56493.333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51891"/>
                  </a:ext>
                </a:extLst>
              </a:tr>
              <a:tr h="1714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38523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42750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306.52619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114.25389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2.68285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0.01993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57.58835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555.46404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85636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-24.97509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10.83213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-2.30565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0.03979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-48.57626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-1.37392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860806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Advertising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74.13096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25.96732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2.85478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0.01449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17.55303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130.70888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729327"/>
                  </a:ext>
                </a:extLst>
              </a:tr>
            </a:tbl>
          </a:graphicData>
        </a:graphic>
      </p:graphicFrame>
      <p:graphicFrame>
        <p:nvGraphicFramePr>
          <p:cNvPr id="31871" name="Object 127">
            <a:extLst>
              <a:ext uri="{FF2B5EF4-FFF2-40B4-BE49-F238E27FC236}">
                <a16:creationId xmlns:a16="http://schemas.microsoft.com/office/drawing/2014/main" id="{6FDA26FF-E5F0-30F4-66E9-5DA4EC8BD2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7513" y="2957513"/>
          <a:ext cx="43068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320" imgH="215640" progId="Equation.3">
                  <p:embed/>
                </p:oleObj>
              </mc:Choice>
              <mc:Fallback>
                <p:oleObj name="Equation" r:id="rId2" imgW="2641320" imgH="215640" progId="Equation.3">
                  <p:embed/>
                  <p:pic>
                    <p:nvPicPr>
                      <p:cNvPr id="31871" name="Object 127">
                        <a:extLst>
                          <a:ext uri="{FF2B5EF4-FFF2-40B4-BE49-F238E27FC236}">
                            <a16:creationId xmlns:a16="http://schemas.microsoft.com/office/drawing/2014/main" id="{6FDA26FF-E5F0-30F4-66E9-5DA4EC8BD2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13" y="2957513"/>
                        <a:ext cx="4306887" cy="3619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72" name="Line 128">
            <a:extLst>
              <a:ext uri="{FF2B5EF4-FFF2-40B4-BE49-F238E27FC236}">
                <a16:creationId xmlns:a16="http://schemas.microsoft.com/office/drawing/2014/main" id="{0A5C58B2-1157-8D85-0E86-4D65FB07E8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800" y="3352800"/>
            <a:ext cx="1219200" cy="2286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DDAAC9C-087A-FECC-5E6A-F80AB713B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A0B7C4C-AE4E-F357-2970-FFAB546D14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4CDD7D57-5D82-46C7-B51B-29AC5A43EED8}" type="slidenum">
              <a:rPr lang="en-US" altLang="en-US"/>
              <a:pPr/>
              <a:t>53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58B0D02-A628-77CE-C0D8-7E23D6345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Regression Equation</a:t>
            </a:r>
            <a:br>
              <a:rPr lang="en-US" altLang="en-US"/>
            </a:br>
            <a:r>
              <a:rPr lang="en-US" altLang="en-US"/>
              <a:t>2 Variable Example</a:t>
            </a:r>
          </a:p>
        </p:txBody>
      </p:sp>
      <p:graphicFrame>
        <p:nvGraphicFramePr>
          <p:cNvPr id="32772" name="Object 4">
            <a:extLst>
              <a:ext uri="{FF2B5EF4-FFF2-40B4-BE49-F238E27FC236}">
                <a16:creationId xmlns:a16="http://schemas.microsoft.com/office/drawing/2014/main" id="{C54A89EA-1B85-A2FD-46AB-6569EFE743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968500"/>
          <a:ext cx="61769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320" imgH="215640" progId="Equation.3">
                  <p:embed/>
                </p:oleObj>
              </mc:Choice>
              <mc:Fallback>
                <p:oleObj name="Equation" r:id="rId2" imgW="2641320" imgH="215640" progId="Equation.3">
                  <p:embed/>
                  <p:pic>
                    <p:nvPicPr>
                      <p:cNvPr id="32772" name="Object 4">
                        <a:extLst>
                          <a:ext uri="{FF2B5EF4-FFF2-40B4-BE49-F238E27FC236}">
                            <a16:creationId xmlns:a16="http://schemas.microsoft.com/office/drawing/2014/main" id="{C54A89EA-1B85-A2FD-46AB-6569EFE743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968500"/>
                        <a:ext cx="6176963" cy="5032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5">
            <a:extLst>
              <a:ext uri="{FF2B5EF4-FFF2-40B4-BE49-F238E27FC236}">
                <a16:creationId xmlns:a16="http://schemas.microsoft.com/office/drawing/2014/main" id="{AB570A83-12D3-67B1-9517-86078534F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886200"/>
            <a:ext cx="2895600" cy="1930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b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 b="1">
                <a:latin typeface="Times New Roman" panose="02020603050405020304" pitchFamily="18" charset="0"/>
              </a:rPr>
              <a:t> = -24.975</a:t>
            </a:r>
            <a:r>
              <a:rPr lang="en-US" altLang="en-US" sz="2000">
                <a:latin typeface="Times New Roman" panose="02020603050405020304" pitchFamily="18" charset="0"/>
              </a:rPr>
              <a:t>: sales will decrease, on average, by 24.975 pies per week for each $1 increase in selling price, net of the effects of changes due to advertising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4F2BBF52-4E46-B40C-CC5A-72916CCA4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810000"/>
            <a:ext cx="2667000" cy="2235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b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 = 74.131</a:t>
            </a:r>
            <a:r>
              <a:rPr lang="en-US" altLang="en-US" sz="2000">
                <a:latin typeface="Times New Roman" panose="02020603050405020304" pitchFamily="18" charset="0"/>
              </a:rPr>
              <a:t>: sales will increase, on average, by 74.131 pies per week for each $100 increase in advertising, net of the effects of changes due to price</a:t>
            </a:r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EEE92C13-F999-4848-14D9-3EF01E975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90800"/>
            <a:ext cx="6858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where	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   Sales is in number of pies per week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   Price is in $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   Advertising is in $100’s.</a:t>
            </a:r>
          </a:p>
        </p:txBody>
      </p:sp>
      <p:sp>
        <p:nvSpPr>
          <p:cNvPr id="32776" name="Line 8">
            <a:extLst>
              <a:ext uri="{FF2B5EF4-FFF2-40B4-BE49-F238E27FC236}">
                <a16:creationId xmlns:a16="http://schemas.microsoft.com/office/drawing/2014/main" id="{575B8CDB-E9E8-0657-2392-A77FFF8D7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438400"/>
            <a:ext cx="0" cy="13716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7" name="Line 9">
            <a:extLst>
              <a:ext uri="{FF2B5EF4-FFF2-40B4-BE49-F238E27FC236}">
                <a16:creationId xmlns:a16="http://schemas.microsoft.com/office/drawing/2014/main" id="{A196629F-1722-B83C-1438-E32B05EB61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438400"/>
            <a:ext cx="0" cy="13716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480B0AC-3CBF-5523-2503-561F5F45D6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B0F5D0F-6F6E-3BCC-24D0-1A4FA6441C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C1CD0DBC-DBFE-4E74-9154-431EED00AC6B}" type="slidenum">
              <a:rPr lang="en-US" altLang="en-US"/>
              <a:pPr/>
              <a:t>54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582BF6E5-88CA-193F-4095-47AFA1CB4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Regression Equation</a:t>
            </a:r>
            <a:br>
              <a:rPr lang="en-US" altLang="en-US"/>
            </a:br>
            <a:r>
              <a:rPr lang="en-US" altLang="en-US"/>
              <a:t>2 Variable Example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3ED063BD-E312-60F2-95D3-1F624EA0B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81200"/>
            <a:ext cx="65532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DE0B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Predict sales for a week in which the selling price is $5.50 and advertising is $350:</a:t>
            </a: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ED25364C-5BA0-9B41-9AA5-FCF43350A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257800"/>
            <a:ext cx="2743200" cy="8318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Predicted sales is 428.62 pies</a:t>
            </a:r>
          </a:p>
        </p:txBody>
      </p:sp>
      <p:graphicFrame>
        <p:nvGraphicFramePr>
          <p:cNvPr id="33798" name="Object 6">
            <a:extLst>
              <a:ext uri="{FF2B5EF4-FFF2-40B4-BE49-F238E27FC236}">
                <a16:creationId xmlns:a16="http://schemas.microsoft.com/office/drawing/2014/main" id="{C3E93811-2989-9209-9CF4-F95C99CE1D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200400"/>
          <a:ext cx="5645150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960" imgH="672840" progId="Equation.3">
                  <p:embed/>
                </p:oleObj>
              </mc:Choice>
              <mc:Fallback>
                <p:oleObj name="Equation" r:id="rId2" imgW="2793960" imgH="672840" progId="Equation.3">
                  <p:embed/>
                  <p:pic>
                    <p:nvPicPr>
                      <p:cNvPr id="33798" name="Object 6">
                        <a:extLst>
                          <a:ext uri="{FF2B5EF4-FFF2-40B4-BE49-F238E27FC236}">
                            <a16:creationId xmlns:a16="http://schemas.microsoft.com/office/drawing/2014/main" id="{C3E93811-2989-9209-9CF4-F95C99CE1D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00400"/>
                        <a:ext cx="5645150" cy="1389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1FFF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Line 7">
            <a:extLst>
              <a:ext uri="{FF2B5EF4-FFF2-40B4-BE49-F238E27FC236}">
                <a16:creationId xmlns:a16="http://schemas.microsoft.com/office/drawing/2014/main" id="{1064D91D-2838-F830-F0FB-2E7CAD842A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1800" y="4572000"/>
            <a:ext cx="0" cy="685800"/>
          </a:xfrm>
          <a:prstGeom prst="line">
            <a:avLst/>
          </a:prstGeom>
          <a:noFill/>
          <a:ln w="28575">
            <a:solidFill>
              <a:schemeClr val="bg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3800" name="Rectangle 8">
            <a:extLst>
              <a:ext uri="{FF2B5EF4-FFF2-40B4-BE49-F238E27FC236}">
                <a16:creationId xmlns:a16="http://schemas.microsoft.com/office/drawing/2014/main" id="{5104BCBA-B8B9-139F-91B9-224D299A0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029200"/>
            <a:ext cx="3276600" cy="1016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Note that Advertising is in $100’s, so $350 means that X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 = 3.5</a:t>
            </a:r>
          </a:p>
        </p:txBody>
      </p:sp>
      <p:sp>
        <p:nvSpPr>
          <p:cNvPr id="33801" name="Line 9">
            <a:extLst>
              <a:ext uri="{FF2B5EF4-FFF2-40B4-BE49-F238E27FC236}">
                <a16:creationId xmlns:a16="http://schemas.microsoft.com/office/drawing/2014/main" id="{39783D05-CC10-2F67-CF97-C2884C4991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34200" y="4114800"/>
            <a:ext cx="0" cy="914400"/>
          </a:xfrm>
          <a:prstGeom prst="line">
            <a:avLst/>
          </a:prstGeom>
          <a:noFill/>
          <a:ln w="19050">
            <a:solidFill>
              <a:schemeClr val="bg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39C7AB8-1C3B-1767-3191-A57E1AAD7F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2FE4BA4-238B-E8D0-210E-C66B500D79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B9E86122-1E31-4D57-87E2-8373E7389864}" type="slidenum">
              <a:rPr lang="en-US" altLang="en-US"/>
              <a:pPr/>
              <a:t>55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DFABE8AA-F459-3327-CDE4-F8B030FC4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Coefficient of </a:t>
            </a:r>
            <a:br>
              <a:rPr lang="en-US" altLang="en-US"/>
            </a:br>
            <a:r>
              <a:rPr lang="en-US" altLang="en-US"/>
              <a:t>Multiple Determination</a:t>
            </a: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20CA4C8A-1942-CA91-B27E-824B7B075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209800"/>
            <a:ext cx="8077200" cy="1103313"/>
          </a:xfrm>
          <a:noFill/>
          <a:ln/>
        </p:spPr>
        <p:txBody>
          <a:bodyPr lIns="85342" tIns="42672" rIns="85342" bIns="42672"/>
          <a:lstStyle/>
          <a:p>
            <a:r>
              <a:rPr lang="en-US" altLang="en-US"/>
              <a:t>Reports the proportion of total variation in Y explained by all X variables taken together</a:t>
            </a:r>
          </a:p>
        </p:txBody>
      </p:sp>
      <p:graphicFrame>
        <p:nvGraphicFramePr>
          <p:cNvPr id="34821" name="Object 5">
            <a:extLst>
              <a:ext uri="{FF2B5EF4-FFF2-40B4-BE49-F238E27FC236}">
                <a16:creationId xmlns:a16="http://schemas.microsoft.com/office/drawing/2014/main" id="{1640AF4E-48F3-0506-38BA-609329270D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3694113"/>
          <a:ext cx="650557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87520" imgH="419040" progId="Equation.3">
                  <p:embed/>
                </p:oleObj>
              </mc:Choice>
              <mc:Fallback>
                <p:oleObj name="Equation" r:id="rId2" imgW="2387520" imgH="419040" progId="Equation.3">
                  <p:embed/>
                  <p:pic>
                    <p:nvPicPr>
                      <p:cNvPr id="34821" name="Object 5">
                        <a:extLst>
                          <a:ext uri="{FF2B5EF4-FFF2-40B4-BE49-F238E27FC236}">
                            <a16:creationId xmlns:a16="http://schemas.microsoft.com/office/drawing/2014/main" id="{1640AF4E-48F3-0506-38BA-609329270DDF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3694113"/>
                        <a:ext cx="6505575" cy="11398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1B04848-E2F9-8010-935B-6272D62D82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F8E8AC2-4E20-F3DF-6DAE-5AAEB735C5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E80EE1D7-A414-4481-BF3D-CABCCF30E40A}" type="slidenum">
              <a:rPr lang="en-US" altLang="en-US"/>
              <a:pPr/>
              <a:t>56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82ECA7CD-F90B-9DC7-F1A9-884DC1672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Coefficient of </a:t>
            </a:r>
            <a:br>
              <a:rPr lang="en-US" altLang="en-US"/>
            </a:br>
            <a:r>
              <a:rPr lang="en-US" altLang="en-US"/>
              <a:t>Multiple Determination (Excel)</a:t>
            </a:r>
          </a:p>
        </p:txBody>
      </p:sp>
      <p:graphicFrame>
        <p:nvGraphicFramePr>
          <p:cNvPr id="36998" name="Group 134">
            <a:extLst>
              <a:ext uri="{FF2B5EF4-FFF2-40B4-BE49-F238E27FC236}">
                <a16:creationId xmlns:a16="http://schemas.microsoft.com/office/drawing/2014/main" id="{B47C2970-14D7-CD41-C650-634266836A1A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828800"/>
          <a:ext cx="8763000" cy="4632960"/>
        </p:xfrm>
        <a:graphic>
          <a:graphicData uri="http://schemas.openxmlformats.org/drawingml/2006/table">
            <a:tbl>
              <a:tblPr/>
              <a:tblGrid>
                <a:gridCol w="1706563">
                  <a:extLst>
                    <a:ext uri="{9D8B030D-6E8A-4147-A177-3AD203B41FA5}">
                      <a16:colId xmlns:a16="http://schemas.microsoft.com/office/drawing/2014/main" val="4102018578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75859667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764601248"/>
                    </a:ext>
                  </a:extLst>
                </a:gridCol>
                <a:gridCol w="1068387">
                  <a:extLst>
                    <a:ext uri="{9D8B030D-6E8A-4147-A177-3AD203B41FA5}">
                      <a16:colId xmlns:a16="http://schemas.microsoft.com/office/drawing/2014/main" val="57849871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920188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65964597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945796992"/>
                    </a:ext>
                  </a:extLst>
                </a:gridCol>
              </a:tblGrid>
              <a:tr h="1619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 Statistics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64969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Multiple 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0.72213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77156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 Square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0.52148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35122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Adjusted R Square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0.44172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06968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47.46341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58058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255043"/>
                  </a:ext>
                </a:extLst>
              </a:tr>
              <a:tr h="171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765079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ANOVA</a:t>
                      </a:r>
                      <a:r>
                        <a:rPr kumimoji="0" lang="en-US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1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Significance 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64710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29460.027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14730.013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6.53861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0.01201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850949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Residual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27033.306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2252.776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04975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Total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56493.333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28764"/>
                  </a:ext>
                </a:extLst>
              </a:tr>
              <a:tr h="1714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27979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237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306.52619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114.25389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2.68285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0.01993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57.58835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555.46404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7040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-24.97509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10.83213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-2.30565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0.03979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-48.57626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-1.37392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93701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Advertising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74.13096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25.96732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2.85478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0.01449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17.55303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130.70888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370635"/>
                  </a:ext>
                </a:extLst>
              </a:tr>
            </a:tbl>
          </a:graphicData>
        </a:graphic>
      </p:graphicFrame>
      <p:graphicFrame>
        <p:nvGraphicFramePr>
          <p:cNvPr id="36992" name="Object 128">
            <a:extLst>
              <a:ext uri="{FF2B5EF4-FFF2-40B4-BE49-F238E27FC236}">
                <a16:creationId xmlns:a16="http://schemas.microsoft.com/office/drawing/2014/main" id="{288650E5-FB1F-66FC-8511-B345814DC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7000" y="1981200"/>
          <a:ext cx="35512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000" imgH="393480" progId="Equation.3">
                  <p:embed/>
                </p:oleObj>
              </mc:Choice>
              <mc:Fallback>
                <p:oleObj name="Equation" r:id="rId2" imgW="1854000" imgH="393480" progId="Equation.3">
                  <p:embed/>
                  <p:pic>
                    <p:nvPicPr>
                      <p:cNvPr id="36992" name="Object 128">
                        <a:extLst>
                          <a:ext uri="{FF2B5EF4-FFF2-40B4-BE49-F238E27FC236}">
                            <a16:creationId xmlns:a16="http://schemas.microsoft.com/office/drawing/2014/main" id="{288650E5-FB1F-66FC-8511-B345814DC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0" y="1981200"/>
                        <a:ext cx="3551238" cy="7524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93" name="Line 129">
            <a:extLst>
              <a:ext uri="{FF2B5EF4-FFF2-40B4-BE49-F238E27FC236}">
                <a16:creationId xmlns:a16="http://schemas.microsoft.com/office/drawing/2014/main" id="{76F8ACC3-228E-9C35-6DC0-BE06C6A02A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3622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6994" name="Text Box 130">
            <a:extLst>
              <a:ext uri="{FF2B5EF4-FFF2-40B4-BE49-F238E27FC236}">
                <a16:creationId xmlns:a16="http://schemas.microsoft.com/office/drawing/2014/main" id="{E3EA5D3F-620A-0069-782A-EBAA01314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743200"/>
            <a:ext cx="4114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52.1% of the variation in pie sales is explained by the variation in price and advertising</a:t>
            </a:r>
          </a:p>
        </p:txBody>
      </p:sp>
      <p:sp>
        <p:nvSpPr>
          <p:cNvPr id="36995" name="Line 131">
            <a:extLst>
              <a:ext uri="{FF2B5EF4-FFF2-40B4-BE49-F238E27FC236}">
                <a16:creationId xmlns:a16="http://schemas.microsoft.com/office/drawing/2014/main" id="{D35FD257-2041-36DB-D836-2B53A68A1A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2743200"/>
            <a:ext cx="38100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5DBBA97-045C-903E-9A7A-4275339BAF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0AE3398-9CC4-2474-B840-22C3A3583D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8B5E354E-853C-4FFA-AD45-0C9FDA3BFC74}" type="slidenum">
              <a:rPr lang="en-US" altLang="en-US"/>
              <a:pPr/>
              <a:t>57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B6153334-E8B1-CA7F-9763-07D4C5A95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Adjusted r</a:t>
            </a:r>
            <a:r>
              <a:rPr lang="en-US" altLang="en-US" baseline="30000"/>
              <a:t>2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D01F7D81-7B8C-2BBB-C3F2-3E20180FD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chemeClr val="accent1"/>
          </a:solidFill>
          <a:ln/>
        </p:spPr>
        <p:txBody>
          <a:bodyPr/>
          <a:lstStyle/>
          <a:p>
            <a:r>
              <a:rPr lang="en-US" altLang="en-US" sz="2400"/>
              <a:t>r</a:t>
            </a:r>
            <a:r>
              <a:rPr lang="en-US" altLang="en-US" sz="2400" baseline="30000"/>
              <a:t>2</a:t>
            </a:r>
            <a:r>
              <a:rPr lang="en-US" altLang="en-US" sz="2400"/>
              <a:t>  never decreases when a new X variable is added to the model</a:t>
            </a:r>
          </a:p>
          <a:p>
            <a:pPr lvl="1"/>
            <a:r>
              <a:rPr lang="en-US" altLang="en-US" sz="2400"/>
              <a:t>This can be a disadvantage when comparing models</a:t>
            </a:r>
          </a:p>
          <a:p>
            <a:r>
              <a:rPr lang="en-US" altLang="en-US" sz="2400"/>
              <a:t>What is the net effect of adding a new variable?</a:t>
            </a:r>
          </a:p>
          <a:p>
            <a:pPr lvl="1"/>
            <a:r>
              <a:rPr lang="en-US" altLang="en-US" sz="2400"/>
              <a:t>We lose a degree of freedom when a new X variable is added</a:t>
            </a:r>
          </a:p>
          <a:p>
            <a:pPr lvl="1"/>
            <a:r>
              <a:rPr lang="en-US" altLang="en-US" sz="2400"/>
              <a:t>Did the new X variable add enough independent power to offset the loss of one degree of freedom?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16A9EB4-D5E7-71B2-A76A-080460A979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F1CC672-DA35-DBE6-0B6A-9D3D5F4113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B865A043-2989-409F-9FE6-72788697172A}" type="slidenum">
              <a:rPr lang="en-US" altLang="en-US"/>
              <a:pPr/>
              <a:t>58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66BA5399-0588-A005-DC10-B424D63EBF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Adjusted r</a:t>
            </a:r>
            <a:r>
              <a:rPr lang="en-US" altLang="en-US" baseline="30000"/>
              <a:t>2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D1C11770-C8D1-43B8-3F7F-F354DE6FF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229600" cy="4724400"/>
          </a:xfrm>
          <a:noFill/>
          <a:ln/>
        </p:spPr>
        <p:txBody>
          <a:bodyPr lIns="85342" tIns="42672" rIns="85342" bIns="42672"/>
          <a:lstStyle/>
          <a:p>
            <a:r>
              <a:rPr lang="en-US" altLang="en-US" sz="2400"/>
              <a:t>Shows the proportion of variation in Y explained by all X variables adjusted for the number of X</a:t>
            </a:r>
            <a:r>
              <a:rPr lang="en-US" altLang="en-US" sz="2400" i="1"/>
              <a:t> </a:t>
            </a:r>
            <a:r>
              <a:rPr lang="en-US" altLang="en-US" sz="2400"/>
              <a:t>variables used</a:t>
            </a:r>
          </a:p>
          <a:p>
            <a:pPr lvl="1"/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400"/>
              <a:t> </a:t>
            </a:r>
            <a:r>
              <a:rPr lang="en-US" altLang="en-US" sz="2000"/>
              <a:t>(where n = sample size, k = number of independent variables)</a:t>
            </a:r>
          </a:p>
          <a:p>
            <a:pPr lvl="1"/>
            <a:r>
              <a:rPr lang="en-US" altLang="en-US" sz="2400"/>
              <a:t>Penalizes excessive use of unimportant independent variables</a:t>
            </a:r>
          </a:p>
          <a:p>
            <a:pPr lvl="1"/>
            <a:r>
              <a:rPr lang="en-US" altLang="en-US" sz="2400"/>
              <a:t>Smaller than r</a:t>
            </a:r>
            <a:r>
              <a:rPr lang="en-US" altLang="en-US" sz="2400" baseline="30000"/>
              <a:t>2</a:t>
            </a:r>
          </a:p>
          <a:p>
            <a:pPr lvl="1"/>
            <a:r>
              <a:rPr lang="en-US" altLang="en-US" sz="2400"/>
              <a:t>Useful in comparing models</a:t>
            </a:r>
          </a:p>
        </p:txBody>
      </p:sp>
      <p:graphicFrame>
        <p:nvGraphicFramePr>
          <p:cNvPr id="38917" name="Object 5">
            <a:extLst>
              <a:ext uri="{FF2B5EF4-FFF2-40B4-BE49-F238E27FC236}">
                <a16:creationId xmlns:a16="http://schemas.microsoft.com/office/drawing/2014/main" id="{55437404-1BB5-BE7B-976F-7968AAA8B6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7238" y="2667000"/>
          <a:ext cx="5254625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760" imgH="457200" progId="Equation.3">
                  <p:embed/>
                </p:oleObj>
              </mc:Choice>
              <mc:Fallback>
                <p:oleObj name="Equation" r:id="rId2" imgW="1904760" imgH="457200" progId="Equation.3">
                  <p:embed/>
                  <p:pic>
                    <p:nvPicPr>
                      <p:cNvPr id="38917" name="Object 5">
                        <a:extLst>
                          <a:ext uri="{FF2B5EF4-FFF2-40B4-BE49-F238E27FC236}">
                            <a16:creationId xmlns:a16="http://schemas.microsoft.com/office/drawing/2014/main" id="{55437404-1BB5-BE7B-976F-7968AAA8B6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2667000"/>
                        <a:ext cx="5254625" cy="12557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D8873FD-8F1C-EDAB-494E-86B355D832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7F35864-F3A2-22EB-DF65-484D6970B1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2E18E139-67C7-4198-8D5B-DF374D363B27}" type="slidenum">
              <a:rPr lang="en-US" altLang="en-US"/>
              <a:pPr/>
              <a:t>59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A33777B6-56D4-E955-5565-9FFB280EE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Adjusted r</a:t>
            </a:r>
            <a:r>
              <a:rPr lang="en-US" altLang="en-US" baseline="30000"/>
              <a:t>2</a:t>
            </a:r>
          </a:p>
        </p:txBody>
      </p:sp>
      <p:graphicFrame>
        <p:nvGraphicFramePr>
          <p:cNvPr id="40067" name="Group 131">
            <a:extLst>
              <a:ext uri="{FF2B5EF4-FFF2-40B4-BE49-F238E27FC236}">
                <a16:creationId xmlns:a16="http://schemas.microsoft.com/office/drawing/2014/main" id="{7A0A1B48-6A80-3D46-59A2-8A3768051A44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828800"/>
          <a:ext cx="8763000" cy="4632960"/>
        </p:xfrm>
        <a:graphic>
          <a:graphicData uri="http://schemas.openxmlformats.org/drawingml/2006/table">
            <a:tbl>
              <a:tblPr/>
              <a:tblGrid>
                <a:gridCol w="1706563">
                  <a:extLst>
                    <a:ext uri="{9D8B030D-6E8A-4147-A177-3AD203B41FA5}">
                      <a16:colId xmlns:a16="http://schemas.microsoft.com/office/drawing/2014/main" val="977503078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365466982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810573230"/>
                    </a:ext>
                  </a:extLst>
                </a:gridCol>
                <a:gridCol w="1068387">
                  <a:extLst>
                    <a:ext uri="{9D8B030D-6E8A-4147-A177-3AD203B41FA5}">
                      <a16:colId xmlns:a16="http://schemas.microsoft.com/office/drawing/2014/main" val="1858362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7456899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3790011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042112876"/>
                    </a:ext>
                  </a:extLst>
                </a:gridCol>
              </a:tblGrid>
              <a:tr h="1619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 Statistics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72048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Multiple 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0.72213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32583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 Square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0.52148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44532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Adjusted R Square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0.44172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234441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47.46341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50611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725627"/>
                  </a:ext>
                </a:extLst>
              </a:tr>
              <a:tr h="171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62500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ANOVA</a:t>
                      </a:r>
                      <a:r>
                        <a:rPr kumimoji="0" lang="en-US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1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Significance 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70304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29460.027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14730.013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6.53861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0.01201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62098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Residual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27033.306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2252.776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9980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Total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56493.333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580780"/>
                  </a:ext>
                </a:extLst>
              </a:tr>
              <a:tr h="1714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038517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46631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306.52619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114.25389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2.68285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0.01993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57.58835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555.46404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460437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-24.97509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10.83213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-2.30565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0.03979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-48.57626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-1.37392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056569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Advertising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74.13096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25.96732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2.85478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0.01449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17.55303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130.70888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196101"/>
                  </a:ext>
                </a:extLst>
              </a:tr>
            </a:tbl>
          </a:graphicData>
        </a:graphic>
      </p:graphicFrame>
      <p:graphicFrame>
        <p:nvGraphicFramePr>
          <p:cNvPr id="40064" name="Object 128">
            <a:extLst>
              <a:ext uri="{FF2B5EF4-FFF2-40B4-BE49-F238E27FC236}">
                <a16:creationId xmlns:a16="http://schemas.microsoft.com/office/drawing/2014/main" id="{58662D97-E1E0-5A19-68F7-EE2671361C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1075" y="1874838"/>
          <a:ext cx="2090738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253800" progId="Equation.3">
                  <p:embed/>
                </p:oleObj>
              </mc:Choice>
              <mc:Fallback>
                <p:oleObj name="Equation" r:id="rId2" imgW="838080" imgH="253800" progId="Equation.3">
                  <p:embed/>
                  <p:pic>
                    <p:nvPicPr>
                      <p:cNvPr id="40064" name="Object 128">
                        <a:extLst>
                          <a:ext uri="{FF2B5EF4-FFF2-40B4-BE49-F238E27FC236}">
                            <a16:creationId xmlns:a16="http://schemas.microsoft.com/office/drawing/2014/main" id="{58662D97-E1E0-5A19-68F7-EE2671361C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075" y="1874838"/>
                        <a:ext cx="2090738" cy="6302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65" name="Line 129">
            <a:extLst>
              <a:ext uri="{FF2B5EF4-FFF2-40B4-BE49-F238E27FC236}">
                <a16:creationId xmlns:a16="http://schemas.microsoft.com/office/drawing/2014/main" id="{1F5A508A-09CF-43C5-3E65-BBF31E461E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23622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0066" name="Text Box 130">
            <a:extLst>
              <a:ext uri="{FF2B5EF4-FFF2-40B4-BE49-F238E27FC236}">
                <a16:creationId xmlns:a16="http://schemas.microsoft.com/office/drawing/2014/main" id="{4BC3E495-2346-DF70-8967-A1DB14BD1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514600"/>
            <a:ext cx="5486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44.2% of the variation in pie sales is explained by the variation in price and advertising, taking into account the sample size and number of independent variables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1ECA2E0-93D1-8630-6BA5-8438F9A391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AFFCBE7-D6DA-779C-C2DD-013D1CEFCE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7D11088D-49F2-41D9-A990-9A9612DEC1D2}" type="slidenum">
              <a:rPr lang="en-US" altLang="en-US"/>
              <a:pPr/>
              <a:t>60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A5610BFB-7E28-FAA8-32C8-07C066BA9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F-Test for Overall Significance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60503244-FDD7-1B35-EA0C-7221A5F131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981200"/>
            <a:ext cx="7772400" cy="3810000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altLang="en-US"/>
              <a:t>F-Test for Overall Significance of the Model</a:t>
            </a:r>
          </a:p>
          <a:p>
            <a:pPr lvl="1"/>
            <a:r>
              <a:rPr lang="en-US" altLang="en-US"/>
              <a:t>Shows if there is a linear relationship between all of the  X  variables considered together and  Y</a:t>
            </a:r>
            <a:endParaRPr lang="en-US" altLang="en-US" i="1"/>
          </a:p>
          <a:p>
            <a:r>
              <a:rPr lang="en-US" altLang="en-US"/>
              <a:t>Use F test statistic</a:t>
            </a:r>
          </a:p>
          <a:p>
            <a:pPr lvl="1"/>
            <a:r>
              <a:rPr lang="en-US" altLang="en-US"/>
              <a:t>Hypotheses: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/>
              <a:t>H</a:t>
            </a:r>
            <a:r>
              <a:rPr lang="en-US" altLang="en-US" baseline="-25000"/>
              <a:t>0</a:t>
            </a:r>
            <a:r>
              <a:rPr lang="en-US" altLang="en-US"/>
              <a:t>: </a:t>
            </a:r>
            <a:r>
              <a:rPr lang="el-GR" altLang="en-US"/>
              <a:t>β</a:t>
            </a:r>
            <a:r>
              <a:rPr lang="en-US" altLang="en-US" baseline="-25000"/>
              <a:t>1</a:t>
            </a:r>
            <a:r>
              <a:rPr lang="en-US" altLang="en-US"/>
              <a:t> = </a:t>
            </a:r>
            <a:r>
              <a:rPr lang="el-GR" altLang="en-US"/>
              <a:t>β</a:t>
            </a:r>
            <a:r>
              <a:rPr lang="en-US" altLang="en-US" baseline="-25000"/>
              <a:t>2</a:t>
            </a:r>
            <a:r>
              <a:rPr lang="en-US" altLang="en-US"/>
              <a:t> = … = </a:t>
            </a:r>
            <a:r>
              <a:rPr lang="el-GR" altLang="en-US"/>
              <a:t>β</a:t>
            </a:r>
            <a:r>
              <a:rPr lang="en-US" altLang="en-US" baseline="-25000"/>
              <a:t>k</a:t>
            </a:r>
            <a:r>
              <a:rPr lang="en-US" altLang="en-US"/>
              <a:t> = 0  (no linear relationship)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/>
              <a:t>H</a:t>
            </a:r>
            <a:r>
              <a:rPr lang="en-US" altLang="en-US" baseline="-25000"/>
              <a:t>1</a:t>
            </a:r>
            <a:r>
              <a:rPr lang="en-US" altLang="en-US"/>
              <a:t>: at least one  </a:t>
            </a:r>
            <a:r>
              <a:rPr lang="el-GR" altLang="en-US"/>
              <a:t>β</a:t>
            </a:r>
            <a:r>
              <a:rPr lang="en-US" altLang="en-US" baseline="-25000"/>
              <a:t>i</a:t>
            </a:r>
            <a:r>
              <a:rPr lang="en-US" altLang="en-US"/>
              <a:t>  ≠ 0   (at least one independent variable affects Y)</a:t>
            </a:r>
            <a:r>
              <a:rPr lang="en-US" altLang="en-US" sz="2500"/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6CC0236-3C9C-27B3-92C6-47FBD863C9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BDFE82B-CC93-92C0-A13B-69F5C7DBA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DD216207-D658-4E3A-963B-378DAF02B414}" type="slidenum">
              <a:rPr lang="en-US" altLang="en-US"/>
              <a:pPr/>
              <a:t>61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5964A502-1F19-EA4B-BEF4-1B7D00D52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F-Test for Overall Significance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523F96A5-E301-66D4-AB1C-8BD1134D7A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8077200" cy="4572000"/>
          </a:xfrm>
          <a:noFill/>
          <a:ln/>
        </p:spPr>
        <p:txBody>
          <a:bodyPr lIns="85342" tIns="42672" rIns="85342" bIns="42672"/>
          <a:lstStyle/>
          <a:p>
            <a:r>
              <a:rPr lang="en-US" altLang="en-US"/>
              <a:t>Test statistic:</a:t>
            </a:r>
          </a:p>
          <a:p>
            <a:endParaRPr lang="en-US" altLang="en-US"/>
          </a:p>
          <a:p>
            <a:pPr lvl="1">
              <a:buFont typeface="Wingdings" panose="05000000000000000000" pitchFamily="2" charset="2"/>
              <a:buNone/>
            </a:pP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   where F has 	(numerator) = k  and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		(denominator) = (n - k - 1)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                                            degrees of freedom </a:t>
            </a:r>
          </a:p>
        </p:txBody>
      </p:sp>
      <p:graphicFrame>
        <p:nvGraphicFramePr>
          <p:cNvPr id="41989" name="Object 5">
            <a:extLst>
              <a:ext uri="{FF2B5EF4-FFF2-40B4-BE49-F238E27FC236}">
                <a16:creationId xmlns:a16="http://schemas.microsoft.com/office/drawing/2014/main" id="{1717B060-412F-59CD-ED77-954C6EB0D5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2514600"/>
          <a:ext cx="3581400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761760" progId="Equation.3">
                  <p:embed/>
                </p:oleObj>
              </mc:Choice>
              <mc:Fallback>
                <p:oleObj name="Equation" r:id="rId2" imgW="1320480" imgH="761760" progId="Equation.3">
                  <p:embed/>
                  <p:pic>
                    <p:nvPicPr>
                      <p:cNvPr id="41989" name="Object 5">
                        <a:extLst>
                          <a:ext uri="{FF2B5EF4-FFF2-40B4-BE49-F238E27FC236}">
                            <a16:creationId xmlns:a16="http://schemas.microsoft.com/office/drawing/2014/main" id="{1717B060-412F-59CD-ED77-954C6EB0D5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514600"/>
                        <a:ext cx="3581400" cy="20637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A5FF1F-4054-A482-7B6A-DA6EB5FF39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21D9F45-9CA5-0B7D-34EB-4BAB719967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9F168E16-4B50-49DA-A70D-2D8F4F697808}" type="slidenum">
              <a:rPr lang="en-US" altLang="en-US"/>
              <a:pPr/>
              <a:t>62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DE86B6B7-0856-CB03-D622-FFAB48152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F-Test for Overall Significance</a:t>
            </a:r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E90E3350-BF26-C79C-2602-C4E92C1FA0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2133600"/>
          <a:ext cx="4038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280" imgH="393480" progId="Equation.3">
                  <p:embed/>
                </p:oleObj>
              </mc:Choice>
              <mc:Fallback>
                <p:oleObj name="Equation" r:id="rId2" imgW="2006280" imgH="393480" progId="Equation.3">
                  <p:embed/>
                  <p:pic>
                    <p:nvPicPr>
                      <p:cNvPr id="43012" name="Object 4">
                        <a:extLst>
                          <a:ext uri="{FF2B5EF4-FFF2-40B4-BE49-F238E27FC236}">
                            <a16:creationId xmlns:a16="http://schemas.microsoft.com/office/drawing/2014/main" id="{E90E3350-BF26-C79C-2602-C4E92C1FA0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133600"/>
                        <a:ext cx="4038600" cy="7874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Line 6">
            <a:extLst>
              <a:ext uri="{FF2B5EF4-FFF2-40B4-BE49-F238E27FC236}">
                <a16:creationId xmlns:a16="http://schemas.microsoft.com/office/drawing/2014/main" id="{8D92F650-F6E5-AC8C-5B12-16612CAF5A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2895600"/>
            <a:ext cx="533400" cy="1295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3015" name="Line 7">
            <a:extLst>
              <a:ext uri="{FF2B5EF4-FFF2-40B4-BE49-F238E27FC236}">
                <a16:creationId xmlns:a16="http://schemas.microsoft.com/office/drawing/2014/main" id="{80E22299-BF73-DE6D-7A92-B533C4761B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36576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graphicFrame>
        <p:nvGraphicFramePr>
          <p:cNvPr id="43146" name="Group 138">
            <a:extLst>
              <a:ext uri="{FF2B5EF4-FFF2-40B4-BE49-F238E27FC236}">
                <a16:creationId xmlns:a16="http://schemas.microsoft.com/office/drawing/2014/main" id="{7FE72AA5-B6CA-BC21-18FE-DF81E1B211B0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600200"/>
          <a:ext cx="8763000" cy="4679950"/>
        </p:xfrm>
        <a:graphic>
          <a:graphicData uri="http://schemas.openxmlformats.org/drawingml/2006/table">
            <a:tbl>
              <a:tblPr/>
              <a:tblGrid>
                <a:gridCol w="1706563">
                  <a:extLst>
                    <a:ext uri="{9D8B030D-6E8A-4147-A177-3AD203B41FA5}">
                      <a16:colId xmlns:a16="http://schemas.microsoft.com/office/drawing/2014/main" val="1573762788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1719828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73190052"/>
                    </a:ext>
                  </a:extLst>
                </a:gridCol>
                <a:gridCol w="1068387">
                  <a:extLst>
                    <a:ext uri="{9D8B030D-6E8A-4147-A177-3AD203B41FA5}">
                      <a16:colId xmlns:a16="http://schemas.microsoft.com/office/drawing/2014/main" val="277285723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3183481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8504400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23157220"/>
                    </a:ext>
                  </a:extLst>
                </a:gridCol>
              </a:tblGrid>
              <a:tr h="1619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 Statistics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6696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Multiple 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0.72213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399699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 Square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0.52148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64290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Adjusted R Square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0.44172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102737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47.46341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06283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875409"/>
                  </a:ext>
                </a:extLst>
              </a:tr>
              <a:tr h="171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279317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ANOVA</a:t>
                      </a:r>
                      <a:r>
                        <a:rPr kumimoji="0" lang="en-US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1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Significance 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672127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29460.027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14730.013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6.53861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0.01201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52196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Residual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27033.306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2252.776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90037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Total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56493.333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74046"/>
                  </a:ext>
                </a:extLst>
              </a:tr>
              <a:tr h="1714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24548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36882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306.52619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114.25389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2.68285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0.01993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57.58835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555.46404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64071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-24.97509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10.83213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-2.30565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0.03979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-48.57626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-1.37392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1176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Advertising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74.13096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25.96732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2.85478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0.01449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17.55303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130.70888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275521"/>
                  </a:ext>
                </a:extLst>
              </a:tr>
            </a:tbl>
          </a:graphicData>
        </a:graphic>
      </p:graphicFrame>
      <p:sp>
        <p:nvSpPr>
          <p:cNvPr id="43141" name="Text Box 133">
            <a:extLst>
              <a:ext uri="{FF2B5EF4-FFF2-40B4-BE49-F238E27FC236}">
                <a16:creationId xmlns:a16="http://schemas.microsoft.com/office/drawing/2014/main" id="{24DC3DF1-C677-BD64-5E76-0DCADC2D0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048000"/>
            <a:ext cx="1295400" cy="5810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 b="1"/>
              <a:t>P-value for the F-Test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899F187-6E65-3AF0-16F2-2002DF129F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8A27A81-8155-7DD2-39EF-261DE67856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E2ABF395-B6AA-4B26-90E3-0CF2C0004821}" type="slidenum">
              <a:rPr lang="en-US" altLang="en-US"/>
              <a:pPr/>
              <a:t>63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62FCC04F-729A-1758-3DAC-2DF2B6AB0C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F-Test for Overall Significance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C439B39C-AA81-37D4-1E18-C9955C461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52600"/>
            <a:ext cx="3505200" cy="76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D2A878A9-3FC5-3ADC-4AA2-49FF7E36A1B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752600"/>
            <a:ext cx="3581400" cy="182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 sz="2000"/>
              <a:t>H</a:t>
            </a:r>
            <a:r>
              <a:rPr lang="en-US" altLang="en-US" sz="2000" baseline="-25000"/>
              <a:t>0</a:t>
            </a:r>
            <a:r>
              <a:rPr lang="en-US" altLang="en-US" sz="2000"/>
              <a:t>: </a:t>
            </a:r>
            <a:r>
              <a:rPr lang="el-GR" altLang="en-US" sz="2000"/>
              <a:t>β</a:t>
            </a:r>
            <a:r>
              <a:rPr lang="en-US" altLang="en-US" sz="2000" baseline="-25000"/>
              <a:t>1</a:t>
            </a:r>
            <a:r>
              <a:rPr lang="en-US" altLang="en-US" sz="2000"/>
              <a:t> = </a:t>
            </a:r>
            <a:r>
              <a:rPr lang="el-GR" altLang="en-US" sz="2000"/>
              <a:t>β</a:t>
            </a:r>
            <a:r>
              <a:rPr lang="en-US" altLang="en-US" sz="2000" baseline="-25000"/>
              <a:t>2</a:t>
            </a:r>
            <a:r>
              <a:rPr lang="en-US" altLang="en-US" sz="2000"/>
              <a:t> = 0</a:t>
            </a:r>
          </a:p>
          <a:p>
            <a:r>
              <a:rPr lang="en-US" altLang="en-US" sz="2000"/>
              <a:t>H</a:t>
            </a:r>
            <a:r>
              <a:rPr lang="en-US" altLang="en-US" sz="2000" baseline="-25000"/>
              <a:t>1</a:t>
            </a:r>
            <a:r>
              <a:rPr lang="en-US" altLang="en-US" sz="2000"/>
              <a:t>: </a:t>
            </a:r>
            <a:r>
              <a:rPr lang="el-GR" altLang="en-US" sz="2000"/>
              <a:t>β</a:t>
            </a:r>
            <a:r>
              <a:rPr lang="en-US" altLang="en-US" sz="2000" baseline="-25000"/>
              <a:t>1</a:t>
            </a:r>
            <a:r>
              <a:rPr lang="en-US" altLang="en-US" sz="2000"/>
              <a:t> and </a:t>
            </a:r>
            <a:r>
              <a:rPr lang="el-GR" altLang="en-US" sz="2000"/>
              <a:t>β</a:t>
            </a:r>
            <a:r>
              <a:rPr lang="en-US" altLang="en-US" sz="2000" baseline="-25000"/>
              <a:t>2</a:t>
            </a:r>
            <a:r>
              <a:rPr lang="en-US" altLang="en-US" sz="2000"/>
              <a:t> not both zero</a:t>
            </a:r>
          </a:p>
          <a:p>
            <a:r>
              <a:rPr lang="en-US" altLang="en-US" sz="2000">
                <a:sym typeface="Symbol" panose="05050102010706020507" pitchFamily="18" charset="2"/>
              </a:rPr>
              <a:t></a:t>
            </a:r>
            <a:r>
              <a:rPr lang="en-US" altLang="en-US" sz="2000"/>
              <a:t> = .05</a:t>
            </a:r>
          </a:p>
          <a:p>
            <a:r>
              <a:rPr lang="en-US" altLang="en-US" sz="2000"/>
              <a:t>df</a:t>
            </a:r>
            <a:r>
              <a:rPr lang="en-US" altLang="en-US" sz="2000" baseline="-25000"/>
              <a:t>1</a:t>
            </a:r>
            <a:r>
              <a:rPr lang="en-US" altLang="en-US" sz="2000"/>
              <a:t>= 2      df</a:t>
            </a:r>
            <a:r>
              <a:rPr lang="en-US" altLang="en-US" sz="2000" baseline="-25000"/>
              <a:t>2</a:t>
            </a:r>
            <a:r>
              <a:rPr lang="en-US" altLang="en-US" sz="2000"/>
              <a:t> = 12</a:t>
            </a:r>
            <a:r>
              <a:rPr lang="en-US" altLang="en-US" sz="2400"/>
              <a:t> </a:t>
            </a:r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AE5890D4-DCC2-CD78-E19D-096D6A5B4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676400"/>
            <a:ext cx="3810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65188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8088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Test Statistic: </a:t>
            </a:r>
            <a:endParaRPr lang="en-US" altLang="en-US" sz="28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Decision:</a:t>
            </a:r>
            <a:endParaRPr lang="en-US" altLang="en-US" sz="28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endParaRPr lang="en-US" altLang="en-US" sz="2800" b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endParaRPr lang="en-US" altLang="en-US" sz="2000" b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Conclusion:</a:t>
            </a:r>
            <a:endParaRPr lang="en-US" altLang="en-US" sz="2800">
              <a:latin typeface="Times New Roman" panose="02020603050405020304" pitchFamily="18" charset="0"/>
            </a:endParaRPr>
          </a:p>
          <a:p>
            <a:pPr latinLnBrk="1"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E872421C-8FB4-5457-647C-0DFF97A3C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4267200" cy="11842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Since F test statistic is in the rejection region (p-value &lt; .05), reject H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4040" name="Rectangle 8">
            <a:extLst>
              <a:ext uri="{FF2B5EF4-FFF2-40B4-BE49-F238E27FC236}">
                <a16:creationId xmlns:a16="http://schemas.microsoft.com/office/drawing/2014/main" id="{258F9C0F-4815-7CDE-CECD-E9310F29E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638800"/>
            <a:ext cx="4495800" cy="698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There is evidence that at least one independent variable affects Y</a:t>
            </a:r>
          </a:p>
        </p:txBody>
      </p:sp>
      <p:sp>
        <p:nvSpPr>
          <p:cNvPr id="44041" name="Freeform 9">
            <a:extLst>
              <a:ext uri="{FF2B5EF4-FFF2-40B4-BE49-F238E27FC236}">
                <a16:creationId xmlns:a16="http://schemas.microsoft.com/office/drawing/2014/main" id="{34D46CCA-88BD-D8D9-B00E-D5614D606718}"/>
              </a:ext>
            </a:extLst>
          </p:cNvPr>
          <p:cNvSpPr>
            <a:spLocks/>
          </p:cNvSpPr>
          <p:nvPr/>
        </p:nvSpPr>
        <p:spPr bwMode="auto">
          <a:xfrm>
            <a:off x="2051050" y="5486400"/>
            <a:ext cx="1555750" cy="223838"/>
          </a:xfrm>
          <a:custGeom>
            <a:avLst/>
            <a:gdLst>
              <a:gd name="T0" fmla="*/ 4 w 980"/>
              <a:gd name="T1" fmla="*/ 154 h 154"/>
              <a:gd name="T2" fmla="*/ 0 w 980"/>
              <a:gd name="T3" fmla="*/ 0 h 154"/>
              <a:gd name="T4" fmla="*/ 83 w 980"/>
              <a:gd name="T5" fmla="*/ 39 h 154"/>
              <a:gd name="T6" fmla="*/ 154 w 980"/>
              <a:gd name="T7" fmla="*/ 61 h 154"/>
              <a:gd name="T8" fmla="*/ 209 w 980"/>
              <a:gd name="T9" fmla="*/ 76 h 154"/>
              <a:gd name="T10" fmla="*/ 283 w 980"/>
              <a:gd name="T11" fmla="*/ 91 h 154"/>
              <a:gd name="T12" fmla="*/ 428 w 980"/>
              <a:gd name="T13" fmla="*/ 111 h 154"/>
              <a:gd name="T14" fmla="*/ 592 w 980"/>
              <a:gd name="T15" fmla="*/ 126 h 154"/>
              <a:gd name="T16" fmla="*/ 979 w 980"/>
              <a:gd name="T17" fmla="*/ 141 h 154"/>
              <a:gd name="T18" fmla="*/ 980 w 980"/>
              <a:gd name="T19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80" h="154">
                <a:moveTo>
                  <a:pt x="4" y="154"/>
                </a:moveTo>
                <a:lnTo>
                  <a:pt x="0" y="0"/>
                </a:lnTo>
                <a:lnTo>
                  <a:pt x="83" y="39"/>
                </a:lnTo>
                <a:lnTo>
                  <a:pt x="154" y="61"/>
                </a:lnTo>
                <a:lnTo>
                  <a:pt x="209" y="76"/>
                </a:lnTo>
                <a:lnTo>
                  <a:pt x="283" y="91"/>
                </a:lnTo>
                <a:lnTo>
                  <a:pt x="428" y="111"/>
                </a:lnTo>
                <a:lnTo>
                  <a:pt x="592" y="126"/>
                </a:lnTo>
                <a:lnTo>
                  <a:pt x="979" y="141"/>
                </a:lnTo>
                <a:lnTo>
                  <a:pt x="980" y="154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4042" name="Freeform 10">
            <a:extLst>
              <a:ext uri="{FF2B5EF4-FFF2-40B4-BE49-F238E27FC236}">
                <a16:creationId xmlns:a16="http://schemas.microsoft.com/office/drawing/2014/main" id="{34B24D07-DEB5-510C-AF82-422E416C4A64}"/>
              </a:ext>
            </a:extLst>
          </p:cNvPr>
          <p:cNvSpPr>
            <a:spLocks/>
          </p:cNvSpPr>
          <p:nvPr/>
        </p:nvSpPr>
        <p:spPr bwMode="auto">
          <a:xfrm>
            <a:off x="373063" y="4100513"/>
            <a:ext cx="3513137" cy="1614487"/>
          </a:xfrm>
          <a:custGeom>
            <a:avLst/>
            <a:gdLst>
              <a:gd name="T0" fmla="*/ 0 w 3388"/>
              <a:gd name="T1" fmla="*/ 0 h 1023"/>
              <a:gd name="T2" fmla="*/ 0 w 3388"/>
              <a:gd name="T3" fmla="*/ 1022 h 1023"/>
              <a:gd name="T4" fmla="*/ 3387 w 3388"/>
              <a:gd name="T5" fmla="*/ 1022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88" h="1023">
                <a:moveTo>
                  <a:pt x="0" y="0"/>
                </a:moveTo>
                <a:lnTo>
                  <a:pt x="0" y="1022"/>
                </a:lnTo>
                <a:lnTo>
                  <a:pt x="3387" y="102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43" name="Rectangle 11">
            <a:extLst>
              <a:ext uri="{FF2B5EF4-FFF2-40B4-BE49-F238E27FC236}">
                <a16:creationId xmlns:a16="http://schemas.microsoft.com/office/drawing/2014/main" id="{FC17A6CA-C1BD-09C8-5455-8B7F504B2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45720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/>
              <a:t>0</a:t>
            </a:r>
            <a:r>
              <a:rPr lang="en-US" altLang="en-US" sz="3600" b="1"/>
              <a:t> </a:t>
            </a:r>
          </a:p>
        </p:txBody>
      </p:sp>
      <p:sp>
        <p:nvSpPr>
          <p:cNvPr id="44044" name="Line 12">
            <a:extLst>
              <a:ext uri="{FF2B5EF4-FFF2-40B4-BE49-F238E27FC236}">
                <a16:creationId xmlns:a16="http://schemas.microsoft.com/office/drawing/2014/main" id="{78811749-EB23-A268-0DFB-C47E555EC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8" y="4419600"/>
            <a:ext cx="317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4045" name="Freeform 13">
            <a:extLst>
              <a:ext uri="{FF2B5EF4-FFF2-40B4-BE49-F238E27FC236}">
                <a16:creationId xmlns:a16="http://schemas.microsoft.com/office/drawing/2014/main" id="{11234410-5A02-2B72-C1AE-CFCAD623550B}"/>
              </a:ext>
            </a:extLst>
          </p:cNvPr>
          <p:cNvSpPr>
            <a:spLocks/>
          </p:cNvSpPr>
          <p:nvPr/>
        </p:nvSpPr>
        <p:spPr bwMode="auto">
          <a:xfrm>
            <a:off x="381000" y="4343400"/>
            <a:ext cx="3429000" cy="1392238"/>
          </a:xfrm>
          <a:custGeom>
            <a:avLst/>
            <a:gdLst>
              <a:gd name="T0" fmla="*/ 0 w 3492"/>
              <a:gd name="T1" fmla="*/ 1011 h 1021"/>
              <a:gd name="T2" fmla="*/ 162 w 3492"/>
              <a:gd name="T3" fmla="*/ 837 h 1021"/>
              <a:gd name="T4" fmla="*/ 714 w 3492"/>
              <a:gd name="T5" fmla="*/ 3 h 1021"/>
              <a:gd name="T6" fmla="*/ 1728 w 3492"/>
              <a:gd name="T7" fmla="*/ 855 h 1021"/>
              <a:gd name="T8" fmla="*/ 3492 w 3492"/>
              <a:gd name="T9" fmla="*/ 999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2" h="1021">
                <a:moveTo>
                  <a:pt x="0" y="1011"/>
                </a:moveTo>
                <a:cubicBezTo>
                  <a:pt x="27" y="982"/>
                  <a:pt x="43" y="1005"/>
                  <a:pt x="162" y="837"/>
                </a:cubicBezTo>
                <a:cubicBezTo>
                  <a:pt x="281" y="669"/>
                  <a:pt x="453" y="0"/>
                  <a:pt x="714" y="3"/>
                </a:cubicBezTo>
                <a:cubicBezTo>
                  <a:pt x="975" y="6"/>
                  <a:pt x="1265" y="689"/>
                  <a:pt x="1728" y="855"/>
                </a:cubicBezTo>
                <a:cubicBezTo>
                  <a:pt x="2191" y="1021"/>
                  <a:pt x="3125" y="969"/>
                  <a:pt x="3492" y="999"/>
                </a:cubicBezTo>
              </a:path>
            </a:pathLst>
          </a:custGeom>
          <a:noFill/>
          <a:ln w="38100" cap="flat" cmpd="sng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4046" name="Line 14">
            <a:extLst>
              <a:ext uri="{FF2B5EF4-FFF2-40B4-BE49-F238E27FC236}">
                <a16:creationId xmlns:a16="http://schemas.microsoft.com/office/drawing/2014/main" id="{CE1B812D-C4E9-C61B-BB44-9D49FF017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5486400"/>
            <a:ext cx="1588" cy="2286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4047" name="Line 15">
            <a:extLst>
              <a:ext uri="{FF2B5EF4-FFF2-40B4-BE49-F238E27FC236}">
                <a16:creationId xmlns:a16="http://schemas.microsoft.com/office/drawing/2014/main" id="{34F492A9-1B57-FAB8-1C71-E79F581E4A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2200" y="5257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4048" name="Text Box 16">
            <a:extLst>
              <a:ext uri="{FF2B5EF4-FFF2-40B4-BE49-F238E27FC236}">
                <a16:creationId xmlns:a16="http://schemas.microsoft.com/office/drawing/2014/main" id="{A5ECB363-1FD1-A41C-D6EE-260B98879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9530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>
                <a:sym typeface="Symbol" panose="05050102010706020507" pitchFamily="18" charset="2"/>
              </a:rPr>
              <a:t> = .05</a:t>
            </a:r>
            <a:endParaRPr lang="en-US" altLang="en-US" sz="2000" baseline="-25000">
              <a:sym typeface="Symbol" panose="05050102010706020507" pitchFamily="18" charset="2"/>
            </a:endParaRPr>
          </a:p>
        </p:txBody>
      </p:sp>
      <p:sp>
        <p:nvSpPr>
          <p:cNvPr id="44049" name="Rectangle 17">
            <a:extLst>
              <a:ext uri="{FF2B5EF4-FFF2-40B4-BE49-F238E27FC236}">
                <a16:creationId xmlns:a16="http://schemas.microsoft.com/office/drawing/2014/main" id="{CD9D35E3-6E71-81C7-9EE9-140A1E7CA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6019800"/>
            <a:ext cx="15240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/>
              <a:t>F</a:t>
            </a:r>
            <a:r>
              <a:rPr lang="en-US" altLang="en-US" sz="2000" b="1" baseline="-25000">
                <a:sym typeface="Symbol" panose="05050102010706020507" pitchFamily="18" charset="2"/>
              </a:rPr>
              <a:t>.05 </a:t>
            </a:r>
            <a:r>
              <a:rPr lang="en-US" altLang="en-US" sz="2000" b="1"/>
              <a:t>= 3.89</a:t>
            </a:r>
          </a:p>
        </p:txBody>
      </p:sp>
      <p:sp>
        <p:nvSpPr>
          <p:cNvPr id="44050" name="Line 18">
            <a:extLst>
              <a:ext uri="{FF2B5EF4-FFF2-40B4-BE49-F238E27FC236}">
                <a16:creationId xmlns:a16="http://schemas.microsoft.com/office/drawing/2014/main" id="{73B5D185-7B95-2E5C-1EBE-D0259BE33B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5715000"/>
            <a:ext cx="0" cy="4572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4051" name="Line 19">
            <a:extLst>
              <a:ext uri="{FF2B5EF4-FFF2-40B4-BE49-F238E27FC236}">
                <a16:creationId xmlns:a16="http://schemas.microsoft.com/office/drawing/2014/main" id="{D089C598-DCC9-CDFA-4A12-DA29DB3B78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" y="5943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4052" name="Line 20">
            <a:extLst>
              <a:ext uri="{FF2B5EF4-FFF2-40B4-BE49-F238E27FC236}">
                <a16:creationId xmlns:a16="http://schemas.microsoft.com/office/drawing/2014/main" id="{96A34406-E9B5-C344-752B-CEE74003A1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5943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44053" name="Rectangle 21">
            <a:extLst>
              <a:ext uri="{FF2B5EF4-FFF2-40B4-BE49-F238E27FC236}">
                <a16:creationId xmlns:a16="http://schemas.microsoft.com/office/drawing/2014/main" id="{B0924AC3-1659-6C8B-3535-65190C0FE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867400"/>
            <a:ext cx="9906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/>
              <a:t>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44054" name="Rectangle 22">
            <a:extLst>
              <a:ext uri="{FF2B5EF4-FFF2-40B4-BE49-F238E27FC236}">
                <a16:creationId xmlns:a16="http://schemas.microsoft.com/office/drawing/2014/main" id="{C7649F84-C43F-2A02-B396-87FE2ED5D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867400"/>
            <a:ext cx="914400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/>
              <a:t>Do not 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US" altLang="en-US" sz="1400"/>
              <a:t>reject H</a:t>
            </a:r>
            <a:r>
              <a:rPr lang="en-US" altLang="en-US" sz="1400" baseline="-25000"/>
              <a:t>0</a:t>
            </a:r>
          </a:p>
        </p:txBody>
      </p:sp>
      <p:graphicFrame>
        <p:nvGraphicFramePr>
          <p:cNvPr id="44055" name="Object 23">
            <a:extLst>
              <a:ext uri="{FF2B5EF4-FFF2-40B4-BE49-F238E27FC236}">
                <a16:creationId xmlns:a16="http://schemas.microsoft.com/office/drawing/2014/main" id="{08FBF9CB-9380-E070-C924-A917FFD357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2209800"/>
          <a:ext cx="2836863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393480" progId="Equation.3">
                  <p:embed/>
                </p:oleObj>
              </mc:Choice>
              <mc:Fallback>
                <p:oleObj name="Equation" r:id="rId2" imgW="1282680" imgH="393480" progId="Equation.3">
                  <p:embed/>
                  <p:pic>
                    <p:nvPicPr>
                      <p:cNvPr id="44055" name="Object 23">
                        <a:extLst>
                          <a:ext uri="{FF2B5EF4-FFF2-40B4-BE49-F238E27FC236}">
                            <a16:creationId xmlns:a16="http://schemas.microsoft.com/office/drawing/2014/main" id="{08FBF9CB-9380-E070-C924-A917FFD357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209800"/>
                        <a:ext cx="2836863" cy="8556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6" name="Line 24">
            <a:extLst>
              <a:ext uri="{FF2B5EF4-FFF2-40B4-BE49-F238E27FC236}">
                <a16:creationId xmlns:a16="http://schemas.microsoft.com/office/drawing/2014/main" id="{688847CA-A8D4-CB4C-ECA1-F144818B4B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886200"/>
            <a:ext cx="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4057" name="Line 25">
            <a:extLst>
              <a:ext uri="{FF2B5EF4-FFF2-40B4-BE49-F238E27FC236}">
                <a16:creationId xmlns:a16="http://schemas.microsoft.com/office/drawing/2014/main" id="{A39D5B9A-BBAE-94C9-2E24-91DFC24C05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743200"/>
            <a:ext cx="17526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4058" name="Rectangle 26">
            <a:extLst>
              <a:ext uri="{FF2B5EF4-FFF2-40B4-BE49-F238E27FC236}">
                <a16:creationId xmlns:a16="http://schemas.microsoft.com/office/drawing/2014/main" id="{635520DF-B0DD-B215-253D-67BD1ACE8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733800"/>
            <a:ext cx="1295400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Critical Value:  </a:t>
            </a:r>
          </a:p>
          <a:p>
            <a:pPr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F</a:t>
            </a:r>
            <a:r>
              <a:rPr lang="en-US" altLang="en-US" sz="20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en-US" sz="2000" b="1">
                <a:latin typeface="Times New Roman" panose="02020603050405020304" pitchFamily="18" charset="0"/>
              </a:rPr>
              <a:t>= 3.885</a:t>
            </a:r>
          </a:p>
        </p:txBody>
      </p:sp>
      <p:sp>
        <p:nvSpPr>
          <p:cNvPr id="44059" name="Text Box 27">
            <a:extLst>
              <a:ext uri="{FF2B5EF4-FFF2-40B4-BE49-F238E27FC236}">
                <a16:creationId xmlns:a16="http://schemas.microsoft.com/office/drawing/2014/main" id="{D40F8E4B-D8AC-DB2A-E5AF-C09DD8ECB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638800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/>
              <a:t>F</a:t>
            </a:r>
          </a:p>
        </p:txBody>
      </p:sp>
      <p:sp>
        <p:nvSpPr>
          <p:cNvPr id="44060" name="AutoShape 28">
            <a:extLst>
              <a:ext uri="{FF2B5EF4-FFF2-40B4-BE49-F238E27FC236}">
                <a16:creationId xmlns:a16="http://schemas.microsoft.com/office/drawing/2014/main" id="{111BAA0E-5E72-6F34-CF7B-4DE8F0888708}"/>
              </a:ext>
            </a:extLst>
          </p:cNvPr>
          <p:cNvSpPr>
            <a:spLocks/>
          </p:cNvSpPr>
          <p:nvPr/>
        </p:nvSpPr>
        <p:spPr bwMode="auto">
          <a:xfrm rot="16200000">
            <a:off x="1562100" y="2247900"/>
            <a:ext cx="228600" cy="2438400"/>
          </a:xfrm>
          <a:prstGeom prst="leftBrace">
            <a:avLst>
              <a:gd name="adj1" fmla="val 88889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8FDBAD4-B422-FA05-D9E4-5854F3FEF8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63B4A7C-2616-145A-A21D-B45958656E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4D6959DA-1818-4225-A232-704EB7A3F9EC}" type="slidenum">
              <a:rPr lang="en-US" altLang="en-US"/>
              <a:pPr/>
              <a:t>64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2B3E4194-B41E-4B29-793F-0DF32FF9E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Individual Variables</a:t>
            </a:r>
            <a:br>
              <a:rPr lang="en-US" altLang="en-US"/>
            </a:br>
            <a:r>
              <a:rPr lang="en-US" altLang="en-US"/>
              <a:t>Tests of Hypothesis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61A7121E-4E84-593E-9438-742A24ADB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2133600"/>
            <a:ext cx="7010400" cy="3657600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altLang="en-US"/>
              <a:t>Use t-tests of individual variable slopes</a:t>
            </a:r>
          </a:p>
          <a:p>
            <a:r>
              <a:rPr lang="en-US" altLang="en-US"/>
              <a:t>Shows if there is a linear relationship between the variable X</a:t>
            </a:r>
            <a:r>
              <a:rPr lang="en-US" altLang="en-US" sz="2500" baseline="-25000"/>
              <a:t>i</a:t>
            </a:r>
            <a:r>
              <a:rPr lang="en-US" altLang="en-US"/>
              <a:t> and Y</a:t>
            </a:r>
          </a:p>
          <a:p>
            <a:r>
              <a:rPr lang="en-US" altLang="en-US"/>
              <a:t>Hypotheses: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H</a:t>
            </a:r>
            <a:r>
              <a:rPr lang="en-US" altLang="en-US" baseline="-25000"/>
              <a:t>0</a:t>
            </a:r>
            <a:r>
              <a:rPr lang="en-US" altLang="en-US"/>
              <a:t>: </a:t>
            </a:r>
            <a:r>
              <a:rPr lang="el-GR" altLang="en-US"/>
              <a:t>β</a:t>
            </a:r>
            <a:r>
              <a:rPr lang="en-US" altLang="en-US" baseline="-25000"/>
              <a:t>i</a:t>
            </a:r>
            <a:r>
              <a:rPr lang="en-US" altLang="en-US"/>
              <a:t> = 0 (no linear relationship)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H</a:t>
            </a:r>
            <a:r>
              <a:rPr lang="en-US" altLang="en-US" baseline="-25000"/>
              <a:t>1</a:t>
            </a:r>
            <a:r>
              <a:rPr lang="en-US" altLang="en-US"/>
              <a:t>: </a:t>
            </a:r>
            <a:r>
              <a:rPr lang="el-GR" altLang="en-US"/>
              <a:t>β</a:t>
            </a:r>
            <a:r>
              <a:rPr lang="en-US" altLang="en-US" baseline="-25000"/>
              <a:t>i</a:t>
            </a:r>
            <a:r>
              <a:rPr lang="en-US" altLang="en-US"/>
              <a:t> ≠ 0  (linear relationship does exist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			 between X</a:t>
            </a:r>
            <a:r>
              <a:rPr lang="en-US" altLang="en-US" baseline="-25000"/>
              <a:t>i</a:t>
            </a:r>
            <a:r>
              <a:rPr lang="en-US" altLang="en-US"/>
              <a:t> and Y)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4515D55-42FB-2F17-FC70-E53686413B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317D666-EC6B-0EEC-6390-4E09B83822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BAD85CB3-D5A7-4409-9573-F2695570AC00}" type="slidenum">
              <a:rPr lang="en-US" altLang="en-US"/>
              <a:pPr/>
              <a:t>65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F9E269E-E6FF-5ED9-29BC-60DA47636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Individual Variables</a:t>
            </a:r>
            <a:br>
              <a:rPr lang="en-US" altLang="en-US"/>
            </a:br>
            <a:r>
              <a:rPr lang="en-US" altLang="en-US"/>
              <a:t>Tests of Hypothesis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A889BB6C-66C7-DC53-31EF-F1EDBCE1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572000"/>
            <a:ext cx="22098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53298947-5CD8-2A0F-F5FA-8C288C7DD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68488"/>
            <a:ext cx="8077200" cy="4532312"/>
          </a:xfrm>
          <a:noFill/>
          <a:ln/>
        </p:spPr>
        <p:txBody>
          <a:bodyPr lIns="85342" tIns="42672" rIns="85342" bIns="42672"/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H</a:t>
            </a:r>
            <a:r>
              <a:rPr lang="en-US" altLang="en-US" baseline="-25000"/>
              <a:t>0</a:t>
            </a:r>
            <a:r>
              <a:rPr lang="en-US" altLang="en-US"/>
              <a:t>: </a:t>
            </a:r>
            <a:r>
              <a:rPr lang="el-GR" altLang="en-US"/>
              <a:t>β</a:t>
            </a:r>
            <a:r>
              <a:rPr lang="en-US" altLang="en-US" baseline="-25000"/>
              <a:t>j</a:t>
            </a:r>
            <a:r>
              <a:rPr lang="en-US" altLang="en-US"/>
              <a:t>  = 0 (no linear relationship)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H</a:t>
            </a:r>
            <a:r>
              <a:rPr lang="en-US" altLang="en-US" baseline="-25000"/>
              <a:t>1</a:t>
            </a:r>
            <a:r>
              <a:rPr lang="en-US" altLang="en-US"/>
              <a:t>: </a:t>
            </a:r>
            <a:r>
              <a:rPr lang="el-GR" altLang="en-US"/>
              <a:t>β</a:t>
            </a:r>
            <a:r>
              <a:rPr lang="en-US" altLang="en-US" baseline="-25000"/>
              <a:t>j</a:t>
            </a:r>
            <a:r>
              <a:rPr lang="en-US" altLang="en-US"/>
              <a:t> ≠ 0  (linear relationship does exist		     			  between X</a:t>
            </a:r>
            <a:r>
              <a:rPr lang="en-US" altLang="en-US" baseline="-25000"/>
              <a:t>i</a:t>
            </a:r>
            <a:r>
              <a:rPr lang="en-US" altLang="en-US"/>
              <a:t> and Y)</a:t>
            </a:r>
          </a:p>
          <a:p>
            <a:pPr lvl="1"/>
            <a:endParaRPr lang="en-US" altLang="en-US"/>
          </a:p>
          <a:p>
            <a:pPr lvl="1"/>
            <a:r>
              <a:rPr lang="en-US" altLang="en-US"/>
              <a:t>Test Statistic:</a:t>
            </a:r>
          </a:p>
          <a:p>
            <a:pPr lvl="1"/>
            <a:endParaRPr lang="en-US" altLang="en-US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							(df = n – k – 1)</a:t>
            </a:r>
          </a:p>
        </p:txBody>
      </p:sp>
      <p:graphicFrame>
        <p:nvGraphicFramePr>
          <p:cNvPr id="49158" name="Object 6">
            <a:extLst>
              <a:ext uri="{FF2B5EF4-FFF2-40B4-BE49-F238E27FC236}">
                <a16:creationId xmlns:a16="http://schemas.microsoft.com/office/drawing/2014/main" id="{940E1EC7-A2DF-4340-4D74-4BF20C7F66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197350"/>
          <a:ext cx="2225675" cy="181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495000" progId="Equation.3">
                  <p:embed/>
                </p:oleObj>
              </mc:Choice>
              <mc:Fallback>
                <p:oleObj name="Equation" r:id="rId2" imgW="609480" imgH="495000" progId="Equation.3">
                  <p:embed/>
                  <p:pic>
                    <p:nvPicPr>
                      <p:cNvPr id="49158" name="Object 6">
                        <a:extLst>
                          <a:ext uri="{FF2B5EF4-FFF2-40B4-BE49-F238E27FC236}">
                            <a16:creationId xmlns:a16="http://schemas.microsoft.com/office/drawing/2014/main" id="{940E1EC7-A2DF-4340-4D74-4BF20C7F66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197350"/>
                        <a:ext cx="2225675" cy="18145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855A8F1-E8A2-E273-1F1F-E673407FC2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F95C6F1-CA8A-7D2D-7921-C4E6F61808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5F9BEB86-2E9E-4A28-BE87-21DD4B6A0B02}" type="slidenum">
              <a:rPr lang="en-US" altLang="en-US"/>
              <a:pPr/>
              <a:t>66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994A727C-7251-C16A-4E69-C6D6792B4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Individual Variables</a:t>
            </a:r>
            <a:br>
              <a:rPr lang="en-US" altLang="en-US"/>
            </a:br>
            <a:r>
              <a:rPr lang="en-US" altLang="en-US"/>
              <a:t>Tests of Hypothesis</a:t>
            </a:r>
          </a:p>
        </p:txBody>
      </p:sp>
      <p:sp>
        <p:nvSpPr>
          <p:cNvPr id="50180" name="Line 4">
            <a:extLst>
              <a:ext uri="{FF2B5EF4-FFF2-40B4-BE49-F238E27FC236}">
                <a16:creationId xmlns:a16="http://schemas.microsoft.com/office/drawing/2014/main" id="{60573F5E-5DB9-991B-9FF9-0F16EB57A4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429000"/>
            <a:ext cx="0" cy="2514600"/>
          </a:xfrm>
          <a:prstGeom prst="line">
            <a:avLst/>
          </a:prstGeom>
          <a:noFill/>
          <a:ln w="28575">
            <a:solidFill>
              <a:schemeClr val="bg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graphicFrame>
        <p:nvGraphicFramePr>
          <p:cNvPr id="50307" name="Group 131">
            <a:extLst>
              <a:ext uri="{FF2B5EF4-FFF2-40B4-BE49-F238E27FC236}">
                <a16:creationId xmlns:a16="http://schemas.microsoft.com/office/drawing/2014/main" id="{7328064E-7893-B08C-2901-4666427BC9B5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752600"/>
          <a:ext cx="8763000" cy="4632960"/>
        </p:xfrm>
        <a:graphic>
          <a:graphicData uri="http://schemas.openxmlformats.org/drawingml/2006/table">
            <a:tbl>
              <a:tblPr/>
              <a:tblGrid>
                <a:gridCol w="1706563">
                  <a:extLst>
                    <a:ext uri="{9D8B030D-6E8A-4147-A177-3AD203B41FA5}">
                      <a16:colId xmlns:a16="http://schemas.microsoft.com/office/drawing/2014/main" val="484895181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182951680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587526971"/>
                    </a:ext>
                  </a:extLst>
                </a:gridCol>
                <a:gridCol w="1068387">
                  <a:extLst>
                    <a:ext uri="{9D8B030D-6E8A-4147-A177-3AD203B41FA5}">
                      <a16:colId xmlns:a16="http://schemas.microsoft.com/office/drawing/2014/main" val="194767855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0584583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275552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36469716"/>
                    </a:ext>
                  </a:extLst>
                </a:gridCol>
              </a:tblGrid>
              <a:tr h="1619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 Statistics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38935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Multiple 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0.72213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614201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 Square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0.52148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29141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Adjusted R Square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0.44172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24070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47.46341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71395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564316"/>
                  </a:ext>
                </a:extLst>
              </a:tr>
              <a:tr h="171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7112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ANOVA</a:t>
                      </a:r>
                      <a:r>
                        <a:rPr kumimoji="0" lang="en-US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1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Significance F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73026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Regression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29460.027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14730.013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6.53861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0.01201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53943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Residual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27033.306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2252.776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58372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Total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56493.333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100072"/>
                  </a:ext>
                </a:extLst>
              </a:tr>
              <a:tr h="1714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00645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82684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306.52619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114.25389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2.68285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0.01993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57.58835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555.46404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97324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-24.97509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10.83213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-2.30565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0.03979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-48.57626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-1.37392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911399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Advertising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74.13096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25.96732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2.85478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0.01449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17.55303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130.70888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955489"/>
                  </a:ext>
                </a:extLst>
              </a:tr>
            </a:tbl>
          </a:graphicData>
        </a:graphic>
      </p:graphicFrame>
      <p:sp>
        <p:nvSpPr>
          <p:cNvPr id="50305" name="Text Box 129">
            <a:extLst>
              <a:ext uri="{FF2B5EF4-FFF2-40B4-BE49-F238E27FC236}">
                <a16:creationId xmlns:a16="http://schemas.microsoft.com/office/drawing/2014/main" id="{5A9C01BC-06E3-6C9A-2F75-BA62A8EC5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752600"/>
            <a:ext cx="4419600" cy="1673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5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t-value for Price is  t = -2.306, with p-value .0398</a:t>
            </a:r>
          </a:p>
          <a:p>
            <a:pPr eaLnBrk="1" hangingPunct="1">
              <a:spcBef>
                <a:spcPct val="25000"/>
              </a:spcBef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5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t-value for Advertising is t = 2.855, with p-value .0145</a:t>
            </a:r>
          </a:p>
        </p:txBody>
      </p:sp>
      <p:sp>
        <p:nvSpPr>
          <p:cNvPr id="50306" name="Rectangle 130">
            <a:extLst>
              <a:ext uri="{FF2B5EF4-FFF2-40B4-BE49-F238E27FC236}">
                <a16:creationId xmlns:a16="http://schemas.microsoft.com/office/drawing/2014/main" id="{FC6D419E-659D-7DD5-1412-B8ABB9859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715000"/>
            <a:ext cx="1752600" cy="6096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FFF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33B5999-4C22-126E-C162-9CE0ED2CC8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E9618C0-51B5-6A86-192A-A74C70A15A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B64776C0-E132-4443-A9D1-6D74DAF26076}" type="slidenum">
              <a:rPr lang="en-US" altLang="en-US"/>
              <a:pPr/>
              <a:t>67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20618444-9D96-D8FF-9B95-ADA6B8ABA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Individual Variables</a:t>
            </a:r>
            <a:br>
              <a:rPr lang="en-US" altLang="en-US"/>
            </a:br>
            <a:r>
              <a:rPr lang="en-US" altLang="en-US"/>
              <a:t>Tests of Hypothesis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496606B5-2DE3-914E-CE58-6A40CB3F895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04800" y="2971800"/>
            <a:ext cx="2209800" cy="106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/>
              <a:t>d.f. = 15 - 2 - 1 = 12</a:t>
            </a:r>
          </a:p>
          <a:p>
            <a:pPr>
              <a:spcBef>
                <a:spcPct val="50000"/>
              </a:spcBef>
              <a:buFont typeface="Symbol" panose="05050102010706020507" pitchFamily="18" charset="2"/>
              <a:buChar char="a"/>
            </a:pPr>
            <a:r>
              <a:rPr lang="en-US" altLang="en-US" sz="1600" b="1">
                <a:sym typeface="Symbol" panose="05050102010706020507" pitchFamily="18" charset="2"/>
              </a:rPr>
              <a:t> = .05</a:t>
            </a:r>
          </a:p>
          <a:p>
            <a:pPr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en-US" sz="1600" b="1">
                <a:sym typeface="Symbol" panose="05050102010706020507" pitchFamily="18" charset="2"/>
              </a:rPr>
              <a:t>t</a:t>
            </a:r>
            <a:r>
              <a:rPr lang="en-US" altLang="en-US" sz="1600" b="1" baseline="-25000">
                <a:sym typeface="Symbol" panose="05050102010706020507" pitchFamily="18" charset="2"/>
              </a:rPr>
              <a:t>/2 </a:t>
            </a:r>
            <a:r>
              <a:rPr lang="en-US" altLang="en-US" sz="1600" b="1">
                <a:sym typeface="Symbol" panose="05050102010706020507" pitchFamily="18" charset="2"/>
              </a:rPr>
              <a:t>= 2.1788</a:t>
            </a:r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60D0B9CD-89C4-1E85-DAD6-EAF2F39F629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1752600" cy="1066800"/>
          </a:xfrm>
          <a:solidFill>
            <a:schemeClr val="accent1"/>
          </a:solidFill>
          <a:ln/>
          <a:extLst>
            <a:ext uri="{91240B29-F687-4F45-9708-019B960494DF}">
              <a14:hiddenLine xmlns:a14="http://schemas.microsoft.com/office/drawing/2010/main" w="2857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H</a:t>
            </a:r>
            <a:r>
              <a:rPr lang="en-US" altLang="en-US" sz="2400" baseline="-25000"/>
              <a:t>0</a:t>
            </a:r>
            <a:r>
              <a:rPr lang="en-US" altLang="en-US" sz="2400"/>
              <a:t>: </a:t>
            </a:r>
            <a:r>
              <a:rPr lang="el-GR" altLang="en-US" sz="2400"/>
              <a:t>β</a:t>
            </a:r>
            <a:r>
              <a:rPr lang="en-US" altLang="en-US" sz="2400" baseline="-25000"/>
              <a:t>j</a:t>
            </a:r>
            <a:r>
              <a:rPr lang="en-US" altLang="en-US" sz="2400"/>
              <a:t> = 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H</a:t>
            </a:r>
            <a:r>
              <a:rPr lang="en-US" altLang="en-US" sz="2400" baseline="-25000"/>
              <a:t>1</a:t>
            </a:r>
            <a:r>
              <a:rPr lang="en-US" altLang="en-US" sz="2400"/>
              <a:t>: </a:t>
            </a:r>
            <a:r>
              <a:rPr lang="el-GR" altLang="en-US" sz="2400"/>
              <a:t>β</a:t>
            </a:r>
            <a:r>
              <a:rPr lang="en-US" altLang="en-US" sz="2400" baseline="-25000"/>
              <a:t>j</a:t>
            </a:r>
            <a:r>
              <a:rPr lang="en-US" altLang="en-US" sz="2400"/>
              <a:t> </a:t>
            </a:r>
            <a:r>
              <a:rPr lang="en-US" altLang="en-US" sz="2400">
                <a:cs typeface="Times New Roman" panose="02020603050405020304" pitchFamily="18" charset="0"/>
              </a:rPr>
              <a:t>≠</a:t>
            </a:r>
            <a:r>
              <a:rPr lang="en-US" altLang="en-US" sz="2400"/>
              <a:t> 0</a:t>
            </a: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9158C8A2-E767-5967-CB0F-3034E3AD1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124200"/>
            <a:ext cx="5562600" cy="838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65188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8088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The test statistic for each variable falls in the rejection region (p-values &lt; .05)</a:t>
            </a:r>
            <a:endParaRPr lang="en-US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7" name="Rectangle 7">
            <a:extLst>
              <a:ext uri="{FF2B5EF4-FFF2-40B4-BE49-F238E27FC236}">
                <a16:creationId xmlns:a16="http://schemas.microsoft.com/office/drawing/2014/main" id="{6A545C0A-3166-298C-4219-8EC01BEA6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410200"/>
            <a:ext cx="4191000" cy="698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There is evidence that both Price and Advertising affect pie sales at </a:t>
            </a:r>
            <a:r>
              <a:rPr lang="en-US" altLang="en-US" sz="2000" b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en-US" sz="2000">
                <a:latin typeface="Times New Roman" panose="02020603050405020304" pitchFamily="18" charset="0"/>
                <a:sym typeface="Symbol" panose="05050102010706020507" pitchFamily="18" charset="2"/>
              </a:rPr>
              <a:t> = .05</a:t>
            </a:r>
          </a:p>
        </p:txBody>
      </p:sp>
      <p:sp>
        <p:nvSpPr>
          <p:cNvPr id="51209" name="Rectangle 9">
            <a:extLst>
              <a:ext uri="{FF2B5EF4-FFF2-40B4-BE49-F238E27FC236}">
                <a16:creationId xmlns:a16="http://schemas.microsoft.com/office/drawing/2014/main" id="{4559871D-8721-C890-903F-20AEB7078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72000"/>
            <a:ext cx="3971925" cy="393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Reject H</a:t>
            </a:r>
            <a:r>
              <a:rPr lang="en-US" altLang="en-US" sz="2000" baseline="-25000">
                <a:latin typeface="Times New Roman" panose="02020603050405020304" pitchFamily="18" charset="0"/>
              </a:rPr>
              <a:t>0 </a:t>
            </a:r>
            <a:r>
              <a:rPr lang="en-US" altLang="en-US" sz="2000">
                <a:latin typeface="Times New Roman" panose="02020603050405020304" pitchFamily="18" charset="0"/>
              </a:rPr>
              <a:t>for each variable</a:t>
            </a:r>
          </a:p>
        </p:txBody>
      </p:sp>
      <p:graphicFrame>
        <p:nvGraphicFramePr>
          <p:cNvPr id="51210" name="Group 10">
            <a:extLst>
              <a:ext uri="{FF2B5EF4-FFF2-40B4-BE49-F238E27FC236}">
                <a16:creationId xmlns:a16="http://schemas.microsoft.com/office/drawing/2014/main" id="{F81CCCF6-A837-7F41-41AF-74302624A692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1905000"/>
          <a:ext cx="640080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97393217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44173939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58112429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3101081622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41326056"/>
                    </a:ext>
                  </a:extLst>
                </a:gridCol>
              </a:tblGrid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 Stat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P-value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148441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-24.97509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10.83213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-2.30565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0.03979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51780"/>
                  </a:ext>
                </a:extLst>
              </a:tr>
              <a:tr h="27305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Advertising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74.13096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25.96732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2.85478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0.01449</a:t>
                      </a:r>
                      <a:endParaRPr kumimoji="0" lang="en-US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95059"/>
                  </a:ext>
                </a:extLst>
              </a:tr>
            </a:tbl>
          </a:graphicData>
        </a:graphic>
      </p:graphicFrame>
      <p:sp>
        <p:nvSpPr>
          <p:cNvPr id="51236" name="Rectangle 36">
            <a:extLst>
              <a:ext uri="{FF2B5EF4-FFF2-40B4-BE49-F238E27FC236}">
                <a16:creationId xmlns:a16="http://schemas.microsoft.com/office/drawing/2014/main" id="{970812E1-3EAA-86EC-AEB6-0D45B41BF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114800"/>
            <a:ext cx="4572000" cy="137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Decision: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Conclusion:</a:t>
            </a:r>
          </a:p>
        </p:txBody>
      </p:sp>
      <p:sp>
        <p:nvSpPr>
          <p:cNvPr id="51239" name="Text Box 39">
            <a:extLst>
              <a:ext uri="{FF2B5EF4-FFF2-40B4-BE49-F238E27FC236}">
                <a16:creationId xmlns:a16="http://schemas.microsoft.com/office/drawing/2014/main" id="{DF68087B-AA46-284A-6CD7-DEBBCA88A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715000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EB4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400"/>
              <a:t>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51240" name="Text Box 40">
            <a:extLst>
              <a:ext uri="{FF2B5EF4-FFF2-40B4-BE49-F238E27FC236}">
                <a16:creationId xmlns:a16="http://schemas.microsoft.com/office/drawing/2014/main" id="{47471885-6EF0-99CF-F91B-756ACFC9F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715000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EB4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400"/>
              <a:t>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51241" name="Freeform 41">
            <a:extLst>
              <a:ext uri="{FF2B5EF4-FFF2-40B4-BE49-F238E27FC236}">
                <a16:creationId xmlns:a16="http://schemas.microsoft.com/office/drawing/2014/main" id="{98FDE903-6EFB-476D-9284-B980734A2263}"/>
              </a:ext>
            </a:extLst>
          </p:cNvPr>
          <p:cNvSpPr>
            <a:spLocks/>
          </p:cNvSpPr>
          <p:nvPr/>
        </p:nvSpPr>
        <p:spPr bwMode="auto">
          <a:xfrm>
            <a:off x="2814638" y="4927600"/>
            <a:ext cx="850900" cy="561975"/>
          </a:xfrm>
          <a:custGeom>
            <a:avLst/>
            <a:gdLst>
              <a:gd name="T0" fmla="*/ 536 w 536"/>
              <a:gd name="T1" fmla="*/ 351 h 354"/>
              <a:gd name="T2" fmla="*/ 535 w 536"/>
              <a:gd name="T3" fmla="*/ 312 h 354"/>
              <a:gd name="T4" fmla="*/ 315 w 536"/>
              <a:gd name="T5" fmla="*/ 273 h 354"/>
              <a:gd name="T6" fmla="*/ 188 w 536"/>
              <a:gd name="T7" fmla="*/ 208 h 354"/>
              <a:gd name="T8" fmla="*/ 117 w 536"/>
              <a:gd name="T9" fmla="*/ 153 h 354"/>
              <a:gd name="T10" fmla="*/ 3 w 536"/>
              <a:gd name="T11" fmla="*/ 0 h 354"/>
              <a:gd name="T12" fmla="*/ 0 w 536"/>
              <a:gd name="T13" fmla="*/ 354 h 354"/>
              <a:gd name="T14" fmla="*/ 527 w 536"/>
              <a:gd name="T15" fmla="*/ 351 h 354"/>
              <a:gd name="T16" fmla="*/ 527 w 536"/>
              <a:gd name="T17" fmla="*/ 347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36" h="354">
                <a:moveTo>
                  <a:pt x="536" y="351"/>
                </a:moveTo>
                <a:lnTo>
                  <a:pt x="535" y="312"/>
                </a:lnTo>
                <a:lnTo>
                  <a:pt x="315" y="273"/>
                </a:lnTo>
                <a:lnTo>
                  <a:pt x="188" y="208"/>
                </a:lnTo>
                <a:lnTo>
                  <a:pt x="117" y="153"/>
                </a:lnTo>
                <a:lnTo>
                  <a:pt x="3" y="0"/>
                </a:lnTo>
                <a:lnTo>
                  <a:pt x="0" y="354"/>
                </a:lnTo>
                <a:lnTo>
                  <a:pt x="527" y="351"/>
                </a:lnTo>
                <a:lnTo>
                  <a:pt x="527" y="347"/>
                </a:lnTo>
              </a:path>
            </a:pathLst>
          </a:cu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66FFFF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42" name="Freeform 42">
            <a:extLst>
              <a:ext uri="{FF2B5EF4-FFF2-40B4-BE49-F238E27FC236}">
                <a16:creationId xmlns:a16="http://schemas.microsoft.com/office/drawing/2014/main" id="{12834924-778F-A79F-E9A1-98FECB075C8C}"/>
              </a:ext>
            </a:extLst>
          </p:cNvPr>
          <p:cNvSpPr>
            <a:spLocks/>
          </p:cNvSpPr>
          <p:nvPr/>
        </p:nvSpPr>
        <p:spPr bwMode="auto">
          <a:xfrm>
            <a:off x="517525" y="4994275"/>
            <a:ext cx="854075" cy="495300"/>
          </a:xfrm>
          <a:custGeom>
            <a:avLst/>
            <a:gdLst>
              <a:gd name="T0" fmla="*/ 0 w 538"/>
              <a:gd name="T1" fmla="*/ 312 h 312"/>
              <a:gd name="T2" fmla="*/ 0 w 538"/>
              <a:gd name="T3" fmla="*/ 267 h 312"/>
              <a:gd name="T4" fmla="*/ 219 w 538"/>
              <a:gd name="T5" fmla="*/ 235 h 312"/>
              <a:gd name="T6" fmla="*/ 330 w 538"/>
              <a:gd name="T7" fmla="*/ 190 h 312"/>
              <a:gd name="T8" fmla="*/ 403 w 538"/>
              <a:gd name="T9" fmla="*/ 141 h 312"/>
              <a:gd name="T10" fmla="*/ 537 w 538"/>
              <a:gd name="T11" fmla="*/ 0 h 312"/>
              <a:gd name="T12" fmla="*/ 538 w 538"/>
              <a:gd name="T13" fmla="*/ 309 h 312"/>
              <a:gd name="T14" fmla="*/ 18 w 538"/>
              <a:gd name="T15" fmla="*/ 309 h 312"/>
              <a:gd name="T16" fmla="*/ 18 w 538"/>
              <a:gd name="T17" fmla="*/ 305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38" h="312">
                <a:moveTo>
                  <a:pt x="0" y="312"/>
                </a:moveTo>
                <a:lnTo>
                  <a:pt x="0" y="267"/>
                </a:lnTo>
                <a:lnTo>
                  <a:pt x="219" y="235"/>
                </a:lnTo>
                <a:lnTo>
                  <a:pt x="330" y="190"/>
                </a:lnTo>
                <a:lnTo>
                  <a:pt x="403" y="141"/>
                </a:lnTo>
                <a:lnTo>
                  <a:pt x="537" y="0"/>
                </a:lnTo>
                <a:lnTo>
                  <a:pt x="538" y="309"/>
                </a:lnTo>
                <a:lnTo>
                  <a:pt x="18" y="309"/>
                </a:lnTo>
                <a:lnTo>
                  <a:pt x="18" y="305"/>
                </a:lnTo>
              </a:path>
            </a:pathLst>
          </a:cu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66FFFF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43" name="Freeform 43">
            <a:extLst>
              <a:ext uri="{FF2B5EF4-FFF2-40B4-BE49-F238E27FC236}">
                <a16:creationId xmlns:a16="http://schemas.microsoft.com/office/drawing/2014/main" id="{9C9D81FB-82C5-D088-EA31-D144A645EA66}"/>
              </a:ext>
            </a:extLst>
          </p:cNvPr>
          <p:cNvSpPr>
            <a:spLocks/>
          </p:cNvSpPr>
          <p:nvPr/>
        </p:nvSpPr>
        <p:spPr bwMode="auto">
          <a:xfrm>
            <a:off x="533400" y="4114800"/>
            <a:ext cx="1600200" cy="1295400"/>
          </a:xfrm>
          <a:custGeom>
            <a:avLst/>
            <a:gdLst>
              <a:gd name="T0" fmla="*/ 0 w 600"/>
              <a:gd name="T1" fmla="*/ 575 h 576"/>
              <a:gd name="T2" fmla="*/ 63 w 600"/>
              <a:gd name="T3" fmla="*/ 570 h 576"/>
              <a:gd name="T4" fmla="*/ 95 w 600"/>
              <a:gd name="T5" fmla="*/ 562 h 576"/>
              <a:gd name="T6" fmla="*/ 127 w 600"/>
              <a:gd name="T7" fmla="*/ 553 h 576"/>
              <a:gd name="T8" fmla="*/ 158 w 600"/>
              <a:gd name="T9" fmla="*/ 540 h 576"/>
              <a:gd name="T10" fmla="*/ 190 w 600"/>
              <a:gd name="T11" fmla="*/ 521 h 576"/>
              <a:gd name="T12" fmla="*/ 222 w 600"/>
              <a:gd name="T13" fmla="*/ 498 h 576"/>
              <a:gd name="T14" fmla="*/ 284 w 600"/>
              <a:gd name="T15" fmla="*/ 432 h 576"/>
              <a:gd name="T16" fmla="*/ 347 w 600"/>
              <a:gd name="T17" fmla="*/ 338 h 576"/>
              <a:gd name="T18" fmla="*/ 410 w 600"/>
              <a:gd name="T19" fmla="*/ 224 h 576"/>
              <a:gd name="T20" fmla="*/ 441 w 600"/>
              <a:gd name="T21" fmla="*/ 167 h 576"/>
              <a:gd name="T22" fmla="*/ 473 w 600"/>
              <a:gd name="T23" fmla="*/ 114 h 576"/>
              <a:gd name="T24" fmla="*/ 505 w 600"/>
              <a:gd name="T25" fmla="*/ 67 h 576"/>
              <a:gd name="T26" fmla="*/ 535 w 600"/>
              <a:gd name="T27" fmla="*/ 31 h 576"/>
              <a:gd name="T28" fmla="*/ 567 w 600"/>
              <a:gd name="T29" fmla="*/ 8 h 576"/>
              <a:gd name="T30" fmla="*/ 599 w 600"/>
              <a:gd name="T31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00" h="576">
                <a:moveTo>
                  <a:pt x="0" y="575"/>
                </a:moveTo>
                <a:lnTo>
                  <a:pt x="63" y="570"/>
                </a:lnTo>
                <a:lnTo>
                  <a:pt x="95" y="562"/>
                </a:lnTo>
                <a:lnTo>
                  <a:pt x="127" y="553"/>
                </a:lnTo>
                <a:lnTo>
                  <a:pt x="158" y="540"/>
                </a:lnTo>
                <a:lnTo>
                  <a:pt x="190" y="521"/>
                </a:lnTo>
                <a:lnTo>
                  <a:pt x="222" y="498"/>
                </a:lnTo>
                <a:lnTo>
                  <a:pt x="284" y="432"/>
                </a:lnTo>
                <a:lnTo>
                  <a:pt x="347" y="338"/>
                </a:lnTo>
                <a:lnTo>
                  <a:pt x="410" y="224"/>
                </a:lnTo>
                <a:lnTo>
                  <a:pt x="441" y="167"/>
                </a:lnTo>
                <a:lnTo>
                  <a:pt x="473" y="114"/>
                </a:lnTo>
                <a:lnTo>
                  <a:pt x="505" y="67"/>
                </a:lnTo>
                <a:lnTo>
                  <a:pt x="535" y="31"/>
                </a:lnTo>
                <a:lnTo>
                  <a:pt x="567" y="8"/>
                </a:lnTo>
                <a:lnTo>
                  <a:pt x="599" y="0"/>
                </a:lnTo>
              </a:path>
            </a:pathLst>
          </a:custGeom>
          <a:noFill/>
          <a:ln w="508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44" name="Freeform 44">
            <a:extLst>
              <a:ext uri="{FF2B5EF4-FFF2-40B4-BE49-F238E27FC236}">
                <a16:creationId xmlns:a16="http://schemas.microsoft.com/office/drawing/2014/main" id="{DB02DB63-020B-6168-87CC-536B096865D9}"/>
              </a:ext>
            </a:extLst>
          </p:cNvPr>
          <p:cNvSpPr>
            <a:spLocks/>
          </p:cNvSpPr>
          <p:nvPr/>
        </p:nvSpPr>
        <p:spPr bwMode="auto">
          <a:xfrm>
            <a:off x="2133600" y="4114800"/>
            <a:ext cx="1524000" cy="1295400"/>
          </a:xfrm>
          <a:custGeom>
            <a:avLst/>
            <a:gdLst>
              <a:gd name="T0" fmla="*/ 575 w 576"/>
              <a:gd name="T1" fmla="*/ 575 h 576"/>
              <a:gd name="T2" fmla="*/ 515 w 576"/>
              <a:gd name="T3" fmla="*/ 570 h 576"/>
              <a:gd name="T4" fmla="*/ 484 w 576"/>
              <a:gd name="T5" fmla="*/ 562 h 576"/>
              <a:gd name="T6" fmla="*/ 455 w 576"/>
              <a:gd name="T7" fmla="*/ 553 h 576"/>
              <a:gd name="T8" fmla="*/ 424 w 576"/>
              <a:gd name="T9" fmla="*/ 540 h 576"/>
              <a:gd name="T10" fmla="*/ 393 w 576"/>
              <a:gd name="T11" fmla="*/ 521 h 576"/>
              <a:gd name="T12" fmla="*/ 364 w 576"/>
              <a:gd name="T13" fmla="*/ 498 h 576"/>
              <a:gd name="T14" fmla="*/ 303 w 576"/>
              <a:gd name="T15" fmla="*/ 432 h 576"/>
              <a:gd name="T16" fmla="*/ 242 w 576"/>
              <a:gd name="T17" fmla="*/ 338 h 576"/>
              <a:gd name="T18" fmla="*/ 182 w 576"/>
              <a:gd name="T19" fmla="*/ 224 h 576"/>
              <a:gd name="T20" fmla="*/ 151 w 576"/>
              <a:gd name="T21" fmla="*/ 167 h 576"/>
              <a:gd name="T22" fmla="*/ 120 w 576"/>
              <a:gd name="T23" fmla="*/ 114 h 576"/>
              <a:gd name="T24" fmla="*/ 91 w 576"/>
              <a:gd name="T25" fmla="*/ 67 h 576"/>
              <a:gd name="T26" fmla="*/ 60 w 576"/>
              <a:gd name="T27" fmla="*/ 31 h 576"/>
              <a:gd name="T28" fmla="*/ 30 w 576"/>
              <a:gd name="T29" fmla="*/ 8 h 576"/>
              <a:gd name="T30" fmla="*/ 0 w 576"/>
              <a:gd name="T31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76" h="576">
                <a:moveTo>
                  <a:pt x="575" y="575"/>
                </a:moveTo>
                <a:lnTo>
                  <a:pt x="515" y="570"/>
                </a:lnTo>
                <a:lnTo>
                  <a:pt x="484" y="562"/>
                </a:lnTo>
                <a:lnTo>
                  <a:pt x="455" y="553"/>
                </a:lnTo>
                <a:lnTo>
                  <a:pt x="424" y="540"/>
                </a:lnTo>
                <a:lnTo>
                  <a:pt x="393" y="521"/>
                </a:lnTo>
                <a:lnTo>
                  <a:pt x="364" y="498"/>
                </a:lnTo>
                <a:lnTo>
                  <a:pt x="303" y="432"/>
                </a:lnTo>
                <a:lnTo>
                  <a:pt x="242" y="338"/>
                </a:lnTo>
                <a:lnTo>
                  <a:pt x="182" y="224"/>
                </a:lnTo>
                <a:lnTo>
                  <a:pt x="151" y="167"/>
                </a:lnTo>
                <a:lnTo>
                  <a:pt x="120" y="114"/>
                </a:lnTo>
                <a:lnTo>
                  <a:pt x="91" y="67"/>
                </a:lnTo>
                <a:lnTo>
                  <a:pt x="60" y="31"/>
                </a:lnTo>
                <a:lnTo>
                  <a:pt x="30" y="8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45" name="Line 45">
            <a:extLst>
              <a:ext uri="{FF2B5EF4-FFF2-40B4-BE49-F238E27FC236}">
                <a16:creationId xmlns:a16="http://schemas.microsoft.com/office/drawing/2014/main" id="{A448A55A-4CE9-71A7-C3DD-70CA8057CC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5486400"/>
            <a:ext cx="320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46" name="Line 46">
            <a:extLst>
              <a:ext uri="{FF2B5EF4-FFF2-40B4-BE49-F238E27FC236}">
                <a16:creationId xmlns:a16="http://schemas.microsoft.com/office/drawing/2014/main" id="{04CBC6C0-85BE-71CB-46D6-2DFEA59FD3C8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953000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47" name="Rectangle 47">
            <a:extLst>
              <a:ext uri="{FF2B5EF4-FFF2-40B4-BE49-F238E27FC236}">
                <a16:creationId xmlns:a16="http://schemas.microsoft.com/office/drawing/2014/main" id="{DDBC2B0E-C2C1-C4BA-32CC-58F7845BA8F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1000" y="4648200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latin typeface="Symbol" panose="05050102010706020507" pitchFamily="18" charset="2"/>
              </a:rPr>
              <a:t>a</a:t>
            </a:r>
            <a:r>
              <a:rPr lang="en-US" altLang="en-US" sz="1600"/>
              <a:t>/2=.025</a:t>
            </a:r>
          </a:p>
        </p:txBody>
      </p:sp>
      <p:sp>
        <p:nvSpPr>
          <p:cNvPr id="51248" name="Line 48">
            <a:extLst>
              <a:ext uri="{FF2B5EF4-FFF2-40B4-BE49-F238E27FC236}">
                <a16:creationId xmlns:a16="http://schemas.microsoft.com/office/drawing/2014/main" id="{657BD5FF-FEC5-4A42-F232-0CEE510CF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114800"/>
            <a:ext cx="0" cy="1371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49" name="Line 49">
            <a:extLst>
              <a:ext uri="{FF2B5EF4-FFF2-40B4-BE49-F238E27FC236}">
                <a16:creationId xmlns:a16="http://schemas.microsoft.com/office/drawing/2014/main" id="{3239A4F9-7E21-9782-6473-E80629EC6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5626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50" name="Text Box 50">
            <a:extLst>
              <a:ext uri="{FF2B5EF4-FFF2-40B4-BE49-F238E27FC236}">
                <a16:creationId xmlns:a16="http://schemas.microsoft.com/office/drawing/2014/main" id="{A3B9BE52-6797-B723-002E-33432DFA9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7912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-t</a:t>
            </a:r>
            <a:r>
              <a:rPr lang="el-GR" altLang="en-US" sz="2000" baseline="-25000">
                <a:cs typeface="Arial" panose="020B0604020202020204" pitchFamily="34" charset="0"/>
              </a:rPr>
              <a:t>α</a:t>
            </a:r>
            <a:r>
              <a:rPr lang="en-US" altLang="en-US" sz="2000" baseline="-25000">
                <a:cs typeface="Arial" panose="020B0604020202020204" pitchFamily="34" charset="0"/>
              </a:rPr>
              <a:t>/2</a:t>
            </a:r>
            <a:endParaRPr lang="el-GR" altLang="en-US" sz="2000" baseline="-25000">
              <a:cs typeface="Arial" panose="020B0604020202020204" pitchFamily="34" charset="0"/>
            </a:endParaRPr>
          </a:p>
        </p:txBody>
      </p:sp>
      <p:sp>
        <p:nvSpPr>
          <p:cNvPr id="51251" name="Line 51">
            <a:extLst>
              <a:ext uri="{FF2B5EF4-FFF2-40B4-BE49-F238E27FC236}">
                <a16:creationId xmlns:a16="http://schemas.microsoft.com/office/drawing/2014/main" id="{A4F5F472-D552-F9BB-A023-89A2C853A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715000"/>
            <a:ext cx="1447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52" name="Text Box 52">
            <a:extLst>
              <a:ext uri="{FF2B5EF4-FFF2-40B4-BE49-F238E27FC236}">
                <a16:creationId xmlns:a16="http://schemas.microsoft.com/office/drawing/2014/main" id="{61D5C48D-8698-8F7D-E9C2-83E9AC9E8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715000"/>
            <a:ext cx="152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400"/>
              <a:t>Do not reject H</a:t>
            </a:r>
            <a:r>
              <a:rPr lang="en-US" altLang="en-US" sz="1400" baseline="-25000"/>
              <a:t>0</a:t>
            </a:r>
          </a:p>
        </p:txBody>
      </p:sp>
      <p:sp>
        <p:nvSpPr>
          <p:cNvPr id="51253" name="Line 53">
            <a:extLst>
              <a:ext uri="{FF2B5EF4-FFF2-40B4-BE49-F238E27FC236}">
                <a16:creationId xmlns:a16="http://schemas.microsoft.com/office/drawing/2014/main" id="{7C2E7572-60E4-37FA-F120-FEACFC1E8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57150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54" name="Text Box 54">
            <a:extLst>
              <a:ext uri="{FF2B5EF4-FFF2-40B4-BE49-F238E27FC236}">
                <a16:creationId xmlns:a16="http://schemas.microsoft.com/office/drawing/2014/main" id="{A03ADBE6-80EF-EE83-B12E-69116D8E2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9436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/>
              <a:t>0</a:t>
            </a:r>
            <a:endParaRPr lang="el-GR" altLang="en-US" baseline="-25000">
              <a:cs typeface="Arial" panose="020B0604020202020204" pitchFamily="34" charset="0"/>
            </a:endParaRPr>
          </a:p>
        </p:txBody>
      </p:sp>
      <p:sp>
        <p:nvSpPr>
          <p:cNvPr id="51255" name="Text Box 55">
            <a:extLst>
              <a:ext uri="{FF2B5EF4-FFF2-40B4-BE49-F238E27FC236}">
                <a16:creationId xmlns:a16="http://schemas.microsoft.com/office/drawing/2014/main" id="{BD44CE40-58A6-EF1A-B528-F880DEAA4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791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t</a:t>
            </a:r>
            <a:r>
              <a:rPr lang="el-GR" altLang="en-US" sz="2000" baseline="-25000">
                <a:cs typeface="Arial" panose="020B0604020202020204" pitchFamily="34" charset="0"/>
              </a:rPr>
              <a:t>α</a:t>
            </a:r>
            <a:r>
              <a:rPr lang="en-US" altLang="en-US" sz="2000" baseline="-25000">
                <a:cs typeface="Arial" panose="020B0604020202020204" pitchFamily="34" charset="0"/>
              </a:rPr>
              <a:t>/2</a:t>
            </a:r>
            <a:endParaRPr lang="el-GR" altLang="en-US" sz="2000" baseline="-25000">
              <a:cs typeface="Arial" panose="020B0604020202020204" pitchFamily="34" charset="0"/>
            </a:endParaRPr>
          </a:p>
        </p:txBody>
      </p:sp>
      <p:sp>
        <p:nvSpPr>
          <p:cNvPr id="51256" name="Line 56">
            <a:extLst>
              <a:ext uri="{FF2B5EF4-FFF2-40B4-BE49-F238E27FC236}">
                <a16:creationId xmlns:a16="http://schemas.microsoft.com/office/drawing/2014/main" id="{78A36C4D-0D33-36B2-2AF3-52A569994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5626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57" name="Freeform 57">
            <a:extLst>
              <a:ext uri="{FF2B5EF4-FFF2-40B4-BE49-F238E27FC236}">
                <a16:creationId xmlns:a16="http://schemas.microsoft.com/office/drawing/2014/main" id="{C5ABDB95-5F69-303E-C82C-C4955A4A5257}"/>
              </a:ext>
            </a:extLst>
          </p:cNvPr>
          <p:cNvSpPr>
            <a:spLocks/>
          </p:cNvSpPr>
          <p:nvPr/>
        </p:nvSpPr>
        <p:spPr bwMode="auto">
          <a:xfrm>
            <a:off x="2971800" y="4922838"/>
            <a:ext cx="204788" cy="411162"/>
          </a:xfrm>
          <a:custGeom>
            <a:avLst/>
            <a:gdLst>
              <a:gd name="T0" fmla="*/ 48 w 48"/>
              <a:gd name="T1" fmla="*/ 0 h 249"/>
              <a:gd name="T2" fmla="*/ 0 w 48"/>
              <a:gd name="T3" fmla="*/ 249 h 24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8" h="249">
                <a:moveTo>
                  <a:pt x="48" y="0"/>
                </a:moveTo>
                <a:lnTo>
                  <a:pt x="0" y="249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58" name="Rectangle 58">
            <a:extLst>
              <a:ext uri="{FF2B5EF4-FFF2-40B4-BE49-F238E27FC236}">
                <a16:creationId xmlns:a16="http://schemas.microsoft.com/office/drawing/2014/main" id="{7D095473-90D5-BA00-C518-81B47EB4442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95600" y="4648200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latin typeface="Symbol" panose="05050102010706020507" pitchFamily="18" charset="2"/>
              </a:rPr>
              <a:t>a</a:t>
            </a:r>
            <a:r>
              <a:rPr lang="en-US" altLang="en-US" sz="1600"/>
              <a:t>/2=.025</a:t>
            </a:r>
          </a:p>
        </p:txBody>
      </p:sp>
      <p:sp>
        <p:nvSpPr>
          <p:cNvPr id="51261" name="Line 61">
            <a:extLst>
              <a:ext uri="{FF2B5EF4-FFF2-40B4-BE49-F238E27FC236}">
                <a16:creationId xmlns:a16="http://schemas.microsoft.com/office/drawing/2014/main" id="{48481FC7-7B53-3A9B-0023-67BC29993D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715000"/>
            <a:ext cx="1371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51262" name="Oval 62">
            <a:extLst>
              <a:ext uri="{FF2B5EF4-FFF2-40B4-BE49-F238E27FC236}">
                <a16:creationId xmlns:a16="http://schemas.microsoft.com/office/drawing/2014/main" id="{8E15EAF9-5E0A-092C-9E4F-295D88A0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828800"/>
            <a:ext cx="1066800" cy="1219200"/>
          </a:xfrm>
          <a:prstGeom prst="ellips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63" name="Oval 63">
            <a:extLst>
              <a:ext uri="{FF2B5EF4-FFF2-40B4-BE49-F238E27FC236}">
                <a16:creationId xmlns:a16="http://schemas.microsoft.com/office/drawing/2014/main" id="{530B7B32-5F04-C800-D239-DD4847B41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1752600"/>
            <a:ext cx="1066800" cy="1295400"/>
          </a:xfrm>
          <a:prstGeom prst="ellips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B19DD33-1B9B-9769-304B-89AAAAF660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E6CA4C4-369E-CA19-EA39-0786A13837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C0DADB14-A283-442D-9A7A-66BD3484CA4C}" type="slidenum">
              <a:rPr lang="en-US" altLang="en-US"/>
              <a:pPr/>
              <a:t>68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C06751C6-0965-6A75-91B3-AB3C15C42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Confidence Interval Estimate </a:t>
            </a:r>
            <a:br>
              <a:rPr lang="en-US" altLang="en-US"/>
            </a:br>
            <a:r>
              <a:rPr lang="en-US" altLang="en-US"/>
              <a:t>for the Slope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6B945B11-E392-4D6B-919B-41445ED96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752600"/>
            <a:ext cx="73136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Confidence interval for the population slope </a:t>
            </a:r>
            <a:r>
              <a:rPr lang="el-GR" altLang="en-US" sz="2400">
                <a:latin typeface="Times New Roman" panose="02020603050405020304" pitchFamily="18" charset="0"/>
                <a:cs typeface="Arial" panose="020B0604020202020204" pitchFamily="34" charset="0"/>
              </a:rPr>
              <a:t>β</a:t>
            </a:r>
            <a:r>
              <a:rPr lang="en-US" altLang="en-US" sz="2400" baseline="-25000">
                <a:latin typeface="Times New Roman" panose="02020603050405020304" pitchFamily="18" charset="0"/>
              </a:rPr>
              <a:t>i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9B150DE8-E353-C8F5-A982-100865F24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800600"/>
            <a:ext cx="7696200" cy="1155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Example:</a:t>
            </a:r>
            <a:r>
              <a:rPr lang="en-US" altLang="en-US" sz="2000">
                <a:latin typeface="Times New Roman" panose="02020603050405020304" pitchFamily="18" charset="0"/>
              </a:rPr>
              <a:t> Form a 95% confidence interval for the effect of changes in price (X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) on pie sales, holding constant the effects of advertising:</a:t>
            </a:r>
          </a:p>
          <a:p>
            <a:pPr algn="ctr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-24.975 </a:t>
            </a:r>
            <a:r>
              <a:rPr lang="en-US" altLang="en-US" sz="2000">
                <a:latin typeface="Times New Roman" panose="02020603050405020304" pitchFamily="18" charset="0"/>
                <a:cs typeface="Arial" panose="020B0604020202020204" pitchFamily="34" charset="0"/>
              </a:rPr>
              <a:t>± (2.1788)(10.832):  So the interval is  (-48.576,  -1.374)</a:t>
            </a:r>
          </a:p>
        </p:txBody>
      </p:sp>
      <p:graphicFrame>
        <p:nvGraphicFramePr>
          <p:cNvPr id="52230" name="Object 6">
            <a:extLst>
              <a:ext uri="{FF2B5EF4-FFF2-40B4-BE49-F238E27FC236}">
                <a16:creationId xmlns:a16="http://schemas.microsoft.com/office/drawing/2014/main" id="{448F45D5-8D90-5E2F-8B9A-7254EFE5E5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2286000"/>
          <a:ext cx="238918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241200" progId="Equation.3">
                  <p:embed/>
                </p:oleObj>
              </mc:Choice>
              <mc:Fallback>
                <p:oleObj name="Equation" r:id="rId2" imgW="774360" imgH="241200" progId="Equation.3">
                  <p:embed/>
                  <p:pic>
                    <p:nvPicPr>
                      <p:cNvPr id="52230" name="Object 6">
                        <a:extLst>
                          <a:ext uri="{FF2B5EF4-FFF2-40B4-BE49-F238E27FC236}">
                            <a16:creationId xmlns:a16="http://schemas.microsoft.com/office/drawing/2014/main" id="{448F45D5-8D90-5E2F-8B9A-7254EFE5E5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286000"/>
                        <a:ext cx="2389188" cy="7397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0" name="Group 36">
            <a:extLst>
              <a:ext uri="{FF2B5EF4-FFF2-40B4-BE49-F238E27FC236}">
                <a16:creationId xmlns:a16="http://schemas.microsoft.com/office/drawing/2014/main" id="{E71ADC18-69CF-B724-9DB8-42219D16EDDA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3276600"/>
          <a:ext cx="4265613" cy="1212852"/>
        </p:xfrm>
        <a:graphic>
          <a:graphicData uri="http://schemas.openxmlformats.org/drawingml/2006/table">
            <a:tbl>
              <a:tblPr/>
              <a:tblGrid>
                <a:gridCol w="1706563">
                  <a:extLst>
                    <a:ext uri="{9D8B030D-6E8A-4147-A177-3AD203B41FA5}">
                      <a16:colId xmlns:a16="http://schemas.microsoft.com/office/drawing/2014/main" val="1950244053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3831108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199542197"/>
                    </a:ext>
                  </a:extLst>
                </a:gridCol>
              </a:tblGrid>
              <a:tr h="3032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721528"/>
                  </a:ext>
                </a:extLst>
              </a:tr>
              <a:tr h="3032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306.52619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114.25389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088303"/>
                  </a:ext>
                </a:extLst>
              </a:tr>
              <a:tr h="3032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-24.97509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10.83213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80435"/>
                  </a:ext>
                </a:extLst>
              </a:tr>
              <a:tr h="3032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Advertising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74.13096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25.96732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85643"/>
                  </a:ext>
                </a:extLst>
              </a:tr>
            </a:tbl>
          </a:graphicData>
        </a:graphic>
      </p:graphicFrame>
      <p:sp>
        <p:nvSpPr>
          <p:cNvPr id="52257" name="Text Box 33">
            <a:extLst>
              <a:ext uri="{FF2B5EF4-FFF2-40B4-BE49-F238E27FC236}">
                <a16:creationId xmlns:a16="http://schemas.microsoft.com/office/drawing/2014/main" id="{8CC200BB-FB8A-F633-AFD4-8A593ECA5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43840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/>
              <a:t>where t has 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altLang="en-US" sz="2000"/>
              <a:t>   (n – k – 1) d.f.</a:t>
            </a:r>
          </a:p>
        </p:txBody>
      </p:sp>
      <p:sp>
        <p:nvSpPr>
          <p:cNvPr id="52258" name="AutoShape 34">
            <a:extLst>
              <a:ext uri="{FF2B5EF4-FFF2-40B4-BE49-F238E27FC236}">
                <a16:creationId xmlns:a16="http://schemas.microsoft.com/office/drawing/2014/main" id="{5D769B8F-DFBC-04A3-A239-06109837400F}"/>
              </a:ext>
            </a:extLst>
          </p:cNvPr>
          <p:cNvSpPr>
            <a:spLocks noChangeArrowheads="1"/>
          </p:cNvSpPr>
          <p:nvPr/>
        </p:nvSpPr>
        <p:spPr bwMode="auto">
          <a:xfrm rot="7173994">
            <a:off x="5657850" y="4248150"/>
            <a:ext cx="511175" cy="39687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2259" name="Text Box 35">
            <a:extLst>
              <a:ext uri="{FF2B5EF4-FFF2-40B4-BE49-F238E27FC236}">
                <a16:creationId xmlns:a16="http://schemas.microsoft.com/office/drawing/2014/main" id="{85DCA015-F0BA-56D7-1964-CCF92E527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581400"/>
            <a:ext cx="2667000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30000"/>
              </a:spcBef>
            </a:pPr>
            <a:r>
              <a:rPr lang="en-US" altLang="en-US" sz="2000"/>
              <a:t>Here,  t has    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en-US" sz="2000"/>
              <a:t>(15 – 2 – 1) = 12  d.f.</a:t>
            </a:r>
          </a:p>
        </p:txBody>
      </p:sp>
      <p:sp>
        <p:nvSpPr>
          <p:cNvPr id="52261" name="Oval 37">
            <a:extLst>
              <a:ext uri="{FF2B5EF4-FFF2-40B4-BE49-F238E27FC236}">
                <a16:creationId xmlns:a16="http://schemas.microsoft.com/office/drawing/2014/main" id="{DEE4944E-DE44-E628-B7A8-0197789AC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810000"/>
            <a:ext cx="2667000" cy="457200"/>
          </a:xfrm>
          <a:prstGeom prst="ellipse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EAF6BAC-7B63-CE13-6707-163B79B495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E5E48B8-BFCF-3AB7-2F7E-5E05E017A7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666F4C2E-B560-405F-A710-7CE1B57AFDAF}" type="slidenum">
              <a:rPr lang="en-US" altLang="en-US"/>
              <a:pPr/>
              <a:t>69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3533A125-E19F-F298-4D77-86AA3B718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Confidence Interval Estimate </a:t>
            </a:r>
            <a:br>
              <a:rPr lang="en-US" altLang="en-US"/>
            </a:br>
            <a:r>
              <a:rPr lang="en-US" altLang="en-US"/>
              <a:t>for the Slope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D412ACEC-2942-CEB9-7055-1EDA24792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09800"/>
            <a:ext cx="73136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Confidence interval for the population slope </a:t>
            </a:r>
            <a:r>
              <a:rPr lang="el-GR" altLang="en-US" sz="2400">
                <a:latin typeface="Times New Roman" panose="02020603050405020304" pitchFamily="18" charset="0"/>
                <a:cs typeface="Arial" panose="020B0604020202020204" pitchFamily="34" charset="0"/>
              </a:rPr>
              <a:t>β</a:t>
            </a:r>
            <a:r>
              <a:rPr lang="en-US" altLang="en-US" sz="2400" baseline="-25000">
                <a:latin typeface="Times New Roman" panose="02020603050405020304" pitchFamily="18" charset="0"/>
              </a:rPr>
              <a:t>i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29871AF8-567D-9A31-F7C3-F40FE0D0B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572000"/>
            <a:ext cx="7696200" cy="1460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Example:</a:t>
            </a:r>
            <a:r>
              <a:rPr lang="en-US" altLang="en-US" sz="2000">
                <a:latin typeface="Times New Roman" panose="02020603050405020304" pitchFamily="18" charset="0"/>
              </a:rPr>
              <a:t> Excel output also reports these interval endpoints:</a:t>
            </a:r>
          </a:p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Weekly sales are estimated to be reduced by between 1.37 to 48.58 pies for each increase of $1 in the selling price, holding constant the effects of advertising.</a:t>
            </a:r>
          </a:p>
        </p:txBody>
      </p:sp>
      <p:graphicFrame>
        <p:nvGraphicFramePr>
          <p:cNvPr id="53299" name="Group 51">
            <a:extLst>
              <a:ext uri="{FF2B5EF4-FFF2-40B4-BE49-F238E27FC236}">
                <a16:creationId xmlns:a16="http://schemas.microsoft.com/office/drawing/2014/main" id="{80FA6252-8A48-2348-730D-104815962214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130550"/>
          <a:ext cx="7239000" cy="1212852"/>
        </p:xfrm>
        <a:graphic>
          <a:graphicData uri="http://schemas.openxmlformats.org/drawingml/2006/table">
            <a:tbl>
              <a:tblPr/>
              <a:tblGrid>
                <a:gridCol w="1706563">
                  <a:extLst>
                    <a:ext uri="{9D8B030D-6E8A-4147-A177-3AD203B41FA5}">
                      <a16:colId xmlns:a16="http://schemas.microsoft.com/office/drawing/2014/main" val="911331475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142473782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123077510"/>
                    </a:ext>
                  </a:extLst>
                </a:gridCol>
                <a:gridCol w="534987">
                  <a:extLst>
                    <a:ext uri="{9D8B030D-6E8A-4147-A177-3AD203B41FA5}">
                      <a16:colId xmlns:a16="http://schemas.microsoft.com/office/drawing/2014/main" val="28402404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570509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59524811"/>
                    </a:ext>
                  </a:extLst>
                </a:gridCol>
              </a:tblGrid>
              <a:tr h="3032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Coefficients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Standard Error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Lower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Upper 95%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725086"/>
                  </a:ext>
                </a:extLst>
              </a:tr>
              <a:tr h="3032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Intercept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306.52619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114.25389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57.58835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555.46404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019525"/>
                  </a:ext>
                </a:extLst>
              </a:tr>
              <a:tr h="3032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-24.97509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10.83213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-48.57626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-1.37392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45201"/>
                  </a:ext>
                </a:extLst>
              </a:tr>
              <a:tr h="3032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Advertising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74.13096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25.96732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17.55303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852488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130.70888</a:t>
                      </a:r>
                      <a:endParaRPr kumimoji="0" lang="en-US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483125"/>
                  </a:ext>
                </a:extLst>
              </a:tr>
            </a:tbl>
          </a:graphicData>
        </a:graphic>
      </p:graphicFrame>
      <p:sp>
        <p:nvSpPr>
          <p:cNvPr id="53297" name="Oval 49">
            <a:extLst>
              <a:ext uri="{FF2B5EF4-FFF2-40B4-BE49-F238E27FC236}">
                <a16:creationId xmlns:a16="http://schemas.microsoft.com/office/drawing/2014/main" id="{E2109AD9-2F93-5ACA-C4A0-A410343ED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663950"/>
            <a:ext cx="2667000" cy="457200"/>
          </a:xfrm>
          <a:prstGeom prst="ellipse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3300" name="AutoShape 52">
            <a:extLst>
              <a:ext uri="{FF2B5EF4-FFF2-40B4-BE49-F238E27FC236}">
                <a16:creationId xmlns:a16="http://schemas.microsoft.com/office/drawing/2014/main" id="{C166C728-C6F3-0D80-A1DC-6506DE55A1E7}"/>
              </a:ext>
            </a:extLst>
          </p:cNvPr>
          <p:cNvSpPr>
            <a:spLocks noChangeArrowheads="1"/>
          </p:cNvSpPr>
          <p:nvPr/>
        </p:nvSpPr>
        <p:spPr bwMode="auto">
          <a:xfrm rot="7173994">
            <a:off x="8401050" y="4095750"/>
            <a:ext cx="511175" cy="39687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2E26E9C-9AB5-6669-0738-C3EBFC79A0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C94B616-1F21-D7A2-718C-32470BDF8D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C4E57AD4-2880-450C-B75A-59DF2BDA48E6}" type="slidenum">
              <a:rPr lang="en-US" altLang="en-US"/>
              <a:pPr/>
              <a:t>70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C70AC9E2-6BBD-61B0-7CC5-64A8ABC03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Dummy Variables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E130552F-A536-C754-5DA0-E720FACF1F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981200"/>
            <a:ext cx="7010400" cy="3810000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altLang="en-US"/>
              <a:t>A dummy variable is a categorical independent variable with two levels:</a:t>
            </a:r>
          </a:p>
          <a:p>
            <a:pPr lvl="1"/>
            <a:r>
              <a:rPr lang="en-US" altLang="en-US"/>
              <a:t>yes or no, on or off, male or female</a:t>
            </a:r>
          </a:p>
          <a:p>
            <a:pPr lvl="1"/>
            <a:r>
              <a:rPr lang="en-US" altLang="en-US"/>
              <a:t>coded as 0 or 1</a:t>
            </a:r>
          </a:p>
          <a:p>
            <a:r>
              <a:rPr lang="en-US" altLang="en-US"/>
              <a:t>Assumes equal slopes for other variables</a:t>
            </a:r>
          </a:p>
          <a:p>
            <a:r>
              <a:rPr lang="en-US" altLang="en-US"/>
              <a:t>If more than two levels, the number of dummy variables needed is (number of levels - 1)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E6ED173-862E-D4F9-9321-A3479A0647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6E9F946-D1BB-D07B-728A-E47CF18C63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F2165223-ADF6-4096-AE36-900E94C7C986}" type="slidenum">
              <a:rPr lang="en-US" altLang="en-US"/>
              <a:pPr/>
              <a:t>71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807817CB-5C28-0EE8-CE04-BA071916B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Dummy Variable Example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C067DAC2-52FC-A444-CFCB-F282D847F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48000"/>
            <a:ext cx="7924800" cy="280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Let: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Y  = pie sales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X</a:t>
            </a:r>
            <a:r>
              <a:rPr lang="en-US" altLang="en-US" sz="2800" baseline="-25000">
                <a:latin typeface="Times New Roman" panose="02020603050405020304" pitchFamily="18" charset="0"/>
              </a:rPr>
              <a:t>1 </a:t>
            </a:r>
            <a:r>
              <a:rPr lang="en-US" altLang="en-US" sz="2800">
                <a:latin typeface="Times New Roman" panose="02020603050405020304" pitchFamily="18" charset="0"/>
              </a:rPr>
              <a:t>= price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X</a:t>
            </a:r>
            <a:r>
              <a:rPr lang="en-US" altLang="en-US" sz="2800" baseline="-25000">
                <a:latin typeface="Times New Roman" panose="02020603050405020304" pitchFamily="18" charset="0"/>
              </a:rPr>
              <a:t>2</a:t>
            </a:r>
            <a:r>
              <a:rPr lang="en-US" altLang="en-US" sz="2800">
                <a:latin typeface="Times New Roman" panose="02020603050405020304" pitchFamily="18" charset="0"/>
              </a:rPr>
              <a:t> = holiday</a:t>
            </a:r>
            <a:r>
              <a:rPr lang="en-US" altLang="en-US" sz="2400">
                <a:latin typeface="Times New Roman" panose="02020603050405020304" pitchFamily="18" charset="0"/>
              </a:rPr>
              <a:t>  (X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  <a:r>
              <a:rPr lang="en-US" altLang="en-US" sz="2400">
                <a:latin typeface="Times New Roman" panose="02020603050405020304" pitchFamily="18" charset="0"/>
              </a:rPr>
              <a:t> = 1 if a holiday occurred during the week) 		   (X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  <a:r>
              <a:rPr lang="en-US" altLang="en-US" sz="2400">
                <a:latin typeface="Times New Roman" panose="02020603050405020304" pitchFamily="18" charset="0"/>
              </a:rPr>
              <a:t> = 0 if there was no holiday that week)</a:t>
            </a:r>
            <a:endParaRPr lang="en-US" altLang="en-US" sz="2900">
              <a:latin typeface="Times New Roman" panose="02020603050405020304" pitchFamily="18" charset="0"/>
            </a:endParaRPr>
          </a:p>
        </p:txBody>
      </p:sp>
      <p:graphicFrame>
        <p:nvGraphicFramePr>
          <p:cNvPr id="64517" name="Object 5">
            <a:extLst>
              <a:ext uri="{FF2B5EF4-FFF2-40B4-BE49-F238E27FC236}">
                <a16:creationId xmlns:a16="http://schemas.microsoft.com/office/drawing/2014/main" id="{D265E9FC-17FD-2907-783E-954AFDE320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5138" y="2057400"/>
          <a:ext cx="34861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53800" progId="Equation.3">
                  <p:embed/>
                </p:oleObj>
              </mc:Choice>
              <mc:Fallback>
                <p:oleObj name="Equation" r:id="rId2" imgW="1295280" imgH="253800" progId="Equation.3">
                  <p:embed/>
                  <p:pic>
                    <p:nvPicPr>
                      <p:cNvPr id="64517" name="Object 5">
                        <a:extLst>
                          <a:ext uri="{FF2B5EF4-FFF2-40B4-BE49-F238E27FC236}">
                            <a16:creationId xmlns:a16="http://schemas.microsoft.com/office/drawing/2014/main" id="{D265E9FC-17FD-2907-783E-954AFDE320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38" y="2057400"/>
                        <a:ext cx="3486150" cy="6794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F424AC3-A564-3A2B-FC32-001F8FB19D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AAC7C4A-2E36-0D67-F866-34EB30B0CA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B2B03C47-303A-46C7-9335-290D6A25EE69}" type="slidenum">
              <a:rPr lang="en-US" altLang="en-US"/>
              <a:pPr/>
              <a:t>72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6C63DBD2-6DFD-8C3B-692E-796B46F3A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Dummy Variable Example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5D4A0F14-CBE4-D2AA-92EA-A58B51BA2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362200"/>
            <a:ext cx="8229600" cy="609600"/>
          </a:xfrm>
          <a:prstGeom prst="rect">
            <a:avLst/>
          </a:prstGeom>
          <a:solidFill>
            <a:srgbClr val="C7DAF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5E408414-8431-2FBA-45CF-F7BBC2FB6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52600"/>
            <a:ext cx="82296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F8966555-AA0F-FC5C-CF39-F1225AE15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775" y="3048000"/>
            <a:ext cx="10668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solidFill>
                  <a:schemeClr val="bg2"/>
                </a:solidFill>
              </a:rPr>
              <a:t>Same slope</a:t>
            </a:r>
          </a:p>
        </p:txBody>
      </p:sp>
      <p:sp>
        <p:nvSpPr>
          <p:cNvPr id="65543" name="Line 7">
            <a:extLst>
              <a:ext uri="{FF2B5EF4-FFF2-40B4-BE49-F238E27FC236}">
                <a16:creationId xmlns:a16="http://schemas.microsoft.com/office/drawing/2014/main" id="{7662D0A4-F643-4C4C-CFD8-0AA43977E0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3540125"/>
            <a:ext cx="0" cy="251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544" name="Line 8">
            <a:extLst>
              <a:ext uri="{FF2B5EF4-FFF2-40B4-BE49-F238E27FC236}">
                <a16:creationId xmlns:a16="http://schemas.microsoft.com/office/drawing/2014/main" id="{B0E0A597-792D-754C-C719-2C63CCD65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5888" y="6054725"/>
            <a:ext cx="45132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545" name="Line 9">
            <a:extLst>
              <a:ext uri="{FF2B5EF4-FFF2-40B4-BE49-F238E27FC236}">
                <a16:creationId xmlns:a16="http://schemas.microsoft.com/office/drawing/2014/main" id="{1B1F6CFF-7961-81DB-AF91-316CD8F8C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4149725"/>
            <a:ext cx="3581400" cy="11430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546" name="Rectangle 10">
            <a:extLst>
              <a:ext uri="{FF2B5EF4-FFF2-40B4-BE49-F238E27FC236}">
                <a16:creationId xmlns:a16="http://schemas.microsoft.com/office/drawing/2014/main" id="{10BA86E2-5912-6FAC-E08F-C6BBC961E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6019800"/>
            <a:ext cx="14446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 (Price)</a:t>
            </a:r>
          </a:p>
        </p:txBody>
      </p:sp>
      <p:sp>
        <p:nvSpPr>
          <p:cNvPr id="65547" name="Rectangle 11">
            <a:extLst>
              <a:ext uri="{FF2B5EF4-FFF2-40B4-BE49-F238E27FC236}">
                <a16:creationId xmlns:a16="http://schemas.microsoft.com/office/drawing/2014/main" id="{0B291264-3267-712F-7D9F-EC253824E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3159125"/>
            <a:ext cx="14478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/>
              <a:t>Y (sales)</a:t>
            </a:r>
          </a:p>
        </p:txBody>
      </p:sp>
      <p:sp>
        <p:nvSpPr>
          <p:cNvPr id="65548" name="Rectangle 12">
            <a:extLst>
              <a:ext uri="{FF2B5EF4-FFF2-40B4-BE49-F238E27FC236}">
                <a16:creationId xmlns:a16="http://schemas.microsoft.com/office/drawing/2014/main" id="{8862D4D6-F27E-0323-9BAF-91FE26C99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3844925"/>
            <a:ext cx="12160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b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0</a:t>
            </a:r>
            <a:r>
              <a:rPr lang="en-US" altLang="en-US" sz="2400" b="1">
                <a:latin typeface="Times New Roman" panose="02020603050405020304" pitchFamily="18" charset="0"/>
              </a:rPr>
              <a:t> + b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5549" name="Rectangle 13">
            <a:extLst>
              <a:ext uri="{FF2B5EF4-FFF2-40B4-BE49-F238E27FC236}">
                <a16:creationId xmlns:a16="http://schemas.microsoft.com/office/drawing/2014/main" id="{E2F1D0E8-C3BA-B220-8C20-C55D4B391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4457700"/>
            <a:ext cx="6064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b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0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5550" name="Object 14">
            <a:extLst>
              <a:ext uri="{FF2B5EF4-FFF2-40B4-BE49-F238E27FC236}">
                <a16:creationId xmlns:a16="http://schemas.microsoft.com/office/drawing/2014/main" id="{8BF1E304-1810-6658-D680-093CFED1CA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752600"/>
          <a:ext cx="624522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3480" imgH="482400" progId="Equation.3">
                  <p:embed/>
                </p:oleObj>
              </mc:Choice>
              <mc:Fallback>
                <p:oleObj name="Equation" r:id="rId2" imgW="2463480" imgH="482400" progId="Equation.3">
                  <p:embed/>
                  <p:pic>
                    <p:nvPicPr>
                      <p:cNvPr id="65550" name="Object 14">
                        <a:extLst>
                          <a:ext uri="{FF2B5EF4-FFF2-40B4-BE49-F238E27FC236}">
                            <a16:creationId xmlns:a16="http://schemas.microsoft.com/office/drawing/2014/main" id="{8BF1E304-1810-6658-D680-093CFED1CA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752600"/>
                        <a:ext cx="6245225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1" name="Rectangle 15">
            <a:extLst>
              <a:ext uri="{FF2B5EF4-FFF2-40B4-BE49-F238E27FC236}">
                <a16:creationId xmlns:a16="http://schemas.microsoft.com/office/drawing/2014/main" id="{B313842E-C974-16CA-9958-EB7FACC43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1828800"/>
            <a:ext cx="1520825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Holiday</a:t>
            </a:r>
          </a:p>
          <a:p>
            <a:pPr>
              <a:lnSpc>
                <a:spcPct val="170000"/>
              </a:lnSpc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No Holiday</a:t>
            </a:r>
          </a:p>
        </p:txBody>
      </p:sp>
      <p:sp>
        <p:nvSpPr>
          <p:cNvPr id="65552" name="Rectangle 16">
            <a:extLst>
              <a:ext uri="{FF2B5EF4-FFF2-40B4-BE49-F238E27FC236}">
                <a16:creationId xmlns:a16="http://schemas.microsoft.com/office/drawing/2014/main" id="{5CA7BC99-3820-F74C-7481-4A2139CBA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3048000"/>
            <a:ext cx="13716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solidFill>
                  <a:schemeClr val="bg2"/>
                </a:solidFill>
              </a:rPr>
              <a:t>Different intercept</a:t>
            </a:r>
          </a:p>
        </p:txBody>
      </p:sp>
      <p:sp>
        <p:nvSpPr>
          <p:cNvPr id="65553" name="Rectangle 17">
            <a:extLst>
              <a:ext uri="{FF2B5EF4-FFF2-40B4-BE49-F238E27FC236}">
                <a16:creationId xmlns:a16="http://schemas.microsoft.com/office/drawing/2014/main" id="{E2659EB1-7326-BC47-3CA2-09C03DB76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676400"/>
            <a:ext cx="1524000" cy="13716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554" name="Rectangle 18">
            <a:extLst>
              <a:ext uri="{FF2B5EF4-FFF2-40B4-BE49-F238E27FC236}">
                <a16:creationId xmlns:a16="http://schemas.microsoft.com/office/drawing/2014/main" id="{850AF502-0227-C4E5-27CB-A12B11450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600200"/>
            <a:ext cx="381000" cy="15240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555" name="Line 19">
            <a:extLst>
              <a:ext uri="{FF2B5EF4-FFF2-40B4-BE49-F238E27FC236}">
                <a16:creationId xmlns:a16="http://schemas.microsoft.com/office/drawing/2014/main" id="{1DAB85C3-4242-CD56-36A7-2E132EFB49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4835525"/>
            <a:ext cx="3581400" cy="114300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556" name="Rectangle 20">
            <a:extLst>
              <a:ext uri="{FF2B5EF4-FFF2-40B4-BE49-F238E27FC236}">
                <a16:creationId xmlns:a16="http://schemas.microsoft.com/office/drawing/2014/main" id="{98918E2C-DDE9-3E0F-B3B5-8F9270C94ED5}"/>
              </a:ext>
            </a:extLst>
          </p:cNvPr>
          <p:cNvSpPr>
            <a:spLocks noChangeArrowheads="1"/>
          </p:cNvSpPr>
          <p:nvPr/>
        </p:nvSpPr>
        <p:spPr bwMode="auto">
          <a:xfrm rot="22570924">
            <a:off x="2286000" y="4343400"/>
            <a:ext cx="24653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Holiday (X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en-US" sz="2400" b="1">
                <a:latin typeface="Times New Roman" panose="02020603050405020304" pitchFamily="18" charset="0"/>
              </a:rPr>
              <a:t> = 1)</a:t>
            </a:r>
          </a:p>
        </p:txBody>
      </p:sp>
      <p:sp>
        <p:nvSpPr>
          <p:cNvPr id="65557" name="Rectangle 21">
            <a:extLst>
              <a:ext uri="{FF2B5EF4-FFF2-40B4-BE49-F238E27FC236}">
                <a16:creationId xmlns:a16="http://schemas.microsoft.com/office/drawing/2014/main" id="{1F10AD93-5967-B42B-EF4F-AB9F57AA6761}"/>
              </a:ext>
            </a:extLst>
          </p:cNvPr>
          <p:cNvSpPr>
            <a:spLocks noChangeArrowheads="1"/>
          </p:cNvSpPr>
          <p:nvPr/>
        </p:nvSpPr>
        <p:spPr bwMode="auto">
          <a:xfrm rot="22570924">
            <a:off x="2120900" y="5045075"/>
            <a:ext cx="31226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No Holiday (X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en-US" sz="2400" b="1">
                <a:latin typeface="Times New Roman" panose="02020603050405020304" pitchFamily="18" charset="0"/>
              </a:rPr>
              <a:t> = 0)</a:t>
            </a:r>
          </a:p>
        </p:txBody>
      </p:sp>
      <p:sp>
        <p:nvSpPr>
          <p:cNvPr id="65558" name="Rectangle 22">
            <a:extLst>
              <a:ext uri="{FF2B5EF4-FFF2-40B4-BE49-F238E27FC236}">
                <a16:creationId xmlns:a16="http://schemas.microsoft.com/office/drawing/2014/main" id="{B310D30C-EDB2-04F1-2D48-A7415A936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962400"/>
            <a:ext cx="2514600" cy="19891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15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If  H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  <a:r>
              <a:rPr lang="en-US" altLang="en-US" sz="2400">
                <a:latin typeface="Times New Roman" panose="02020603050405020304" pitchFamily="18" charset="0"/>
              </a:rPr>
              <a:t>: </a:t>
            </a:r>
            <a:r>
              <a:rPr lang="el-GR" altLang="en-US" sz="2400">
                <a:latin typeface="Times New Roman" panose="02020603050405020304" pitchFamily="18" charset="0"/>
                <a:cs typeface="Arial" panose="020B0604020202020204" pitchFamily="34" charset="0"/>
              </a:rPr>
              <a:t>β</a:t>
            </a:r>
            <a:r>
              <a:rPr lang="en-US" altLang="en-US" sz="2400" baseline="-2500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sz="2400">
                <a:latin typeface="Times New Roman" panose="02020603050405020304" pitchFamily="18" charset="0"/>
                <a:cs typeface="Arial" panose="020B0604020202020204" pitchFamily="34" charset="0"/>
              </a:rPr>
              <a:t> = 0  is rejected, then</a:t>
            </a:r>
          </a:p>
          <a:p>
            <a:pPr>
              <a:spcBef>
                <a:spcPct val="15000"/>
              </a:spcBef>
            </a:pPr>
            <a:r>
              <a:rPr lang="en-US" altLang="en-US" sz="2400">
                <a:latin typeface="Times New Roman" panose="02020603050405020304" pitchFamily="18" charset="0"/>
                <a:cs typeface="Arial" panose="020B0604020202020204" pitchFamily="34" charset="0"/>
              </a:rPr>
              <a:t>“Holiday” has a significant effect on pie sales</a:t>
            </a:r>
            <a:endParaRPr lang="el-GR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4768520-272B-C4FC-AA42-50910FF3FA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2A831F2-340E-3E1A-F61B-FBD279C85C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dirty="0"/>
              <a:t> -</a:t>
            </a:r>
            <a:fld id="{84458E9E-2469-4A82-B650-21BDADBAEF19}" type="slidenum">
              <a:rPr lang="en-US" altLang="en-US"/>
              <a:pPr/>
              <a:t>73</a:t>
            </a:fld>
            <a:endParaRPr lang="en-US" altLang="en-US" dirty="0"/>
          </a:p>
          <a:p>
            <a:endParaRPr lang="en-US" altLang="en-US" dirty="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4AD54A7D-35D7-AA76-E0F2-1E654892F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Dummy Variable Example</a:t>
            </a:r>
          </a:p>
        </p:txBody>
      </p:sp>
      <p:sp>
        <p:nvSpPr>
          <p:cNvPr id="66564" name="Text Box 4">
            <a:extLst>
              <a:ext uri="{FF2B5EF4-FFF2-40B4-BE49-F238E27FC236}">
                <a16:creationId xmlns:a16="http://schemas.microsoft.com/office/drawing/2014/main" id="{9D782713-64C8-2315-CE20-BA5848D35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439988"/>
            <a:ext cx="53149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>
                <a:latin typeface="Times New Roman" panose="02020603050405020304" pitchFamily="18" charset="0"/>
              </a:rPr>
              <a:t>Sales: number of pies sold per week</a:t>
            </a:r>
          </a:p>
          <a:p>
            <a:r>
              <a:rPr lang="en-US" altLang="en-US" sz="2800">
                <a:latin typeface="Times New Roman" panose="02020603050405020304" pitchFamily="18" charset="0"/>
              </a:rPr>
              <a:t>Price:  pie price in $</a:t>
            </a:r>
          </a:p>
          <a:p>
            <a:endParaRPr lang="en-US" altLang="en-US" sz="2800">
              <a:latin typeface="Times New Roman" panose="02020603050405020304" pitchFamily="18" charset="0"/>
            </a:endParaRPr>
          </a:p>
          <a:p>
            <a:r>
              <a:rPr lang="en-US" altLang="en-US" sz="2800">
                <a:latin typeface="Times New Roman" panose="02020603050405020304" pitchFamily="18" charset="0"/>
              </a:rPr>
              <a:t>Holiday:</a:t>
            </a:r>
          </a:p>
        </p:txBody>
      </p:sp>
      <p:sp>
        <p:nvSpPr>
          <p:cNvPr id="66565" name="Text Box 5">
            <a:extLst>
              <a:ext uri="{FF2B5EF4-FFF2-40B4-BE49-F238E27FC236}">
                <a16:creationId xmlns:a16="http://schemas.microsoft.com/office/drawing/2014/main" id="{95D45462-2127-BA13-C1DE-E8FC2DA6B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17526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sz="2400"/>
          </a:p>
        </p:txBody>
      </p:sp>
      <p:sp>
        <p:nvSpPr>
          <p:cNvPr id="66567" name="Text Box 7">
            <a:extLst>
              <a:ext uri="{FF2B5EF4-FFF2-40B4-BE49-F238E27FC236}">
                <a16:creationId xmlns:a16="http://schemas.microsoft.com/office/drawing/2014/main" id="{7F53B423-D8F9-0F41-6E80-68FB9E714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263" y="3455988"/>
            <a:ext cx="5888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>
                <a:latin typeface="Times New Roman" panose="02020603050405020304" pitchFamily="18" charset="0"/>
              </a:rPr>
              <a:t>1  If a holiday occurred during the week</a:t>
            </a:r>
          </a:p>
        </p:txBody>
      </p:sp>
      <p:sp>
        <p:nvSpPr>
          <p:cNvPr id="66568" name="Text Box 8">
            <a:extLst>
              <a:ext uri="{FF2B5EF4-FFF2-40B4-BE49-F238E27FC236}">
                <a16:creationId xmlns:a16="http://schemas.microsoft.com/office/drawing/2014/main" id="{D5DA406C-8E0D-C771-E5D2-ECC9D317E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263" y="3913188"/>
            <a:ext cx="370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>
                <a:latin typeface="Times New Roman" panose="02020603050405020304" pitchFamily="18" charset="0"/>
              </a:rPr>
              <a:t>0  If no holiday occurred</a:t>
            </a:r>
          </a:p>
        </p:txBody>
      </p:sp>
      <p:sp>
        <p:nvSpPr>
          <p:cNvPr id="66569" name="Text Box 9">
            <a:extLst>
              <a:ext uri="{FF2B5EF4-FFF2-40B4-BE49-F238E27FC236}">
                <a16:creationId xmlns:a16="http://schemas.microsoft.com/office/drawing/2014/main" id="{8A4CE03C-6839-F3B7-36E8-223EB13D4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648200"/>
            <a:ext cx="8321675" cy="13731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800">
                <a:latin typeface="Times New Roman" panose="02020603050405020304" pitchFamily="18" charset="0"/>
              </a:rPr>
              <a:t>b</a:t>
            </a:r>
            <a:r>
              <a:rPr lang="en-US" altLang="en-US" sz="2800" baseline="-25000">
                <a:latin typeface="Times New Roman" panose="02020603050405020304" pitchFamily="18" charset="0"/>
              </a:rPr>
              <a:t>2</a:t>
            </a:r>
            <a:r>
              <a:rPr lang="en-US" altLang="en-US" sz="2800">
                <a:latin typeface="Times New Roman" panose="02020603050405020304" pitchFamily="18" charset="0"/>
              </a:rPr>
              <a:t> = 15: on average, sales were 15 pies greater in weeks with a holiday than in weeks without a holiday, given the same price</a:t>
            </a:r>
          </a:p>
        </p:txBody>
      </p:sp>
      <p:sp>
        <p:nvSpPr>
          <p:cNvPr id="66570" name="AutoShape 10">
            <a:extLst>
              <a:ext uri="{FF2B5EF4-FFF2-40B4-BE49-F238E27FC236}">
                <a16:creationId xmlns:a16="http://schemas.microsoft.com/office/drawing/2014/main" id="{5CCC4C04-EE3E-C78B-E28E-CCCF66436C8D}"/>
              </a:ext>
            </a:extLst>
          </p:cNvPr>
          <p:cNvSpPr>
            <a:spLocks/>
          </p:cNvSpPr>
          <p:nvPr/>
        </p:nvSpPr>
        <p:spPr bwMode="auto">
          <a:xfrm>
            <a:off x="2278063" y="3582988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graphicFrame>
        <p:nvGraphicFramePr>
          <p:cNvPr id="66571" name="Object 11">
            <a:extLst>
              <a:ext uri="{FF2B5EF4-FFF2-40B4-BE49-F238E27FC236}">
                <a16:creationId xmlns:a16="http://schemas.microsoft.com/office/drawing/2014/main" id="{3DD79AE6-E4B1-AC02-65C3-D09EB5B99A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828800"/>
          <a:ext cx="64008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203040" progId="Equation.3">
                  <p:embed/>
                </p:oleObj>
              </mc:Choice>
              <mc:Fallback>
                <p:oleObj name="Equation" r:id="rId2" imgW="2476440" imgH="203040" progId="Equation.3">
                  <p:embed/>
                  <p:pic>
                    <p:nvPicPr>
                      <p:cNvPr id="66571" name="Object 11">
                        <a:extLst>
                          <a:ext uri="{FF2B5EF4-FFF2-40B4-BE49-F238E27FC236}">
                            <a16:creationId xmlns:a16="http://schemas.microsoft.com/office/drawing/2014/main" id="{3DD79AE6-E4B1-AC02-65C3-D09EB5B99A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28800"/>
                        <a:ext cx="6400800" cy="5270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ascade">
  <a:themeElements>
    <a:clrScheme name="Cascade 9">
      <a:dk1>
        <a:srgbClr val="000000"/>
      </a:dk1>
      <a:lt1>
        <a:srgbClr val="FFFFFF"/>
      </a:lt1>
      <a:dk2>
        <a:srgbClr val="1C1C34"/>
      </a:dk2>
      <a:lt2>
        <a:srgbClr val="000066"/>
      </a:lt2>
      <a:accent1>
        <a:srgbClr val="DDDDDD"/>
      </a:accent1>
      <a:accent2>
        <a:srgbClr val="6699CC"/>
      </a:accent2>
      <a:accent3>
        <a:srgbClr val="FFFFFF"/>
      </a:accent3>
      <a:accent4>
        <a:srgbClr val="000000"/>
      </a:accent4>
      <a:accent5>
        <a:srgbClr val="EBEBEB"/>
      </a:accent5>
      <a:accent6>
        <a:srgbClr val="5C8AB9"/>
      </a:accent6>
      <a:hlink>
        <a:srgbClr val="005A58"/>
      </a:hlink>
      <a:folHlink>
        <a:srgbClr val="808000"/>
      </a:folHlink>
    </a:clrScheme>
    <a:fontScheme name="Cascade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ascade 1">
        <a:dk1>
          <a:srgbClr val="C0C0C0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5C5C8A"/>
        </a:accent6>
        <a:hlink>
          <a:srgbClr val="FFFF99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scade 2">
        <a:dk1>
          <a:srgbClr val="CC99FF"/>
        </a:dk1>
        <a:lt1>
          <a:srgbClr val="FFFFFF"/>
        </a:lt1>
        <a:dk2>
          <a:srgbClr val="400040"/>
        </a:dk2>
        <a:lt2>
          <a:srgbClr val="FFFFFF"/>
        </a:lt2>
        <a:accent1>
          <a:srgbClr val="FF66FF"/>
        </a:accent1>
        <a:accent2>
          <a:srgbClr val="CC00CC"/>
        </a:accent2>
        <a:accent3>
          <a:srgbClr val="AFAAAF"/>
        </a:accent3>
        <a:accent4>
          <a:srgbClr val="DADADA"/>
        </a:accent4>
        <a:accent5>
          <a:srgbClr val="FFB8FF"/>
        </a:accent5>
        <a:accent6>
          <a:srgbClr val="B900B9"/>
        </a:accent6>
        <a:hlink>
          <a:srgbClr val="FF7C80"/>
        </a:hlink>
        <a:folHlink>
          <a:srgbClr val="99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scade 3">
        <a:dk1>
          <a:srgbClr val="CC99FF"/>
        </a:dk1>
        <a:lt1>
          <a:srgbClr val="FFFFFF"/>
        </a:lt1>
        <a:dk2>
          <a:srgbClr val="34022D"/>
        </a:dk2>
        <a:lt2>
          <a:srgbClr val="FFFFFF"/>
        </a:lt2>
        <a:accent1>
          <a:srgbClr val="775EC8"/>
        </a:accent1>
        <a:accent2>
          <a:srgbClr val="9933FF"/>
        </a:accent2>
        <a:accent3>
          <a:srgbClr val="AEAAAD"/>
        </a:accent3>
        <a:accent4>
          <a:srgbClr val="DADADA"/>
        </a:accent4>
        <a:accent5>
          <a:srgbClr val="BDB6E0"/>
        </a:accent5>
        <a:accent6>
          <a:srgbClr val="8A2DE7"/>
        </a:accent6>
        <a:hlink>
          <a:srgbClr val="993366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scade 4">
        <a:dk1>
          <a:srgbClr val="FFFFCC"/>
        </a:dk1>
        <a:lt1>
          <a:srgbClr val="FFFFFF"/>
        </a:lt1>
        <a:dk2>
          <a:srgbClr val="000066"/>
        </a:dk2>
        <a:lt2>
          <a:srgbClr val="FFFFFF"/>
        </a:lt2>
        <a:accent1>
          <a:srgbClr val="0078F0"/>
        </a:accent1>
        <a:accent2>
          <a:srgbClr val="CCECFF"/>
        </a:accent2>
        <a:accent3>
          <a:srgbClr val="AAAAB8"/>
        </a:accent3>
        <a:accent4>
          <a:srgbClr val="DADADA"/>
        </a:accent4>
        <a:accent5>
          <a:srgbClr val="AABEF6"/>
        </a:accent5>
        <a:accent6>
          <a:srgbClr val="B9D6E7"/>
        </a:accent6>
        <a:hlink>
          <a:srgbClr val="3399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scade 5">
        <a:dk1>
          <a:srgbClr val="00FFFF"/>
        </a:dk1>
        <a:lt1>
          <a:srgbClr val="FFFFFF"/>
        </a:lt1>
        <a:dk2>
          <a:srgbClr val="4E009C"/>
        </a:dk2>
        <a:lt2>
          <a:srgbClr val="FFFFFF"/>
        </a:lt2>
        <a:accent1>
          <a:srgbClr val="00A8A4"/>
        </a:accent1>
        <a:accent2>
          <a:srgbClr val="3399FF"/>
        </a:accent2>
        <a:accent3>
          <a:srgbClr val="B2AACB"/>
        </a:accent3>
        <a:accent4>
          <a:srgbClr val="DADADA"/>
        </a:accent4>
        <a:accent5>
          <a:srgbClr val="AAD1CF"/>
        </a:accent5>
        <a:accent6>
          <a:srgbClr val="2D8A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scade 6">
        <a:dk1>
          <a:srgbClr val="CCCC33"/>
        </a:dk1>
        <a:lt1>
          <a:srgbClr val="FFFFFF"/>
        </a:lt1>
        <a:dk2>
          <a:srgbClr val="003300"/>
        </a:dk2>
        <a:lt2>
          <a:srgbClr val="FFFFCC"/>
        </a:lt2>
        <a:accent1>
          <a:srgbClr val="008000"/>
        </a:accent1>
        <a:accent2>
          <a:srgbClr val="669900"/>
        </a:accent2>
        <a:accent3>
          <a:srgbClr val="AAADAA"/>
        </a:accent3>
        <a:accent4>
          <a:srgbClr val="DADADA"/>
        </a:accent4>
        <a:accent5>
          <a:srgbClr val="AAC0AA"/>
        </a:accent5>
        <a:accent6>
          <a:srgbClr val="5C8A00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scade 7">
        <a:dk1>
          <a:srgbClr val="CCCC99"/>
        </a:dk1>
        <a:lt1>
          <a:srgbClr val="FFFFFF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996633"/>
        </a:accent2>
        <a:accent3>
          <a:srgbClr val="C0AAAA"/>
        </a:accent3>
        <a:accent4>
          <a:srgbClr val="DADADA"/>
        </a:accent4>
        <a:accent5>
          <a:srgbClr val="E2CAAA"/>
        </a:accent5>
        <a:accent6>
          <a:srgbClr val="8A5C2D"/>
        </a:accent6>
        <a:hlink>
          <a:srgbClr val="FFFFCC"/>
        </a:hlink>
        <a:folHlink>
          <a:srgbClr val="DDD8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scade 8">
        <a:dk1>
          <a:srgbClr val="204162"/>
        </a:dk1>
        <a:lt1>
          <a:srgbClr val="FFFFFF"/>
        </a:lt1>
        <a:dk2>
          <a:srgbClr val="204162"/>
        </a:dk2>
        <a:lt2>
          <a:srgbClr val="003300"/>
        </a:lt2>
        <a:accent1>
          <a:srgbClr val="99CC00"/>
        </a:accent1>
        <a:accent2>
          <a:srgbClr val="336633"/>
        </a:accent2>
        <a:accent3>
          <a:srgbClr val="FFFFFF"/>
        </a:accent3>
        <a:accent4>
          <a:srgbClr val="1A3653"/>
        </a:accent4>
        <a:accent5>
          <a:srgbClr val="CAE2AA"/>
        </a:accent5>
        <a:accent6>
          <a:srgbClr val="2D5C2D"/>
        </a:accent6>
        <a:hlink>
          <a:srgbClr val="6666FF"/>
        </a:hlink>
        <a:folHlink>
          <a:srgbClr val="C5C2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scade 9">
        <a:dk1>
          <a:srgbClr val="000000"/>
        </a:dk1>
        <a:lt1>
          <a:srgbClr val="FFFFFF"/>
        </a:lt1>
        <a:dk2>
          <a:srgbClr val="1C1C34"/>
        </a:dk2>
        <a:lt2>
          <a:srgbClr val="000066"/>
        </a:lt2>
        <a:accent1>
          <a:srgbClr val="DDDDDD"/>
        </a:accent1>
        <a:accent2>
          <a:srgbClr val="6699CC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5C8AB9"/>
        </a:accent6>
        <a:hlink>
          <a:srgbClr val="005A58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Cascade</Template>
  <TotalTime>329</TotalTime>
  <Words>4459</Words>
  <Application>Microsoft Office PowerPoint</Application>
  <PresentationFormat>On-screen Show (4:3)</PresentationFormat>
  <Paragraphs>1398</Paragraphs>
  <Slides>73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80" baseType="lpstr">
      <vt:lpstr>Arial</vt:lpstr>
      <vt:lpstr>Times New Roman</vt:lpstr>
      <vt:lpstr>Wingdings</vt:lpstr>
      <vt:lpstr>Symbol</vt:lpstr>
      <vt:lpstr>Cascade</vt:lpstr>
      <vt:lpstr>Microsoft Equation 3.0</vt:lpstr>
      <vt:lpstr>Microsoft Excel Chart</vt:lpstr>
      <vt:lpstr>Statistics for Managers Using Microsoft® Excel  </vt:lpstr>
      <vt:lpstr>Learning Objectives</vt:lpstr>
      <vt:lpstr>Correlation vs. Regression</vt:lpstr>
      <vt:lpstr>Regression Analysis</vt:lpstr>
      <vt:lpstr>Simple Linear Regression Model</vt:lpstr>
      <vt:lpstr>Types of Relationships</vt:lpstr>
      <vt:lpstr>Types of Relationships</vt:lpstr>
      <vt:lpstr>Types of Relationships</vt:lpstr>
      <vt:lpstr>The Linear Regression Model</vt:lpstr>
      <vt:lpstr>The Linear Regression Model</vt:lpstr>
      <vt:lpstr>Linear Regression Equation</vt:lpstr>
      <vt:lpstr>The Least Squares Method</vt:lpstr>
      <vt:lpstr>Finding the Least Squares Equation</vt:lpstr>
      <vt:lpstr>Interpretation of the  Intercept and the Slope</vt:lpstr>
      <vt:lpstr>Linear Regression Example</vt:lpstr>
      <vt:lpstr>Linear Regression Example Data</vt:lpstr>
      <vt:lpstr>Linear Regression Example Scatterplot</vt:lpstr>
      <vt:lpstr>Linear Regression Example Using Excel</vt:lpstr>
      <vt:lpstr>Linear Regression Example Excel Output</vt:lpstr>
      <vt:lpstr>Linear Regression Example Graphical Representation</vt:lpstr>
      <vt:lpstr>Linear Regression Example Interpretation of b0</vt:lpstr>
      <vt:lpstr>Linear Regression Example Interpretation of b1</vt:lpstr>
      <vt:lpstr>Linear Regression Example Making Predictions</vt:lpstr>
      <vt:lpstr>Measures of Variation</vt:lpstr>
      <vt:lpstr>Measures of Variation</vt:lpstr>
      <vt:lpstr>Measures of Variation</vt:lpstr>
      <vt:lpstr>Coefficient of Determination, r2</vt:lpstr>
      <vt:lpstr>Coefficient of Determination, r2</vt:lpstr>
      <vt:lpstr>Coefficient of Determination, r2</vt:lpstr>
      <vt:lpstr>Coefficient of Determination, r2</vt:lpstr>
      <vt:lpstr>Linear Regression Example Coefficient of Determination, r2</vt:lpstr>
      <vt:lpstr>Standard Error of Estimate</vt:lpstr>
      <vt:lpstr>Linear Regression Example Standard Error of Estimate</vt:lpstr>
      <vt:lpstr>Inferences About the Slope:  t Test</vt:lpstr>
      <vt:lpstr>Inferences About the Slope:  t Test Example</vt:lpstr>
      <vt:lpstr>Inferences About the Slope:  t Test Example</vt:lpstr>
      <vt:lpstr>Inferences About the Slope:  t Test Example</vt:lpstr>
      <vt:lpstr>Inferences About the Slope:  t Test Example</vt:lpstr>
      <vt:lpstr>F-Test for Significance</vt:lpstr>
      <vt:lpstr>F-Test for Significance Excel Output</vt:lpstr>
      <vt:lpstr>F-Test for Significance</vt:lpstr>
      <vt:lpstr>Confidence Interval Estimate  for the Slope</vt:lpstr>
      <vt:lpstr>Confidence Interval Estimate  for the Slope</vt:lpstr>
      <vt:lpstr>t Test for a Correlation Coefficient</vt:lpstr>
      <vt:lpstr>t Test for a Correlation Coefficient</vt:lpstr>
      <vt:lpstr>t Test for a Correlation Coefficient</vt:lpstr>
      <vt:lpstr>The Multiple Regression Model</vt:lpstr>
      <vt:lpstr>Multiple Regression Equation</vt:lpstr>
      <vt:lpstr>Multiple Regression Equation</vt:lpstr>
      <vt:lpstr>Multiple Regression Equation 2 Variable Example</vt:lpstr>
      <vt:lpstr>Multiple Regression Equation 2 Variable Example</vt:lpstr>
      <vt:lpstr>Multiple Regression Equation 2 Variable Example, Excel</vt:lpstr>
      <vt:lpstr>Multiple Regression Equation 2 Variable Example</vt:lpstr>
      <vt:lpstr>Multiple Regression Equation 2 Variable Example</vt:lpstr>
      <vt:lpstr>Coefficient of  Multiple Determination</vt:lpstr>
      <vt:lpstr>Coefficient of  Multiple Determination (Excel)</vt:lpstr>
      <vt:lpstr>Adjusted r2</vt:lpstr>
      <vt:lpstr>Adjusted r2</vt:lpstr>
      <vt:lpstr>Adjusted r2</vt:lpstr>
      <vt:lpstr>F-Test for Overall Significance</vt:lpstr>
      <vt:lpstr>F-Test for Overall Significance</vt:lpstr>
      <vt:lpstr>F-Test for Overall Significance</vt:lpstr>
      <vt:lpstr>F-Test for Overall Significance</vt:lpstr>
      <vt:lpstr>Individual Variables Tests of Hypothesis</vt:lpstr>
      <vt:lpstr>Individual Variables Tests of Hypothesis</vt:lpstr>
      <vt:lpstr>Individual Variables Tests of Hypothesis</vt:lpstr>
      <vt:lpstr>Individual Variables Tests of Hypothesis</vt:lpstr>
      <vt:lpstr>Confidence Interval Estimate  for the Slope</vt:lpstr>
      <vt:lpstr>Confidence Interval Estimate  for the Slope</vt:lpstr>
      <vt:lpstr>Using Dummy Variables</vt:lpstr>
      <vt:lpstr>Dummy Variable Example</vt:lpstr>
      <vt:lpstr>Dummy Variable Example</vt:lpstr>
      <vt:lpstr>Dummy Variable Example</vt:lpstr>
    </vt:vector>
  </TitlesOfParts>
  <Company>Brazosport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Brazosport College</dc:creator>
  <cp:lastModifiedBy>Puneet Kumar</cp:lastModifiedBy>
  <cp:revision>34</cp:revision>
  <dcterms:created xsi:type="dcterms:W3CDTF">2006-12-20T20:21:27Z</dcterms:created>
  <dcterms:modified xsi:type="dcterms:W3CDTF">2024-08-23T07:13:32Z</dcterms:modified>
</cp:coreProperties>
</file>