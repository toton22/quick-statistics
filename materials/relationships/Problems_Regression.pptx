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33900-D938-8DBB-E6CA-1E0AB44DE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C37039-9B35-69CA-7C24-5CB01584D8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23F69-CB2F-92B1-EEB3-8B860E633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C1212-4A93-4465-9877-74103042F88D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59788-6C54-3D15-5BB2-E6D475CE7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3299B-F630-FC74-58BE-C4CCAE78B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A88B4-5517-47FF-B27B-AC30028903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9371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BA32A-04C2-AE90-C89C-704467DE8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E8D01-8C56-98DC-F5A7-2801EFF545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E6A06A-6E01-5CB2-43AA-B4EC08FE9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C1212-4A93-4465-9877-74103042F88D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66B16-8ACB-4E74-3F68-983EEBBB3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EDEBB-EACF-DCA2-F8EF-78670027C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A88B4-5517-47FF-B27B-AC30028903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129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E4237-E18C-3B5F-EC6F-36ECD487E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E71FEA-3480-A491-2266-C7D853AAD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628FD-9848-2414-7A58-0CD45D1AE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C1212-4A93-4465-9877-74103042F88D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C34394-D65A-F85A-4B3C-A15DD36DA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7E1CF-3A48-CC82-B0D4-B40753A0D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A88B4-5517-47FF-B27B-AC30028903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4724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2ACBE-12C6-E23A-D03A-56418DD90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C2632-D718-097C-769F-E720D92A01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1D0EBE-708F-31BD-2C93-DF601C267F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7565C0-6784-830F-248D-C8D1A542C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C1212-4A93-4465-9877-74103042F88D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34168C-A6A5-210C-8397-65FED4A59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C09D74-2BCE-DD1E-EDB1-D3F42296F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A88B4-5517-47FF-B27B-AC30028903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341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AB913-7FDF-7B10-137C-F5DEC2B3A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D27D60-56C4-D418-2B1C-E15C05279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147F57-86F7-8198-D917-66A1B1B84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E14C97-278B-5003-9344-BF365EC39D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7D9951-50D0-6907-CC31-3D14D80AB7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0D22A7-8C08-6D98-B59D-F8242F6FE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C1212-4A93-4465-9877-74103042F88D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9680DA-9702-4C82-0966-358E4A711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40482E-26CD-A8B0-E783-241989BFC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A88B4-5517-47FF-B27B-AC30028903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3991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9F782-6D90-5BF5-7B89-FDA83B6A4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6190BF-1982-5B4A-DE58-3C0262FF0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C1212-4A93-4465-9877-74103042F88D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9BCCDC-173D-9AA0-FA14-53B389F0D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E525AC-C64B-8149-D866-B4F257767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A88B4-5517-47FF-B27B-AC30028903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990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F1D3D2-ED97-3BC8-76E6-0E96767EA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C1212-4A93-4465-9877-74103042F88D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BC0117-3C1F-E736-E27D-1C2780AEE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61AEF-F5EA-FBFE-5C32-FD7571232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A88B4-5517-47FF-B27B-AC30028903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7971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19843-38A7-E196-28F5-EEFBEEAD6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BA36C-BB56-89C1-3AC1-CBE10BE38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5D4BC8-366E-4F83-95EF-96C5DF96DC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41D44E-BBE9-1607-2BFF-8B7E42414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C1212-4A93-4465-9877-74103042F88D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EA8633-6F58-81D8-6F5B-B8D1598C2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6B3C6B-9330-6FDA-D8CC-FE1FFAA31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A88B4-5517-47FF-B27B-AC30028903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9040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F63DC-6082-F23B-586C-C5EC37174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F302D5-1190-21BB-1500-EAE0BD096FD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57D329-4E1D-260B-BF11-0C92CD6AC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C02964-F434-AC4D-C673-B96F7CE55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C1212-4A93-4465-9877-74103042F88D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438857-AF7F-BEE7-67F1-11CC8FB47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B58B56-D645-3C09-279F-1A38BB2D6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A88B4-5517-47FF-B27B-AC30028903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6575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BB2BC-AA26-0DDA-4212-E703AC743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947C4A-ADE6-95EB-2C1E-D18833BDDC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957CE2-55BB-CC12-ACC3-B4EAD9F25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C1212-4A93-4465-9877-74103042F88D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DEB27-941A-398E-04A4-89EB53D2E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3AF71-09EE-09C3-E24F-E5C86E502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A88B4-5517-47FF-B27B-AC30028903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060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1C6127-1B66-1418-BD38-122CE212CF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ADA5D3-B3DA-BDA9-97C4-C0B0315686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A44E5-F7BA-51F8-B404-B387F827C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C1212-4A93-4465-9877-74103042F88D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8C3D-53A0-E055-39C6-5C2496046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3B357-4EDF-12DF-28DF-65756D1D7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A88B4-5517-47FF-B27B-AC30028903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7105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035D07-C5A6-2A0E-BD5D-91E118886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102A76-911A-3892-2BB7-0C4FACFDF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71431-E062-609C-982E-45926FF17A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BC1212-4A93-4465-9877-74103042F88D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9F03BF-A211-FD74-D0F3-75405DB978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0DA38-9E51-FEBF-9B06-A1E134161F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CA88B4-5517-47FF-B27B-AC30028903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2002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6BE11944-ED05-4FE9-9927-06C110BB3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2812508-238C-4BCD-BDD3-25C99C5CA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7167"/>
            <a:ext cx="12188952" cy="3490956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EA98B5EE-6906-45B1-8691-D06F06B6C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3CB4D77E-DA74-4797-88E4-C7D817D315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98DA15-B906-318F-5923-8309B84211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708" y="1014574"/>
            <a:ext cx="9725730" cy="2226769"/>
          </a:xfrm>
        </p:spPr>
        <p:txBody>
          <a:bodyPr anchor="ctr">
            <a:normAutofit/>
          </a:bodyPr>
          <a:lstStyle/>
          <a:p>
            <a:pPr algn="l"/>
            <a:r>
              <a:rPr lang="en-IN" sz="4800">
                <a:solidFill>
                  <a:schemeClr val="bg1"/>
                </a:solidFill>
              </a:rPr>
              <a:t>Regression Problems</a:t>
            </a:r>
          </a:p>
        </p:txBody>
      </p:sp>
    </p:spTree>
    <p:extLst>
      <p:ext uri="{BB962C8B-B14F-4D97-AF65-F5344CB8AC3E}">
        <p14:creationId xmlns:p14="http://schemas.microsoft.com/office/powerpoint/2010/main" val="3078211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Slide Background Fill">
            <a:extLst>
              <a:ext uri="{FF2B5EF4-FFF2-40B4-BE49-F238E27FC236}">
                <a16:creationId xmlns:a16="http://schemas.microsoft.com/office/drawing/2014/main" id="{44D65982-4F00-4330-8DAA-DE6A9E4D6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olor Cover">
            <a:extLst>
              <a:ext uri="{FF2B5EF4-FFF2-40B4-BE49-F238E27FC236}">
                <a16:creationId xmlns:a16="http://schemas.microsoft.com/office/drawing/2014/main" id="{009115B9-5BFD-478D-9C87-29ADB3AF1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D57F946-2E03-4DE1-91F8-25BEDC6635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-2"/>
            <a:ext cx="3468234" cy="6858000"/>
            <a:chOff x="651279" y="598259"/>
            <a:chExt cx="10889442" cy="5680742"/>
          </a:xfrm>
        </p:grpSpPr>
        <p:sp>
          <p:nvSpPr>
            <p:cNvPr id="34" name="Color">
              <a:extLst>
                <a:ext uri="{FF2B5EF4-FFF2-40B4-BE49-F238E27FC236}">
                  <a16:creationId xmlns:a16="http://schemas.microsoft.com/office/drawing/2014/main" id="{1598881B-E007-4AAF-BA50-0AD6182192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Color">
              <a:extLst>
                <a:ext uri="{FF2B5EF4-FFF2-40B4-BE49-F238E27FC236}">
                  <a16:creationId xmlns:a16="http://schemas.microsoft.com/office/drawing/2014/main" id="{87A6DD9E-16A5-46AE-A522-D46D6BEDF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6647BE9-F29B-C1CA-4BF5-BF51E9566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325880" y="1947672"/>
            <a:ext cx="5961888" cy="2788920"/>
          </a:xfrm>
        </p:spPr>
        <p:txBody>
          <a:bodyPr anchor="ctr">
            <a:normAutofit/>
          </a:bodyPr>
          <a:lstStyle/>
          <a:p>
            <a:r>
              <a:rPr lang="en-IN" sz="4800">
                <a:solidFill>
                  <a:schemeClr val="bg1"/>
                </a:solidFill>
              </a:rPr>
              <a:t>Dataset (sales.xls)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C4C59729-C427-7F3D-63E1-6D5B1DC89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1068" y="841247"/>
            <a:ext cx="6877878" cy="512064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>
                <a:solidFill>
                  <a:schemeClr val="tx2"/>
                </a:solidFill>
              </a:rPr>
              <a:t>A sales manager collected the following data on annual sales for new customer accounts and the number of years of experience for a sample of 10 salespersons.</a:t>
            </a:r>
          </a:p>
          <a:p>
            <a:pPr marL="0" indent="0">
              <a:buNone/>
            </a:pP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</a:rPr>
              <a:t>Develop a scatter diagram for these data with years of experience as the independent </a:t>
            </a:r>
            <a:r>
              <a:rPr lang="en-IN" sz="1800">
                <a:solidFill>
                  <a:schemeClr val="tx2"/>
                </a:solidFill>
              </a:rPr>
              <a:t>variable.</a:t>
            </a:r>
          </a:p>
          <a:p>
            <a:r>
              <a:rPr lang="en-US" sz="1800">
                <a:solidFill>
                  <a:schemeClr val="tx2"/>
                </a:solidFill>
              </a:rPr>
              <a:t>Develop an estimated regression equation that can be used to predict annual sales given the years of experience.</a:t>
            </a:r>
          </a:p>
          <a:p>
            <a:r>
              <a:rPr lang="en-US" sz="1800">
                <a:solidFill>
                  <a:schemeClr val="tx2"/>
                </a:solidFill>
              </a:rPr>
              <a:t>Use the estimated regression equation to predict annual sales for a salesperson with </a:t>
            </a:r>
            <a:r>
              <a:rPr lang="en-IN" sz="1800">
                <a:solidFill>
                  <a:schemeClr val="tx2"/>
                </a:solidFill>
              </a:rPr>
              <a:t>9 years of experience.</a:t>
            </a:r>
          </a:p>
        </p:txBody>
      </p:sp>
    </p:spTree>
    <p:extLst>
      <p:ext uri="{BB962C8B-B14F-4D97-AF65-F5344CB8AC3E}">
        <p14:creationId xmlns:p14="http://schemas.microsoft.com/office/powerpoint/2010/main" val="341434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44D65982-4F00-4330-8DAA-DE6A9E4D6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09115B9-5BFD-478D-9C87-29ADB3AF1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D57F946-2E03-4DE1-91F8-25BEDC6635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-2"/>
            <a:ext cx="3468234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598881B-E007-4AAF-BA50-0AD6182192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87A6DD9E-16A5-46AE-A522-D46D6BEDF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931311-CB90-B9F7-37ED-D77895E14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325880" y="1947672"/>
            <a:ext cx="5961888" cy="2788920"/>
          </a:xfrm>
        </p:spPr>
        <p:txBody>
          <a:bodyPr anchor="ctr">
            <a:normAutofit/>
          </a:bodyPr>
          <a:lstStyle/>
          <a:p>
            <a:r>
              <a:rPr lang="en-IN" sz="4800">
                <a:solidFill>
                  <a:schemeClr val="bg1"/>
                </a:solidFill>
              </a:rPr>
              <a:t>Dataset - GPS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B6048-6918-BD0E-D829-E05625A62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1068" y="841247"/>
            <a:ext cx="6877878" cy="512064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>
                <a:solidFill>
                  <a:schemeClr val="tx2"/>
                </a:solidFill>
              </a:rPr>
              <a:t>Using a global-positioning-system (GPS)-based navigator for your car, you enter a destination and the system will plot a route, give spoken turn-by-turn directions, and show your progress along the route. Today, even budget units include features previously available only on more expensive models. </a:t>
            </a:r>
            <a:r>
              <a:rPr lang="en-US" sz="1800" i="1">
                <a:solidFill>
                  <a:schemeClr val="tx2"/>
                </a:solidFill>
              </a:rPr>
              <a:t>Consumer Reports </a:t>
            </a:r>
            <a:r>
              <a:rPr lang="en-US" sz="1800">
                <a:solidFill>
                  <a:schemeClr val="tx2"/>
                </a:solidFill>
              </a:rPr>
              <a:t>conducted extensive tests of GPS-based navigators and developed an overall rating based on factors such as ease of use, driver information, display, and battery life. The following data show the price and rating for a sample of 20 GPS units with a 4.3-inch screen that </a:t>
            </a:r>
            <a:r>
              <a:rPr lang="en-US" sz="1800" i="1">
                <a:solidFill>
                  <a:schemeClr val="tx2"/>
                </a:solidFill>
              </a:rPr>
              <a:t>Consumer Reports </a:t>
            </a:r>
            <a:r>
              <a:rPr lang="en-US" sz="1800">
                <a:solidFill>
                  <a:schemeClr val="tx2"/>
                </a:solidFill>
              </a:rPr>
              <a:t>tested (</a:t>
            </a:r>
            <a:r>
              <a:rPr lang="en-US" sz="1800" i="1">
                <a:solidFill>
                  <a:schemeClr val="tx2"/>
                </a:solidFill>
              </a:rPr>
              <a:t>Consumer Reports </a:t>
            </a:r>
            <a:r>
              <a:rPr lang="en-US" sz="1800">
                <a:solidFill>
                  <a:schemeClr val="tx2"/>
                </a:solidFill>
              </a:rPr>
              <a:t>website, April 17, 2012).</a:t>
            </a:r>
          </a:p>
          <a:p>
            <a:r>
              <a:rPr lang="en-US" sz="1800">
                <a:solidFill>
                  <a:schemeClr val="tx2"/>
                </a:solidFill>
              </a:rPr>
              <a:t>Develop a scatter diagram with price as the independent variable.</a:t>
            </a:r>
          </a:p>
          <a:p>
            <a:r>
              <a:rPr lang="en-US" sz="1800">
                <a:solidFill>
                  <a:schemeClr val="tx2"/>
                </a:solidFill>
              </a:rPr>
              <a:t>What does the scatter diagram developed in part (a) indicate about the relationship </a:t>
            </a:r>
            <a:r>
              <a:rPr lang="en-IN" sz="1800">
                <a:solidFill>
                  <a:schemeClr val="tx2"/>
                </a:solidFill>
              </a:rPr>
              <a:t>between the two variables?</a:t>
            </a:r>
          </a:p>
          <a:p>
            <a:r>
              <a:rPr lang="en-US" sz="1800">
                <a:solidFill>
                  <a:schemeClr val="tx2"/>
                </a:solidFill>
              </a:rPr>
              <a:t>Use the least squares method to develop the estimated regression equation.</a:t>
            </a:r>
          </a:p>
          <a:p>
            <a:r>
              <a:rPr lang="en-US" sz="1800">
                <a:solidFill>
                  <a:schemeClr val="tx2"/>
                </a:solidFill>
              </a:rPr>
              <a:t>Predict the rating for a GPS system with a 4.3-inch screen that has a price of $200.</a:t>
            </a:r>
            <a:endParaRPr lang="en-IN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572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270</Words>
  <Application>Microsoft Office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Regression Problems</vt:lpstr>
      <vt:lpstr>Dataset (sales.xls)</vt:lpstr>
      <vt:lpstr>Dataset - GPS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Puneet Kumar</dc:creator>
  <cp:lastModifiedBy>Puneet Kumar</cp:lastModifiedBy>
  <cp:revision>2</cp:revision>
  <dcterms:created xsi:type="dcterms:W3CDTF">2026-10-12T06:37:38Z</dcterms:created>
  <dcterms:modified xsi:type="dcterms:W3CDTF">2026-10-12T06:44:56Z</dcterms:modified>
</cp:coreProperties>
</file>