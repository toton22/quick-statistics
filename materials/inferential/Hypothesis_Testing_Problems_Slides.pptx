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48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761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79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69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72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79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11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88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480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726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8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48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A623647-9CB9-4216-9A4E-1B7D8C5FFE6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5B64F9F-5731-4CDE-BD54-9707C20A367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44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CE886-C410-90D1-A082-2218CBB31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</p:spPr>
        <p:txBody>
          <a:bodyPr>
            <a:normAutofit/>
          </a:bodyPr>
          <a:lstStyle/>
          <a:p>
            <a:r>
              <a:rPr lang="en-IN" sz="6600">
                <a:solidFill>
                  <a:schemeClr val="tx1">
                    <a:alpha val="80000"/>
                  </a:schemeClr>
                </a:solidFill>
              </a:rPr>
              <a:t>Hypothesis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8383F-5E39-E556-68D1-520F4B91FE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</p:spPr>
        <p:txBody>
          <a:bodyPr>
            <a:normAutofit/>
          </a:bodyPr>
          <a:lstStyle/>
          <a:p>
            <a:r>
              <a:rPr lang="en-IN" sz="2000"/>
              <a:t>Dr. PK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11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7FECD-5AFB-482A-3310-40DD64607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789494"/>
          </a:xfrm>
        </p:spPr>
        <p:txBody>
          <a:bodyPr/>
          <a:lstStyle/>
          <a:p>
            <a:r>
              <a:rPr lang="en-IN" dirty="0"/>
              <a:t>					Known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79A82-585A-4DA8-7909-32D6DBCA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233" y="1573762"/>
            <a:ext cx="10520380" cy="492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247817-97F0-E0C8-E7CA-70B2A1C47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79" y="833129"/>
            <a:ext cx="4043188" cy="37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63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6F729-3373-6671-A7B9-381AC6E15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1608103"/>
            <a:ext cx="10583331" cy="364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C08CA-91DD-EA06-EA5E-3F5F87144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1400766"/>
            <a:ext cx="10583331" cy="40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36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7FFD8-B9E9-6DA1-AEC0-E8CED5AD3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520700"/>
            <a:ext cx="10570972" cy="5788660"/>
          </a:xfrm>
        </p:spPr>
        <p:txBody>
          <a:bodyPr>
            <a:normAutofit/>
          </a:bodyPr>
          <a:lstStyle/>
          <a:p>
            <a:pPr marL="173736" lvl="1" indent="0" algn="just">
              <a:buNone/>
            </a:pPr>
            <a:r>
              <a:rPr lang="en-US" sz="2400" dirty="0"/>
              <a:t>18. The average annual total return for U.S. Diversified Equity mutual funds from 1999 to 2003 was 4.1% (</a:t>
            </a:r>
            <a:r>
              <a:rPr lang="en-US" sz="2400" i="1" dirty="0"/>
              <a:t>BusinessWeek, </a:t>
            </a:r>
            <a:r>
              <a:rPr lang="en-US" sz="2400" dirty="0"/>
              <a:t>January 26, 2004). A researcher would like to conduct a hypothesis test to see whether the returns for mid-cap growth funds over the same period are significantly different from the average for U.S. Diversified Equity funds.</a:t>
            </a:r>
          </a:p>
          <a:p>
            <a:pPr lvl="1" algn="just"/>
            <a:r>
              <a:rPr lang="en-US" sz="2400" dirty="0"/>
              <a:t>a. Formulate the hypotheses that can be used to determine whether the mean annual return for mid-cap growth funds differ from the mean for U.S. Diversified Equity </a:t>
            </a:r>
            <a:r>
              <a:rPr lang="en-IN" sz="2400" dirty="0"/>
              <a:t>funds.</a:t>
            </a:r>
          </a:p>
          <a:p>
            <a:pPr lvl="1" algn="just"/>
            <a:r>
              <a:rPr lang="en-US" sz="2400" dirty="0"/>
              <a:t>b. A sample of 40 mid-cap growth funds provides a mean return of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ẍ</a:t>
            </a:r>
            <a:r>
              <a:rPr lang="en-US" sz="2400" dirty="0"/>
              <a:t>= 3.4%. Assume the population standard deviation for mid-cap growth funds is known from previous studies to be </a:t>
            </a:r>
            <a:r>
              <a:rPr lang="el-GR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sz="2400" i="1" dirty="0"/>
              <a:t> = 2%. </a:t>
            </a:r>
            <a:r>
              <a:rPr lang="en-US" sz="2400" dirty="0"/>
              <a:t>Use the sample results to compute the test statistic and </a:t>
            </a:r>
            <a:r>
              <a:rPr lang="en-US" sz="2400" i="1" dirty="0"/>
              <a:t>p</a:t>
            </a:r>
            <a:r>
              <a:rPr lang="en-US" sz="2400" dirty="0"/>
              <a:t>-value </a:t>
            </a:r>
            <a:r>
              <a:rPr lang="en-IN" sz="2400" dirty="0"/>
              <a:t>for the hypothesis test.</a:t>
            </a:r>
          </a:p>
          <a:p>
            <a:pPr lvl="1" algn="just"/>
            <a:r>
              <a:rPr lang="en-US" sz="2400" dirty="0"/>
              <a:t>c. At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400" dirty="0"/>
              <a:t>= .05, what is your conclusion?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0052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CD7D9-0682-D86F-234E-4508BC562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1300393"/>
            <a:ext cx="10583331" cy="425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4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DDA06C-79B8-D170-52E1-FAAD1C5C8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1405864"/>
            <a:ext cx="10583331" cy="404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31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365F-61D6-EEEC-C089-5943B60A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			Unknown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D2CB6-85B7-9D58-DCC7-BCE25961C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58" y="2289241"/>
            <a:ext cx="10808893" cy="4068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0EEBDC-8FB9-9423-5804-7970943F0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53" y="1058013"/>
            <a:ext cx="4043188" cy="5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78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594C6-78BD-E86D-C9B4-4B2F060C6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1853385"/>
            <a:ext cx="10583331" cy="315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86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D81BC-B022-7C1C-4156-CCAF0FD93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2067770"/>
            <a:ext cx="10583331" cy="272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9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2C480-98BA-88AB-06BA-EBA3027DE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1730291"/>
            <a:ext cx="10583331" cy="339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176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93</TotalTime>
  <Words>185</Words>
  <Application>Microsoft Office PowerPoint</Application>
  <PresentationFormat>Widescreen</PresentationFormat>
  <Paragraphs>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Times New Roman</vt:lpstr>
      <vt:lpstr>Tw Cen MT</vt:lpstr>
      <vt:lpstr>Tw Cen MT Condensed</vt:lpstr>
      <vt:lpstr>Wingdings 3</vt:lpstr>
      <vt:lpstr>Integral</vt:lpstr>
      <vt:lpstr>Hypothesis testing</vt:lpstr>
      <vt:lpstr>     Known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Unknown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</dc:title>
  <dc:creator>NYSSA KUMAR</dc:creator>
  <cp:lastModifiedBy>Dr.  Puneet Kumar</cp:lastModifiedBy>
  <cp:revision>10</cp:revision>
  <dcterms:created xsi:type="dcterms:W3CDTF">2022-10-04T10:37:47Z</dcterms:created>
  <dcterms:modified xsi:type="dcterms:W3CDTF">2026-10-01T05:29:41Z</dcterms:modified>
</cp:coreProperties>
</file>