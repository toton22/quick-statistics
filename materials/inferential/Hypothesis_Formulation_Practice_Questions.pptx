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H0: μ = 500 ml
Ha: μ ≠ 500 ml (two-tailed)
The inspector only says "no longer 500" – could be more or less, so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H0: μ ≤ 30 min (or μ = 30)
Ha: μ &gt; 30 min (right-tailed)
"At most" contains equality, so it stays with H0. The consumer group's claim goes to 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H0: p ≤ 0.05 (or p = 0.05)
Ha: p &gt; 0.05 (right-tailed)
Parameter is a proportion. α = 0.05 is extra info – it does not change how we write the hypotheses.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H0: μ ≥ 18 hrs (or μ = 18)
Ha: μ &lt; 18 hrs (left-tailed)
"At least" = ≥, which holds equality, so it is the null.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H0: p = 0.35
Ha: p ≠ 0.35 (two-tailed)
"Changed" gives no direction, so the alternative is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H0: μ ≤ 62 (or μ = 62)
Ha: μ &gt; 62 (right-tailed)
The improvement is what the centre wants to establish, so it sits in 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H0: μ ≥ 45 min (or μ = 45)
Ha: μ &lt; 45 min (left-tailed)
Status quo = 45 min. The claimed drop goes in 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H0: p ≥ 0.80 (or p = 0.80)
Ha: p &lt; 0.80 (left-tailed)
The bank's figure is the status quo; "lower" is the claim being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H0: p ≥ 0.02 (or p = 0.02)
Ha: p &lt; 0.02 (left-tailed)
Tricky one: this time the COMPANY is making the claim. "Fewer than" has no equality, so the claim itself goes in 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H0: p ≤ 0.03 (or p = 0.03)
Ha: p &gt; 0.03 (right-tailed)
Old CTR is the status quo; the new ad "doing better" is the research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2223B"/>
        </a:solidFill>
      </p:bgPr>
    </p:bg>
    <p:spTree>
      <p:nvGrpSpPr>
        <p:cNvPr id="1" name=""/>
        <p:cNvGrpSpPr/>
        <p:nvPr/>
      </p:nvGrpSpPr>
      <p:grpSpPr>
        <a:xfrm>
          <a:off x="0" y="0"/>
          <a:ext cx="0" cy="0"/>
          <a:chOff x="0" y="0"/>
          <a:chExt cx="0" cy="0"/>
        </a:xfrm>
      </p:grpSpPr>
      <p:sp>
        <p:nvSpPr>
          <p:cNvPr id="2" name="Shape 0"/>
          <p:cNvSpPr/>
          <p:nvPr/>
        </p:nvSpPr>
        <p:spPr>
          <a:xfrm>
            <a:off x="6583680" y="1234440"/>
            <a:ext cx="2103120" cy="2103120"/>
          </a:xfrm>
          <a:prstGeom prst="ellipse">
            <a:avLst/>
          </a:prstGeom>
          <a:solidFill>
            <a:srgbClr val="4A4E69"/>
          </a:solidFill>
          <a:ln/>
        </p:spPr>
      </p:sp>
      <p:pic>
        <p:nvPicPr>
          <p:cNvPr id="3" name="Image 0" descr="preencoded.png">    </p:cNvPr>
          <p:cNvPicPr>
            <a:picLocks noChangeAspect="1"/>
          </p:cNvPicPr>
          <p:nvPr/>
        </p:nvPicPr>
        <p:blipFill>
          <a:blip r:embed="rId1"/>
          <a:stretch>
            <a:fillRect/>
          </a:stretch>
        </p:blipFill>
        <p:spPr>
          <a:xfrm>
            <a:off x="7132320" y="1783080"/>
            <a:ext cx="1005840" cy="1005840"/>
          </a:xfrm>
          <a:prstGeom prst="rect">
            <a:avLst/>
          </a:prstGeom>
        </p:spPr>
      </p:pic>
      <p:sp>
        <p:nvSpPr>
          <p:cNvPr id="4" name="Text 1"/>
          <p:cNvSpPr txBox="1"/>
          <p:nvPr/>
        </p:nvSpPr>
        <p:spPr>
          <a:xfrm>
            <a:off x="548640" y="1188720"/>
            <a:ext cx="585216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Hypothesis Formulation</a:t>
            </a:r>
            <a:endParaRPr lang="en-US" sz="4000" dirty="0"/>
          </a:p>
        </p:txBody>
      </p:sp>
      <p:sp>
        <p:nvSpPr>
          <p:cNvPr id="5" name="Text 2"/>
          <p:cNvSpPr txBox="1"/>
          <p:nvPr/>
        </p:nvSpPr>
        <p:spPr>
          <a:xfrm>
            <a:off x="548640" y="2057400"/>
            <a:ext cx="5852160" cy="457200"/>
          </a:xfrm>
          <a:prstGeom prst="rect">
            <a:avLst/>
          </a:prstGeom>
          <a:noFill/>
          <a:ln/>
        </p:spPr>
        <p:txBody>
          <a:bodyPr wrap="square" lIns="0" tIns="0" rIns="0" bIns="0" rtlCol="0" anchor="ctr"/>
          <a:lstStyle/>
          <a:p>
            <a:pPr indent="0" marL="0">
              <a:buNone/>
            </a:pPr>
            <a:r>
              <a:rPr lang="en-US" sz="2000" i="1" dirty="0">
                <a:solidFill>
                  <a:srgbClr val="F2A541"/>
                </a:solidFill>
                <a:latin typeface="Calibri" pitchFamily="34" charset="0"/>
                <a:ea typeface="Calibri" pitchFamily="34" charset="-122"/>
                <a:cs typeface="Calibri" pitchFamily="34" charset="-120"/>
              </a:rPr>
              <a:t>10 application-based practice questions</a:t>
            </a:r>
            <a:endParaRPr lang="en-US" sz="2000" dirty="0"/>
          </a:p>
        </p:txBody>
      </p:sp>
      <p:sp>
        <p:nvSpPr>
          <p:cNvPr id="6" name="Text 3"/>
          <p:cNvSpPr txBox="1"/>
          <p:nvPr/>
        </p:nvSpPr>
        <p:spPr>
          <a:xfrm>
            <a:off x="548640" y="2834640"/>
            <a:ext cx="5669280" cy="731520"/>
          </a:xfrm>
          <a:prstGeom prst="rect">
            <a:avLst/>
          </a:prstGeom>
          <a:noFill/>
          <a:ln/>
        </p:spPr>
        <p:txBody>
          <a:bodyPr wrap="square" lIns="0" tIns="0" rIns="0" bIns="0" rtlCol="0" anchor="ctr"/>
          <a:lstStyle/>
          <a:p>
            <a:pPr indent="0" marL="0">
              <a:buNone/>
            </a:pPr>
            <a:r>
              <a:rPr lang="en-US" sz="1500" dirty="0">
                <a:solidFill>
                  <a:srgbClr val="CFD2E0"/>
                </a:solidFill>
                <a:latin typeface="Calibri" pitchFamily="34" charset="0"/>
                <a:ea typeface="Calibri" pitchFamily="34" charset="-122"/>
                <a:cs typeface="Calibri" pitchFamily="34" charset="-120"/>
              </a:rPr>
              <a:t>For each scenario: identify the parameter (μ or p), then write H0 and Ha.</a:t>
            </a:r>
            <a:endParaRPr lang="en-US" sz="1500" dirty="0"/>
          </a:p>
        </p:txBody>
      </p:sp>
      <p:sp>
        <p:nvSpPr>
          <p:cNvPr id="7" name="Text 4"/>
          <p:cNvSpPr txBox="1"/>
          <p:nvPr/>
        </p:nvSpPr>
        <p:spPr>
          <a:xfrm>
            <a:off x="548640" y="4206240"/>
            <a:ext cx="5669280" cy="365760"/>
          </a:xfrm>
          <a:prstGeom prst="rect">
            <a:avLst/>
          </a:prstGeom>
          <a:noFill/>
          <a:ln/>
        </p:spPr>
        <p:txBody>
          <a:bodyPr wrap="square" lIns="0" tIns="0" rIns="0" bIns="0" rtlCol="0" anchor="ctr"/>
          <a:lstStyle/>
          <a:p>
            <a:pPr indent="0" marL="0">
              <a:buNone/>
            </a:pPr>
            <a:r>
              <a:rPr lang="en-US" sz="1200" dirty="0">
                <a:solidFill>
                  <a:srgbClr val="9A9DB3"/>
                </a:solidFill>
                <a:latin typeface="Calibri" pitchFamily="34" charset="0"/>
                <a:ea typeface="Calibri" pitchFamily="34" charset="-122"/>
                <a:cs typeface="Calibri" pitchFamily="34" charset="-120"/>
              </a:rPr>
              <a:t>Answers are in the speaker notes of each slide.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560320" cy="5143500"/>
          </a:xfrm>
          <a:prstGeom prst="rect">
            <a:avLst/>
          </a:prstGeom>
          <a:solidFill>
            <a:srgbClr val="22223B"/>
          </a:solidFill>
          <a:ln w="12700">
            <a:solidFill>
              <a:srgbClr val="22223B"/>
            </a:solidFill>
            <a:prstDash val="solid"/>
          </a:ln>
        </p:spPr>
      </p:sp>
      <p:sp>
        <p:nvSpPr>
          <p:cNvPr id="3" name="Text 1"/>
          <p:cNvSpPr txBox="1"/>
          <p:nvPr/>
        </p:nvSpPr>
        <p:spPr>
          <a:xfrm>
            <a:off x="457200" y="502920"/>
            <a:ext cx="1828800" cy="1005840"/>
          </a:xfrm>
          <a:prstGeom prst="rect">
            <a:avLst/>
          </a:prstGeom>
          <a:noFill/>
          <a:ln/>
        </p:spPr>
        <p:txBody>
          <a:bodyPr wrap="square" lIns="0" tIns="0" rIns="0" bIns="0" rtlCol="0" anchor="ctr"/>
          <a:lstStyle/>
          <a:p>
            <a:pPr indent="0" marL="0">
              <a:buNone/>
            </a:pPr>
            <a:r>
              <a:rPr lang="en-US" sz="6000" b="1" dirty="0">
                <a:solidFill>
                  <a:srgbClr val="F2A541"/>
                </a:solidFill>
                <a:latin typeface="Cambria" pitchFamily="34" charset="0"/>
                <a:ea typeface="Cambria" pitchFamily="34" charset="-122"/>
                <a:cs typeface="Cambria" pitchFamily="34" charset="-120"/>
              </a:rPr>
              <a:t>Q1</a:t>
            </a:r>
            <a:endParaRPr lang="en-US" sz="6000" dirty="0"/>
          </a:p>
        </p:txBody>
      </p:sp>
      <p:sp>
        <p:nvSpPr>
          <p:cNvPr id="4" name="Shape 2"/>
          <p:cNvSpPr/>
          <p:nvPr/>
        </p:nvSpPr>
        <p:spPr>
          <a:xfrm>
            <a:off x="457200" y="2011680"/>
            <a:ext cx="1005840" cy="1005840"/>
          </a:xfrm>
          <a:prstGeom prst="ellipse">
            <a:avLst/>
          </a:prstGeom>
          <a:solidFill>
            <a:srgbClr val="4A4E69"/>
          </a:solidFill>
          <a:ln/>
        </p:spPr>
      </p:sp>
      <p:pic>
        <p:nvPicPr>
          <p:cNvPr id="5" name="Image 0" descr="preencoded.png">    </p:cNvPr>
          <p:cNvPicPr>
            <a:picLocks noChangeAspect="1"/>
          </p:cNvPicPr>
          <p:nvPr/>
        </p:nvPicPr>
        <p:blipFill>
          <a:blip r:embed="rId1"/>
          <a:stretch>
            <a:fillRect/>
          </a:stretch>
        </p:blipFill>
        <p:spPr>
          <a:xfrm>
            <a:off x="713232" y="2267712"/>
            <a:ext cx="493776" cy="493776"/>
          </a:xfrm>
          <a:prstGeom prst="rect">
            <a:avLst/>
          </a:prstGeom>
        </p:spPr>
      </p:pic>
      <p:sp>
        <p:nvSpPr>
          <p:cNvPr id="6" name="Text 3"/>
          <p:cNvSpPr txBox="1"/>
          <p:nvPr/>
        </p:nvSpPr>
        <p:spPr>
          <a:xfrm>
            <a:off x="457200" y="3200400"/>
            <a:ext cx="192024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Manufacturing</a:t>
            </a:r>
            <a:endParaRPr lang="en-US" sz="1400" dirty="0"/>
          </a:p>
        </p:txBody>
      </p:sp>
      <p:sp>
        <p:nvSpPr>
          <p:cNvPr id="7" name="Text 4"/>
          <p:cNvSpPr txBox="1"/>
          <p:nvPr/>
        </p:nvSpPr>
        <p:spPr>
          <a:xfrm>
            <a:off x="457200" y="4434840"/>
            <a:ext cx="1828800" cy="274320"/>
          </a:xfrm>
          <a:prstGeom prst="rect">
            <a:avLst/>
          </a:prstGeom>
          <a:noFill/>
          <a:ln/>
        </p:spPr>
        <p:txBody>
          <a:bodyPr wrap="square" lIns="0" tIns="0" rIns="0" bIns="0" rtlCol="0" anchor="ctr"/>
          <a:lstStyle/>
          <a:p>
            <a:pPr indent="0" marL="0">
              <a:buNone/>
            </a:pPr>
            <a:r>
              <a:rPr lang="en-US" sz="1100" dirty="0">
                <a:solidFill>
                  <a:srgbClr val="9A9DB3"/>
                </a:solidFill>
                <a:latin typeface="Calibri" pitchFamily="34" charset="0"/>
                <a:ea typeface="Calibri" pitchFamily="34" charset="-122"/>
                <a:cs typeface="Calibri" pitchFamily="34" charset="-120"/>
              </a:rPr>
              <a:t>Question 1 of 10</a:t>
            </a:r>
            <a:endParaRPr lang="en-US" sz="1100" dirty="0"/>
          </a:p>
        </p:txBody>
      </p:sp>
      <p:sp>
        <p:nvSpPr>
          <p:cNvPr id="8" name="Text 5"/>
          <p:cNvSpPr txBox="1"/>
          <p:nvPr/>
        </p:nvSpPr>
        <p:spPr>
          <a:xfrm>
            <a:off x="3017520" y="457200"/>
            <a:ext cx="5669280" cy="274320"/>
          </a:xfrm>
          <a:prstGeom prst="rect">
            <a:avLst/>
          </a:prstGeom>
          <a:noFill/>
          <a:ln/>
        </p:spPr>
        <p:txBody>
          <a:bodyPr wrap="square" lIns="0" tIns="0" rIns="0" bIns="0" rtlCol="0" anchor="ctr"/>
          <a:lstStyle/>
          <a:p>
            <a:pPr indent="0" marL="0">
              <a:buNone/>
            </a:pPr>
            <a:r>
              <a:rPr lang="en-US" sz="1100" b="1" spc="300" kern="0" dirty="0">
                <a:solidFill>
                  <a:srgbClr val="6B6F85"/>
                </a:solidFill>
                <a:latin typeface="Calibri" pitchFamily="34" charset="0"/>
                <a:ea typeface="Calibri" pitchFamily="34" charset="-122"/>
                <a:cs typeface="Calibri" pitchFamily="34" charset="-120"/>
              </a:rPr>
              <a:t>SCENARIO</a:t>
            </a:r>
            <a:endParaRPr lang="en-US" sz="1100" dirty="0"/>
          </a:p>
        </p:txBody>
      </p:sp>
      <p:sp>
        <p:nvSpPr>
          <p:cNvPr id="9" name="Text 6"/>
          <p:cNvSpPr txBox="1"/>
          <p:nvPr/>
        </p:nvSpPr>
        <p:spPr>
          <a:xfrm>
            <a:off x="3017520" y="777240"/>
            <a:ext cx="5669280" cy="1874520"/>
          </a:xfrm>
          <a:prstGeom prst="rect">
            <a:avLst/>
          </a:prstGeom>
          <a:noFill/>
          <a:ln/>
        </p:spPr>
        <p:txBody>
          <a:bodyPr wrap="square" lIns="0" tIns="0" rIns="0" bIns="0" rtlCol="0" anchor="t"/>
          <a:lstStyle/>
          <a:p>
            <a:pPr indent="0" marL="0">
              <a:spcAft>
                <a:spcPts val="400"/>
              </a:spcAft>
              <a:buNone/>
            </a:pPr>
            <a:r>
              <a:rPr lang="en-US" sz="1700" dirty="0">
                <a:solidFill>
                  <a:srgbClr val="22223B"/>
                </a:solidFill>
                <a:latin typeface="Calibri" pitchFamily="34" charset="0"/>
                <a:ea typeface="Calibri" pitchFamily="34" charset="-122"/>
                <a:cs typeface="Calibri" pitchFamily="34" charset="-120"/>
              </a:rPr>
              <a:t>A dairy plant fills milk pouches labelled 500 ml. After the filling machine was recalibrated last week, the quality inspector suspects it no longer fills 500 ml on average. She picks 40 pouches at random to check.</a:t>
            </a:r>
            <a:endParaRPr lang="en-US" sz="1700" dirty="0"/>
          </a:p>
        </p:txBody>
      </p:sp>
      <p:sp>
        <p:nvSpPr>
          <p:cNvPr id="10" name="Shape 7"/>
          <p:cNvSpPr/>
          <p:nvPr/>
        </p:nvSpPr>
        <p:spPr>
          <a:xfrm>
            <a:off x="3017520" y="2880360"/>
            <a:ext cx="5669280" cy="1783080"/>
          </a:xfrm>
          <a:prstGeom prst="roundRect">
            <a:avLst>
              <a:gd name="adj" fmla="val 6154"/>
            </a:avLst>
          </a:prstGeom>
          <a:solidFill>
            <a:srgbClr val="EEF0F6"/>
          </a:solidFill>
          <a:ln w="12700">
            <a:solidFill>
              <a:srgbClr val="EEF0F6"/>
            </a:solidFill>
            <a:prstDash val="solid"/>
          </a:ln>
        </p:spPr>
      </p:sp>
      <p:sp>
        <p:nvSpPr>
          <p:cNvPr id="11" name="Text 8"/>
          <p:cNvSpPr txBox="1"/>
          <p:nvPr/>
        </p:nvSpPr>
        <p:spPr>
          <a:xfrm>
            <a:off x="3291840" y="3017520"/>
            <a:ext cx="5212080" cy="320040"/>
          </a:xfrm>
          <a:prstGeom prst="rect">
            <a:avLst/>
          </a:prstGeom>
          <a:noFill/>
          <a:ln/>
        </p:spPr>
        <p:txBody>
          <a:bodyPr wrap="square" lIns="0" tIns="0" rIns="0" bIns="0" rtlCol="0" anchor="ctr"/>
          <a:lstStyle/>
          <a:p>
            <a:pPr indent="0" marL="0">
              <a:buNone/>
            </a:pPr>
            <a:r>
              <a:rPr lang="en-US" sz="1300" b="1" dirty="0">
                <a:solidFill>
                  <a:srgbClr val="4A4E69"/>
                </a:solidFill>
                <a:latin typeface="Calibri" pitchFamily="34" charset="0"/>
                <a:ea typeface="Calibri" pitchFamily="34" charset="-122"/>
                <a:cs typeface="Calibri" pitchFamily="34" charset="-120"/>
              </a:rPr>
              <a:t>Write the null and alternative hypotheses</a:t>
            </a:r>
            <a:endParaRPr lang="en-US" sz="1300" dirty="0"/>
          </a:p>
        </p:txBody>
      </p:sp>
      <p:sp>
        <p:nvSpPr>
          <p:cNvPr id="12" name="Text 9"/>
          <p:cNvSpPr txBox="1"/>
          <p:nvPr/>
        </p:nvSpPr>
        <p:spPr>
          <a:xfrm>
            <a:off x="3291840" y="3474720"/>
            <a:ext cx="731520" cy="411480"/>
          </a:xfrm>
          <a:prstGeom prst="rect">
            <a:avLst/>
          </a:prstGeom>
          <a:noFill/>
          <a:ln/>
        </p:spPr>
        <p:txBody>
          <a:bodyPr wrap="square" lIns="0" tIns="0" rIns="0" bIns="0" rtlCol="0" anchor="ctr"/>
          <a:lstStyle/>
          <a:p>
            <a:pPr indent="0" marL="0">
              <a:buNone/>
            </a:pPr>
            <a:r>
              <a:rPr lang="en-US" sz="2000" b="1" dirty="0">
                <a:solidFill>
                  <a:srgbClr val="22223B"/>
                </a:solidFill>
                <a:latin typeface="Cambria" pitchFamily="34" charset="0"/>
                <a:ea typeface="Cambria" pitchFamily="34" charset="-122"/>
                <a:cs typeface="Cambria" pitchFamily="34" charset="-120"/>
              </a:rPr>
              <a:t>H</a:t>
            </a:r>
            <a:pPr indent="0" marL="0">
              <a:buNone/>
            </a:pPr>
            <a:r>
              <a:rPr lang="en-US" sz="2000" b="1" baseline="-40000" dirty="0">
                <a:solidFill>
                  <a:srgbClr val="22223B"/>
                </a:solidFill>
                <a:latin typeface="Cambria" pitchFamily="34" charset="0"/>
                <a:ea typeface="Cambria" pitchFamily="34" charset="-122"/>
                <a:cs typeface="Cambria" pitchFamily="34" charset="-120"/>
              </a:rPr>
              <a:t>0</a:t>
            </a:r>
            <a:pPr indent="0" marL="0">
              <a:buNone/>
            </a:pPr>
            <a:r>
              <a:rPr lang="en-US" sz="2000" b="1" dirty="0">
                <a:solidFill>
                  <a:srgbClr val="22223B"/>
                </a:solidFill>
                <a:latin typeface="Cambria" pitchFamily="34" charset="0"/>
                <a:ea typeface="Cambria" pitchFamily="34" charset="-122"/>
                <a:cs typeface="Cambria" pitchFamily="34" charset="-120"/>
              </a:rPr>
              <a:t>  :</a:t>
            </a:r>
            <a:endParaRPr lang="en-US" sz="2000" dirty="0"/>
          </a:p>
        </p:txBody>
      </p:sp>
      <p:sp>
        <p:nvSpPr>
          <p:cNvPr id="13" name="Shape 10"/>
          <p:cNvSpPr/>
          <p:nvPr/>
        </p:nvSpPr>
        <p:spPr>
          <a:xfrm>
            <a:off x="4069080" y="3822192"/>
            <a:ext cx="4297680" cy="0"/>
          </a:xfrm>
          <a:prstGeom prst="line">
            <a:avLst/>
          </a:prstGeom>
          <a:noFill/>
          <a:ln w="12700">
            <a:solidFill>
              <a:srgbClr val="9A9DB3"/>
            </a:solidFill>
            <a:prstDash val="dash"/>
          </a:ln>
        </p:spPr>
      </p:sp>
      <p:sp>
        <p:nvSpPr>
          <p:cNvPr id="14" name="Text 11"/>
          <p:cNvSpPr txBox="1"/>
          <p:nvPr/>
        </p:nvSpPr>
        <p:spPr>
          <a:xfrm>
            <a:off x="3291840" y="4023360"/>
            <a:ext cx="731520" cy="411480"/>
          </a:xfrm>
          <a:prstGeom prst="rect">
            <a:avLst/>
          </a:prstGeom>
          <a:noFill/>
          <a:ln/>
        </p:spPr>
        <p:txBody>
          <a:bodyPr wrap="square" lIns="0" tIns="0" rIns="0" bIns="0" rtlCol="0" anchor="ctr"/>
          <a:lstStyle/>
          <a:p>
            <a:pPr indent="0" marL="0">
              <a:buNone/>
            </a:pPr>
            <a:r>
              <a:rPr lang="en-US" sz="2000" b="1" dirty="0">
                <a:solidFill>
                  <a:srgbClr val="22223B"/>
                </a:solidFill>
                <a:latin typeface="Cambria" pitchFamily="34" charset="0"/>
                <a:ea typeface="Cambria" pitchFamily="34" charset="-122"/>
                <a:cs typeface="Cambria" pitchFamily="34" charset="-120"/>
              </a:rPr>
              <a:t>H</a:t>
            </a:r>
            <a:pPr indent="0" marL="0">
              <a:buNone/>
            </a:pPr>
            <a:r>
              <a:rPr lang="en-US" sz="2000" b="1" baseline="-40000" dirty="0">
                <a:solidFill>
                  <a:srgbClr val="22223B"/>
                </a:solidFill>
                <a:latin typeface="Cambria" pitchFamily="34" charset="0"/>
                <a:ea typeface="Cambria" pitchFamily="34" charset="-122"/>
                <a:cs typeface="Cambria" pitchFamily="34" charset="-120"/>
              </a:rPr>
              <a:t>a</a:t>
            </a:r>
            <a:pPr indent="0" marL="0">
              <a:buNone/>
            </a:pPr>
            <a:r>
              <a:rPr lang="en-US" sz="2000" b="1" dirty="0">
                <a:solidFill>
                  <a:srgbClr val="22223B"/>
                </a:solidFill>
                <a:latin typeface="Cambria" pitchFamily="34" charset="0"/>
                <a:ea typeface="Cambria" pitchFamily="34" charset="-122"/>
                <a:cs typeface="Cambria" pitchFamily="34" charset="-120"/>
              </a:rPr>
              <a:t>  :</a:t>
            </a:r>
            <a:endParaRPr lang="en-US" sz="2000" dirty="0"/>
          </a:p>
        </p:txBody>
      </p:sp>
      <p:sp>
        <p:nvSpPr>
          <p:cNvPr id="15" name="Shape 12"/>
          <p:cNvSpPr/>
          <p:nvPr/>
        </p:nvSpPr>
        <p:spPr>
          <a:xfrm>
            <a:off x="4069080" y="4370832"/>
            <a:ext cx="4297680" cy="0"/>
          </a:xfrm>
          <a:prstGeom prst="line">
            <a:avLst/>
          </a:prstGeom>
          <a:noFill/>
          <a:ln w="12700">
            <a:solidFill>
              <a:srgbClr val="9A9DB3"/>
            </a:solidFill>
            <a:prstDash val="dash"/>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560320" cy="5143500"/>
          </a:xfrm>
          <a:prstGeom prst="rect">
            <a:avLst/>
          </a:prstGeom>
          <a:solidFill>
            <a:srgbClr val="22223B"/>
          </a:solidFill>
          <a:ln w="12700">
            <a:solidFill>
              <a:srgbClr val="22223B"/>
            </a:solidFill>
            <a:prstDash val="solid"/>
          </a:ln>
        </p:spPr>
      </p:sp>
      <p:sp>
        <p:nvSpPr>
          <p:cNvPr id="3" name="Text 1"/>
          <p:cNvSpPr txBox="1"/>
          <p:nvPr/>
        </p:nvSpPr>
        <p:spPr>
          <a:xfrm>
            <a:off x="457200" y="502920"/>
            <a:ext cx="1828800" cy="1005840"/>
          </a:xfrm>
          <a:prstGeom prst="rect">
            <a:avLst/>
          </a:prstGeom>
          <a:noFill/>
          <a:ln/>
        </p:spPr>
        <p:txBody>
          <a:bodyPr wrap="square" lIns="0" tIns="0" rIns="0" bIns="0" rtlCol="0" anchor="ctr"/>
          <a:lstStyle/>
          <a:p>
            <a:pPr indent="0" marL="0">
              <a:buNone/>
            </a:pPr>
            <a:r>
              <a:rPr lang="en-US" sz="6000" b="1" dirty="0">
                <a:solidFill>
                  <a:srgbClr val="F2A541"/>
                </a:solidFill>
                <a:latin typeface="Cambria" pitchFamily="34" charset="0"/>
                <a:ea typeface="Cambria" pitchFamily="34" charset="-122"/>
                <a:cs typeface="Cambria" pitchFamily="34" charset="-120"/>
              </a:rPr>
              <a:t>Q2</a:t>
            </a:r>
            <a:endParaRPr lang="en-US" sz="6000" dirty="0"/>
          </a:p>
        </p:txBody>
      </p:sp>
      <p:sp>
        <p:nvSpPr>
          <p:cNvPr id="4" name="Shape 2"/>
          <p:cNvSpPr/>
          <p:nvPr/>
        </p:nvSpPr>
        <p:spPr>
          <a:xfrm>
            <a:off x="457200" y="2011680"/>
            <a:ext cx="1005840" cy="1005840"/>
          </a:xfrm>
          <a:prstGeom prst="ellipse">
            <a:avLst/>
          </a:prstGeom>
          <a:solidFill>
            <a:srgbClr val="4A4E69"/>
          </a:solidFill>
          <a:ln/>
        </p:spPr>
      </p:sp>
      <p:pic>
        <p:nvPicPr>
          <p:cNvPr id="5" name="Image 0" descr="preencoded.png">    </p:cNvPr>
          <p:cNvPicPr>
            <a:picLocks noChangeAspect="1"/>
          </p:cNvPicPr>
          <p:nvPr/>
        </p:nvPicPr>
        <p:blipFill>
          <a:blip r:embed="rId1"/>
          <a:stretch>
            <a:fillRect/>
          </a:stretch>
        </p:blipFill>
        <p:spPr>
          <a:xfrm>
            <a:off x="713232" y="2267712"/>
            <a:ext cx="493776" cy="493776"/>
          </a:xfrm>
          <a:prstGeom prst="rect">
            <a:avLst/>
          </a:prstGeom>
        </p:spPr>
      </p:pic>
      <p:sp>
        <p:nvSpPr>
          <p:cNvPr id="6" name="Text 3"/>
          <p:cNvSpPr txBox="1"/>
          <p:nvPr/>
        </p:nvSpPr>
        <p:spPr>
          <a:xfrm>
            <a:off x="457200" y="3200400"/>
            <a:ext cx="192024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Food Delivery</a:t>
            </a:r>
            <a:endParaRPr lang="en-US" sz="1400" dirty="0"/>
          </a:p>
        </p:txBody>
      </p:sp>
      <p:sp>
        <p:nvSpPr>
          <p:cNvPr id="7" name="Text 4"/>
          <p:cNvSpPr txBox="1"/>
          <p:nvPr/>
        </p:nvSpPr>
        <p:spPr>
          <a:xfrm>
            <a:off x="457200" y="4434840"/>
            <a:ext cx="1828800" cy="274320"/>
          </a:xfrm>
          <a:prstGeom prst="rect">
            <a:avLst/>
          </a:prstGeom>
          <a:noFill/>
          <a:ln/>
        </p:spPr>
        <p:txBody>
          <a:bodyPr wrap="square" lIns="0" tIns="0" rIns="0" bIns="0" rtlCol="0" anchor="ctr"/>
          <a:lstStyle/>
          <a:p>
            <a:pPr indent="0" marL="0">
              <a:buNone/>
            </a:pPr>
            <a:r>
              <a:rPr lang="en-US" sz="1100" dirty="0">
                <a:solidFill>
                  <a:srgbClr val="9A9DB3"/>
                </a:solidFill>
                <a:latin typeface="Calibri" pitchFamily="34" charset="0"/>
                <a:ea typeface="Calibri" pitchFamily="34" charset="-122"/>
                <a:cs typeface="Calibri" pitchFamily="34" charset="-120"/>
              </a:rPr>
              <a:t>Question 2 of 10</a:t>
            </a:r>
            <a:endParaRPr lang="en-US" sz="1100" dirty="0"/>
          </a:p>
        </p:txBody>
      </p:sp>
      <p:sp>
        <p:nvSpPr>
          <p:cNvPr id="8" name="Text 5"/>
          <p:cNvSpPr txBox="1"/>
          <p:nvPr/>
        </p:nvSpPr>
        <p:spPr>
          <a:xfrm>
            <a:off x="3017520" y="457200"/>
            <a:ext cx="5669280" cy="274320"/>
          </a:xfrm>
          <a:prstGeom prst="rect">
            <a:avLst/>
          </a:prstGeom>
          <a:noFill/>
          <a:ln/>
        </p:spPr>
        <p:txBody>
          <a:bodyPr wrap="square" lIns="0" tIns="0" rIns="0" bIns="0" rtlCol="0" anchor="ctr"/>
          <a:lstStyle/>
          <a:p>
            <a:pPr indent="0" marL="0">
              <a:buNone/>
            </a:pPr>
            <a:r>
              <a:rPr lang="en-US" sz="1100" b="1" spc="300" kern="0" dirty="0">
                <a:solidFill>
                  <a:srgbClr val="6B6F85"/>
                </a:solidFill>
                <a:latin typeface="Calibri" pitchFamily="34" charset="0"/>
                <a:ea typeface="Calibri" pitchFamily="34" charset="-122"/>
                <a:cs typeface="Calibri" pitchFamily="34" charset="-120"/>
              </a:rPr>
              <a:t>SCENARIO</a:t>
            </a:r>
            <a:endParaRPr lang="en-US" sz="1100" dirty="0"/>
          </a:p>
        </p:txBody>
      </p:sp>
      <p:sp>
        <p:nvSpPr>
          <p:cNvPr id="9" name="Text 6"/>
          <p:cNvSpPr txBox="1"/>
          <p:nvPr/>
        </p:nvSpPr>
        <p:spPr>
          <a:xfrm>
            <a:off x="3017520" y="777240"/>
            <a:ext cx="5669280" cy="1874520"/>
          </a:xfrm>
          <a:prstGeom prst="rect">
            <a:avLst/>
          </a:prstGeom>
          <a:noFill/>
          <a:ln/>
        </p:spPr>
        <p:txBody>
          <a:bodyPr wrap="square" lIns="0" tIns="0" rIns="0" bIns="0" rtlCol="0" anchor="t"/>
          <a:lstStyle/>
          <a:p>
            <a:pPr indent="0" marL="0">
              <a:spcAft>
                <a:spcPts val="400"/>
              </a:spcAft>
              <a:buNone/>
            </a:pPr>
            <a:r>
              <a:rPr lang="en-US" sz="1700" dirty="0">
                <a:solidFill>
                  <a:srgbClr val="22223B"/>
                </a:solidFill>
                <a:latin typeface="Calibri" pitchFamily="34" charset="0"/>
                <a:ea typeface="Calibri" pitchFamily="34" charset="-122"/>
                <a:cs typeface="Calibri" pitchFamily="34" charset="-120"/>
              </a:rPr>
              <a:t>A food delivery app advertises that its average delivery time is at most 30 minutes. A consumer group thinks deliveries actually take longer and tracks 60 orders across the city.</a:t>
            </a:r>
            <a:endParaRPr lang="en-US" sz="1700" dirty="0"/>
          </a:p>
        </p:txBody>
      </p:sp>
      <p:sp>
        <p:nvSpPr>
          <p:cNvPr id="10" name="Shape 7"/>
          <p:cNvSpPr/>
          <p:nvPr/>
        </p:nvSpPr>
        <p:spPr>
          <a:xfrm>
            <a:off x="3017520" y="2880360"/>
            <a:ext cx="5669280" cy="1783080"/>
          </a:xfrm>
          <a:prstGeom prst="roundRect">
            <a:avLst>
              <a:gd name="adj" fmla="val 6154"/>
            </a:avLst>
          </a:prstGeom>
          <a:solidFill>
            <a:srgbClr val="EEF0F6"/>
          </a:solidFill>
          <a:ln w="12700">
            <a:solidFill>
              <a:srgbClr val="EEF0F6"/>
            </a:solidFill>
            <a:prstDash val="solid"/>
          </a:ln>
        </p:spPr>
      </p:sp>
      <p:sp>
        <p:nvSpPr>
          <p:cNvPr id="11" name="Text 8"/>
          <p:cNvSpPr txBox="1"/>
          <p:nvPr/>
        </p:nvSpPr>
        <p:spPr>
          <a:xfrm>
            <a:off x="3291840" y="3017520"/>
            <a:ext cx="5212080" cy="320040"/>
          </a:xfrm>
          <a:prstGeom prst="rect">
            <a:avLst/>
          </a:prstGeom>
          <a:noFill/>
          <a:ln/>
        </p:spPr>
        <p:txBody>
          <a:bodyPr wrap="square" lIns="0" tIns="0" rIns="0" bIns="0" rtlCol="0" anchor="ctr"/>
          <a:lstStyle/>
          <a:p>
            <a:pPr indent="0" marL="0">
              <a:buNone/>
            </a:pPr>
            <a:r>
              <a:rPr lang="en-US" sz="1300" b="1" dirty="0">
                <a:solidFill>
                  <a:srgbClr val="4A4E69"/>
                </a:solidFill>
                <a:latin typeface="Calibri" pitchFamily="34" charset="0"/>
                <a:ea typeface="Calibri" pitchFamily="34" charset="-122"/>
                <a:cs typeface="Calibri" pitchFamily="34" charset="-120"/>
              </a:rPr>
              <a:t>Write the null and alternative hypotheses</a:t>
            </a:r>
            <a:endParaRPr lang="en-US" sz="1300" dirty="0"/>
          </a:p>
        </p:txBody>
      </p:sp>
      <p:sp>
        <p:nvSpPr>
          <p:cNvPr id="12" name="Text 9"/>
          <p:cNvSpPr txBox="1"/>
          <p:nvPr/>
        </p:nvSpPr>
        <p:spPr>
          <a:xfrm>
            <a:off x="3291840" y="3474720"/>
            <a:ext cx="731520" cy="411480"/>
          </a:xfrm>
          <a:prstGeom prst="rect">
            <a:avLst/>
          </a:prstGeom>
          <a:noFill/>
          <a:ln/>
        </p:spPr>
        <p:txBody>
          <a:bodyPr wrap="square" lIns="0" tIns="0" rIns="0" bIns="0" rtlCol="0" anchor="ctr"/>
          <a:lstStyle/>
          <a:p>
            <a:pPr indent="0" marL="0">
              <a:buNone/>
            </a:pPr>
            <a:r>
              <a:rPr lang="en-US" sz="2000" b="1" dirty="0">
                <a:solidFill>
                  <a:srgbClr val="22223B"/>
                </a:solidFill>
                <a:latin typeface="Cambria" pitchFamily="34" charset="0"/>
                <a:ea typeface="Cambria" pitchFamily="34" charset="-122"/>
                <a:cs typeface="Cambria" pitchFamily="34" charset="-120"/>
              </a:rPr>
              <a:t>H</a:t>
            </a:r>
            <a:pPr indent="0" marL="0">
              <a:buNone/>
            </a:pPr>
            <a:r>
              <a:rPr lang="en-US" sz="2000" b="1" baseline="-40000" dirty="0">
                <a:solidFill>
                  <a:srgbClr val="22223B"/>
                </a:solidFill>
                <a:latin typeface="Cambria" pitchFamily="34" charset="0"/>
                <a:ea typeface="Cambria" pitchFamily="34" charset="-122"/>
                <a:cs typeface="Cambria" pitchFamily="34" charset="-120"/>
              </a:rPr>
              <a:t>0</a:t>
            </a:r>
            <a:pPr indent="0" marL="0">
              <a:buNone/>
            </a:pPr>
            <a:r>
              <a:rPr lang="en-US" sz="2000" b="1" dirty="0">
                <a:solidFill>
                  <a:srgbClr val="22223B"/>
                </a:solidFill>
                <a:latin typeface="Cambria" pitchFamily="34" charset="0"/>
                <a:ea typeface="Cambria" pitchFamily="34" charset="-122"/>
                <a:cs typeface="Cambria" pitchFamily="34" charset="-120"/>
              </a:rPr>
              <a:t>  :</a:t>
            </a:r>
            <a:endParaRPr lang="en-US" sz="2000" dirty="0"/>
          </a:p>
        </p:txBody>
      </p:sp>
      <p:sp>
        <p:nvSpPr>
          <p:cNvPr id="13" name="Shape 10"/>
          <p:cNvSpPr/>
          <p:nvPr/>
        </p:nvSpPr>
        <p:spPr>
          <a:xfrm>
            <a:off x="4069080" y="3822192"/>
            <a:ext cx="4297680" cy="0"/>
          </a:xfrm>
          <a:prstGeom prst="line">
            <a:avLst/>
          </a:prstGeom>
          <a:noFill/>
          <a:ln w="12700">
            <a:solidFill>
              <a:srgbClr val="9A9DB3"/>
            </a:solidFill>
            <a:prstDash val="dash"/>
          </a:ln>
        </p:spPr>
      </p:sp>
      <p:sp>
        <p:nvSpPr>
          <p:cNvPr id="14" name="Text 11"/>
          <p:cNvSpPr txBox="1"/>
          <p:nvPr/>
        </p:nvSpPr>
        <p:spPr>
          <a:xfrm>
            <a:off x="3291840" y="4023360"/>
            <a:ext cx="731520" cy="411480"/>
          </a:xfrm>
          <a:prstGeom prst="rect">
            <a:avLst/>
          </a:prstGeom>
          <a:noFill/>
          <a:ln/>
        </p:spPr>
        <p:txBody>
          <a:bodyPr wrap="square" lIns="0" tIns="0" rIns="0" bIns="0" rtlCol="0" anchor="ctr"/>
          <a:lstStyle/>
          <a:p>
            <a:pPr indent="0" marL="0">
              <a:buNone/>
            </a:pPr>
            <a:r>
              <a:rPr lang="en-US" sz="2000" b="1" dirty="0">
                <a:solidFill>
                  <a:srgbClr val="22223B"/>
                </a:solidFill>
                <a:latin typeface="Cambria" pitchFamily="34" charset="0"/>
                <a:ea typeface="Cambria" pitchFamily="34" charset="-122"/>
                <a:cs typeface="Cambria" pitchFamily="34" charset="-120"/>
              </a:rPr>
              <a:t>H</a:t>
            </a:r>
            <a:pPr indent="0" marL="0">
              <a:buNone/>
            </a:pPr>
            <a:r>
              <a:rPr lang="en-US" sz="2000" b="1" baseline="-40000" dirty="0">
                <a:solidFill>
                  <a:srgbClr val="22223B"/>
                </a:solidFill>
                <a:latin typeface="Cambria" pitchFamily="34" charset="0"/>
                <a:ea typeface="Cambria" pitchFamily="34" charset="-122"/>
                <a:cs typeface="Cambria" pitchFamily="34" charset="-120"/>
              </a:rPr>
              <a:t>a</a:t>
            </a:r>
            <a:pPr indent="0" marL="0">
              <a:buNone/>
            </a:pPr>
            <a:r>
              <a:rPr lang="en-US" sz="2000" b="1" dirty="0">
                <a:solidFill>
                  <a:srgbClr val="22223B"/>
                </a:solidFill>
                <a:latin typeface="Cambria" pitchFamily="34" charset="0"/>
                <a:ea typeface="Cambria" pitchFamily="34" charset="-122"/>
                <a:cs typeface="Cambria" pitchFamily="34" charset="-120"/>
              </a:rPr>
              <a:t>  :</a:t>
            </a:r>
            <a:endParaRPr lang="en-US" sz="2000" dirty="0"/>
          </a:p>
        </p:txBody>
      </p:sp>
      <p:sp>
        <p:nvSpPr>
          <p:cNvPr id="15" name="Shape 12"/>
          <p:cNvSpPr/>
          <p:nvPr/>
        </p:nvSpPr>
        <p:spPr>
          <a:xfrm>
            <a:off x="4069080" y="4370832"/>
            <a:ext cx="4297680" cy="0"/>
          </a:xfrm>
          <a:prstGeom prst="line">
            <a:avLst/>
          </a:prstGeom>
          <a:noFill/>
          <a:ln w="12700">
            <a:solidFill>
              <a:srgbClr val="9A9DB3"/>
            </a:solidFill>
            <a:prstDash val="dash"/>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560320" cy="5143500"/>
          </a:xfrm>
          <a:prstGeom prst="rect">
            <a:avLst/>
          </a:prstGeom>
          <a:solidFill>
            <a:srgbClr val="22223B"/>
          </a:solidFill>
          <a:ln w="12700">
            <a:solidFill>
              <a:srgbClr val="22223B"/>
            </a:solidFill>
            <a:prstDash val="solid"/>
          </a:ln>
        </p:spPr>
      </p:sp>
      <p:sp>
        <p:nvSpPr>
          <p:cNvPr id="3" name="Text 1"/>
          <p:cNvSpPr txBox="1"/>
          <p:nvPr/>
        </p:nvSpPr>
        <p:spPr>
          <a:xfrm>
            <a:off x="457200" y="502920"/>
            <a:ext cx="1828800" cy="1005840"/>
          </a:xfrm>
          <a:prstGeom prst="rect">
            <a:avLst/>
          </a:prstGeom>
          <a:noFill/>
          <a:ln/>
        </p:spPr>
        <p:txBody>
          <a:bodyPr wrap="square" lIns="0" tIns="0" rIns="0" bIns="0" rtlCol="0" anchor="ctr"/>
          <a:lstStyle/>
          <a:p>
            <a:pPr indent="0" marL="0">
              <a:buNone/>
            </a:pPr>
            <a:r>
              <a:rPr lang="en-US" sz="6000" b="1" dirty="0">
                <a:solidFill>
                  <a:srgbClr val="F2A541"/>
                </a:solidFill>
                <a:latin typeface="Cambria" pitchFamily="34" charset="0"/>
                <a:ea typeface="Cambria" pitchFamily="34" charset="-122"/>
                <a:cs typeface="Cambria" pitchFamily="34" charset="-120"/>
              </a:rPr>
              <a:t>Q3</a:t>
            </a:r>
            <a:endParaRPr lang="en-US" sz="6000" dirty="0"/>
          </a:p>
        </p:txBody>
      </p:sp>
      <p:sp>
        <p:nvSpPr>
          <p:cNvPr id="4" name="Shape 2"/>
          <p:cNvSpPr/>
          <p:nvPr/>
        </p:nvSpPr>
        <p:spPr>
          <a:xfrm>
            <a:off x="457200" y="2011680"/>
            <a:ext cx="1005840" cy="1005840"/>
          </a:xfrm>
          <a:prstGeom prst="ellipse">
            <a:avLst/>
          </a:prstGeom>
          <a:solidFill>
            <a:srgbClr val="4A4E69"/>
          </a:solidFill>
          <a:ln/>
        </p:spPr>
      </p:sp>
      <p:pic>
        <p:nvPicPr>
          <p:cNvPr id="5" name="Image 0" descr="preencoded.png">    </p:cNvPr>
          <p:cNvPicPr>
            <a:picLocks noChangeAspect="1"/>
          </p:cNvPicPr>
          <p:nvPr/>
        </p:nvPicPr>
        <p:blipFill>
          <a:blip r:embed="rId1"/>
          <a:stretch>
            <a:fillRect/>
          </a:stretch>
        </p:blipFill>
        <p:spPr>
          <a:xfrm>
            <a:off x="713232" y="2267712"/>
            <a:ext cx="493776" cy="493776"/>
          </a:xfrm>
          <a:prstGeom prst="rect">
            <a:avLst/>
          </a:prstGeom>
        </p:spPr>
      </p:pic>
      <p:sp>
        <p:nvSpPr>
          <p:cNvPr id="6" name="Text 3"/>
          <p:cNvSpPr txBox="1"/>
          <p:nvPr/>
        </p:nvSpPr>
        <p:spPr>
          <a:xfrm>
            <a:off x="457200" y="3200400"/>
            <a:ext cx="192024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E-commerce</a:t>
            </a:r>
            <a:endParaRPr lang="en-US" sz="1400" dirty="0"/>
          </a:p>
        </p:txBody>
      </p:sp>
      <p:sp>
        <p:nvSpPr>
          <p:cNvPr id="7" name="Text 4"/>
          <p:cNvSpPr txBox="1"/>
          <p:nvPr/>
        </p:nvSpPr>
        <p:spPr>
          <a:xfrm>
            <a:off x="457200" y="4434840"/>
            <a:ext cx="1828800" cy="274320"/>
          </a:xfrm>
          <a:prstGeom prst="rect">
            <a:avLst/>
          </a:prstGeom>
          <a:noFill/>
          <a:ln/>
        </p:spPr>
        <p:txBody>
          <a:bodyPr wrap="square" lIns="0" tIns="0" rIns="0" bIns="0" rtlCol="0" anchor="ctr"/>
          <a:lstStyle/>
          <a:p>
            <a:pPr indent="0" marL="0">
              <a:buNone/>
            </a:pPr>
            <a:r>
              <a:rPr lang="en-US" sz="1100" dirty="0">
                <a:solidFill>
                  <a:srgbClr val="9A9DB3"/>
                </a:solidFill>
                <a:latin typeface="Calibri" pitchFamily="34" charset="0"/>
                <a:ea typeface="Calibri" pitchFamily="34" charset="-122"/>
                <a:cs typeface="Calibri" pitchFamily="34" charset="-120"/>
              </a:rPr>
              <a:t>Question 3 of 10</a:t>
            </a:r>
            <a:endParaRPr lang="en-US" sz="1100" dirty="0"/>
          </a:p>
        </p:txBody>
      </p:sp>
      <p:sp>
        <p:nvSpPr>
          <p:cNvPr id="8" name="Text 5"/>
          <p:cNvSpPr txBox="1"/>
          <p:nvPr/>
        </p:nvSpPr>
        <p:spPr>
          <a:xfrm>
            <a:off x="3017520" y="457200"/>
            <a:ext cx="5669280" cy="274320"/>
          </a:xfrm>
          <a:prstGeom prst="rect">
            <a:avLst/>
          </a:prstGeom>
          <a:noFill/>
          <a:ln/>
        </p:spPr>
        <p:txBody>
          <a:bodyPr wrap="square" lIns="0" tIns="0" rIns="0" bIns="0" rtlCol="0" anchor="ctr"/>
          <a:lstStyle/>
          <a:p>
            <a:pPr indent="0" marL="0">
              <a:buNone/>
            </a:pPr>
            <a:r>
              <a:rPr lang="en-US" sz="1100" b="1" spc="300" kern="0" dirty="0">
                <a:solidFill>
                  <a:srgbClr val="6B6F85"/>
                </a:solidFill>
                <a:latin typeface="Calibri" pitchFamily="34" charset="0"/>
                <a:ea typeface="Calibri" pitchFamily="34" charset="-122"/>
                <a:cs typeface="Calibri" pitchFamily="34" charset="-120"/>
              </a:rPr>
              <a:t>SCENARIO</a:t>
            </a:r>
            <a:endParaRPr lang="en-US" sz="1100" dirty="0"/>
          </a:p>
        </p:txBody>
      </p:sp>
      <p:sp>
        <p:nvSpPr>
          <p:cNvPr id="9" name="Text 6"/>
          <p:cNvSpPr txBox="1"/>
          <p:nvPr/>
        </p:nvSpPr>
        <p:spPr>
          <a:xfrm>
            <a:off x="3017520" y="777240"/>
            <a:ext cx="5669280" cy="1874520"/>
          </a:xfrm>
          <a:prstGeom prst="rect">
            <a:avLst/>
          </a:prstGeom>
          <a:noFill/>
          <a:ln/>
        </p:spPr>
        <p:txBody>
          <a:bodyPr wrap="square" lIns="0" tIns="0" rIns="0" bIns="0" rtlCol="0" anchor="t"/>
          <a:lstStyle/>
          <a:p>
            <a:pPr indent="0" marL="0">
              <a:spcAft>
                <a:spcPts val="400"/>
              </a:spcAft>
              <a:buNone/>
            </a:pPr>
            <a:r>
              <a:rPr lang="en-US" sz="1700" dirty="0">
                <a:solidFill>
                  <a:srgbClr val="22223B"/>
                </a:solidFill>
                <a:latin typeface="Calibri" pitchFamily="34" charset="0"/>
                <a:ea typeface="Calibri" pitchFamily="34" charset="-122"/>
                <a:cs typeface="Calibri" pitchFamily="34" charset="-120"/>
              </a:rPr>
              <a:t>An e-commerce company claims that no more than 5% of its orders get returned. A warehouse manager feels returns are running higher than that and checks a random sample of 400 orders at α = 0.05.</a:t>
            </a:r>
            <a:endParaRPr lang="en-US" sz="1700" dirty="0"/>
          </a:p>
        </p:txBody>
      </p:sp>
      <p:sp>
        <p:nvSpPr>
          <p:cNvPr id="10" name="Shape 7"/>
          <p:cNvSpPr/>
          <p:nvPr/>
        </p:nvSpPr>
        <p:spPr>
          <a:xfrm>
            <a:off x="3017520" y="2880360"/>
            <a:ext cx="5669280" cy="1783080"/>
          </a:xfrm>
          <a:prstGeom prst="roundRect">
            <a:avLst>
              <a:gd name="adj" fmla="val 6154"/>
            </a:avLst>
          </a:prstGeom>
          <a:solidFill>
            <a:srgbClr val="EEF0F6"/>
          </a:solidFill>
          <a:ln w="12700">
            <a:solidFill>
              <a:srgbClr val="EEF0F6"/>
            </a:solidFill>
            <a:prstDash val="solid"/>
          </a:ln>
        </p:spPr>
      </p:sp>
      <p:sp>
        <p:nvSpPr>
          <p:cNvPr id="11" name="Text 8"/>
          <p:cNvSpPr txBox="1"/>
          <p:nvPr/>
        </p:nvSpPr>
        <p:spPr>
          <a:xfrm>
            <a:off x="3291840" y="3017520"/>
            <a:ext cx="5212080" cy="320040"/>
          </a:xfrm>
          <a:prstGeom prst="rect">
            <a:avLst/>
          </a:prstGeom>
          <a:noFill/>
          <a:ln/>
        </p:spPr>
        <p:txBody>
          <a:bodyPr wrap="square" lIns="0" tIns="0" rIns="0" bIns="0" rtlCol="0" anchor="ctr"/>
          <a:lstStyle/>
          <a:p>
            <a:pPr indent="0" marL="0">
              <a:buNone/>
            </a:pPr>
            <a:r>
              <a:rPr lang="en-US" sz="1300" b="1" dirty="0">
                <a:solidFill>
                  <a:srgbClr val="4A4E69"/>
                </a:solidFill>
                <a:latin typeface="Calibri" pitchFamily="34" charset="0"/>
                <a:ea typeface="Calibri" pitchFamily="34" charset="-122"/>
                <a:cs typeface="Calibri" pitchFamily="34" charset="-120"/>
              </a:rPr>
              <a:t>Write the null and alternative hypotheses</a:t>
            </a:r>
            <a:endParaRPr lang="en-US" sz="1300" dirty="0"/>
          </a:p>
        </p:txBody>
      </p:sp>
      <p:sp>
        <p:nvSpPr>
          <p:cNvPr id="12" name="Text 9"/>
          <p:cNvSpPr txBox="1"/>
          <p:nvPr/>
        </p:nvSpPr>
        <p:spPr>
          <a:xfrm>
            <a:off x="3291840" y="3474720"/>
            <a:ext cx="731520" cy="411480"/>
          </a:xfrm>
          <a:prstGeom prst="rect">
            <a:avLst/>
          </a:prstGeom>
          <a:noFill/>
          <a:ln/>
        </p:spPr>
        <p:txBody>
          <a:bodyPr wrap="square" lIns="0" tIns="0" rIns="0" bIns="0" rtlCol="0" anchor="ctr"/>
          <a:lstStyle/>
          <a:p>
            <a:pPr indent="0" marL="0">
              <a:buNone/>
            </a:pPr>
            <a:r>
              <a:rPr lang="en-US" sz="2000" b="1" dirty="0">
                <a:solidFill>
                  <a:srgbClr val="22223B"/>
                </a:solidFill>
                <a:latin typeface="Cambria" pitchFamily="34" charset="0"/>
                <a:ea typeface="Cambria" pitchFamily="34" charset="-122"/>
                <a:cs typeface="Cambria" pitchFamily="34" charset="-120"/>
              </a:rPr>
              <a:t>H</a:t>
            </a:r>
            <a:pPr indent="0" marL="0">
              <a:buNone/>
            </a:pPr>
            <a:r>
              <a:rPr lang="en-US" sz="2000" b="1" baseline="-40000" dirty="0">
                <a:solidFill>
                  <a:srgbClr val="22223B"/>
                </a:solidFill>
                <a:latin typeface="Cambria" pitchFamily="34" charset="0"/>
                <a:ea typeface="Cambria" pitchFamily="34" charset="-122"/>
                <a:cs typeface="Cambria" pitchFamily="34" charset="-120"/>
              </a:rPr>
              <a:t>0</a:t>
            </a:r>
            <a:pPr indent="0" marL="0">
              <a:buNone/>
            </a:pPr>
            <a:r>
              <a:rPr lang="en-US" sz="2000" b="1" dirty="0">
                <a:solidFill>
                  <a:srgbClr val="22223B"/>
                </a:solidFill>
                <a:latin typeface="Cambria" pitchFamily="34" charset="0"/>
                <a:ea typeface="Cambria" pitchFamily="34" charset="-122"/>
                <a:cs typeface="Cambria" pitchFamily="34" charset="-120"/>
              </a:rPr>
              <a:t>  :</a:t>
            </a:r>
            <a:endParaRPr lang="en-US" sz="2000" dirty="0"/>
          </a:p>
        </p:txBody>
      </p:sp>
      <p:sp>
        <p:nvSpPr>
          <p:cNvPr id="13" name="Shape 10"/>
          <p:cNvSpPr/>
          <p:nvPr/>
        </p:nvSpPr>
        <p:spPr>
          <a:xfrm>
            <a:off x="4069080" y="3822192"/>
            <a:ext cx="4297680" cy="0"/>
          </a:xfrm>
          <a:prstGeom prst="line">
            <a:avLst/>
          </a:prstGeom>
          <a:noFill/>
          <a:ln w="12700">
            <a:solidFill>
              <a:srgbClr val="9A9DB3"/>
            </a:solidFill>
            <a:prstDash val="dash"/>
          </a:ln>
        </p:spPr>
      </p:sp>
      <p:sp>
        <p:nvSpPr>
          <p:cNvPr id="14" name="Text 11"/>
          <p:cNvSpPr txBox="1"/>
          <p:nvPr/>
        </p:nvSpPr>
        <p:spPr>
          <a:xfrm>
            <a:off x="3291840" y="4023360"/>
            <a:ext cx="731520" cy="411480"/>
          </a:xfrm>
          <a:prstGeom prst="rect">
            <a:avLst/>
          </a:prstGeom>
          <a:noFill/>
          <a:ln/>
        </p:spPr>
        <p:txBody>
          <a:bodyPr wrap="square" lIns="0" tIns="0" rIns="0" bIns="0" rtlCol="0" anchor="ctr"/>
          <a:lstStyle/>
          <a:p>
            <a:pPr indent="0" marL="0">
              <a:buNone/>
            </a:pPr>
            <a:r>
              <a:rPr lang="en-US" sz="2000" b="1" dirty="0">
                <a:solidFill>
                  <a:srgbClr val="22223B"/>
                </a:solidFill>
                <a:latin typeface="Cambria" pitchFamily="34" charset="0"/>
                <a:ea typeface="Cambria" pitchFamily="34" charset="-122"/>
                <a:cs typeface="Cambria" pitchFamily="34" charset="-120"/>
              </a:rPr>
              <a:t>H</a:t>
            </a:r>
            <a:pPr indent="0" marL="0">
              <a:buNone/>
            </a:pPr>
            <a:r>
              <a:rPr lang="en-US" sz="2000" b="1" baseline="-40000" dirty="0">
                <a:solidFill>
                  <a:srgbClr val="22223B"/>
                </a:solidFill>
                <a:latin typeface="Cambria" pitchFamily="34" charset="0"/>
                <a:ea typeface="Cambria" pitchFamily="34" charset="-122"/>
                <a:cs typeface="Cambria" pitchFamily="34" charset="-120"/>
              </a:rPr>
              <a:t>a</a:t>
            </a:r>
            <a:pPr indent="0" marL="0">
              <a:buNone/>
            </a:pPr>
            <a:r>
              <a:rPr lang="en-US" sz="2000" b="1" dirty="0">
                <a:solidFill>
                  <a:srgbClr val="22223B"/>
                </a:solidFill>
                <a:latin typeface="Cambria" pitchFamily="34" charset="0"/>
                <a:ea typeface="Cambria" pitchFamily="34" charset="-122"/>
                <a:cs typeface="Cambria" pitchFamily="34" charset="-120"/>
              </a:rPr>
              <a:t>  :</a:t>
            </a:r>
            <a:endParaRPr lang="en-US" sz="2000" dirty="0"/>
          </a:p>
        </p:txBody>
      </p:sp>
      <p:sp>
        <p:nvSpPr>
          <p:cNvPr id="15" name="Shape 12"/>
          <p:cNvSpPr/>
          <p:nvPr/>
        </p:nvSpPr>
        <p:spPr>
          <a:xfrm>
            <a:off x="4069080" y="4370832"/>
            <a:ext cx="4297680" cy="0"/>
          </a:xfrm>
          <a:prstGeom prst="line">
            <a:avLst/>
          </a:prstGeom>
          <a:noFill/>
          <a:ln w="12700">
            <a:solidFill>
              <a:srgbClr val="9A9DB3"/>
            </a:solidFill>
            <a:prstDash val="dash"/>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560320" cy="5143500"/>
          </a:xfrm>
          <a:prstGeom prst="rect">
            <a:avLst/>
          </a:prstGeom>
          <a:solidFill>
            <a:srgbClr val="22223B"/>
          </a:solidFill>
          <a:ln w="12700">
            <a:solidFill>
              <a:srgbClr val="22223B"/>
            </a:solidFill>
            <a:prstDash val="solid"/>
          </a:ln>
        </p:spPr>
      </p:sp>
      <p:sp>
        <p:nvSpPr>
          <p:cNvPr id="3" name="Text 1"/>
          <p:cNvSpPr txBox="1"/>
          <p:nvPr/>
        </p:nvSpPr>
        <p:spPr>
          <a:xfrm>
            <a:off x="457200" y="502920"/>
            <a:ext cx="1828800" cy="1005840"/>
          </a:xfrm>
          <a:prstGeom prst="rect">
            <a:avLst/>
          </a:prstGeom>
          <a:noFill/>
          <a:ln/>
        </p:spPr>
        <p:txBody>
          <a:bodyPr wrap="square" lIns="0" tIns="0" rIns="0" bIns="0" rtlCol="0" anchor="ctr"/>
          <a:lstStyle/>
          <a:p>
            <a:pPr indent="0" marL="0">
              <a:buNone/>
            </a:pPr>
            <a:r>
              <a:rPr lang="en-US" sz="6000" b="1" dirty="0">
                <a:solidFill>
                  <a:srgbClr val="F2A541"/>
                </a:solidFill>
                <a:latin typeface="Cambria" pitchFamily="34" charset="0"/>
                <a:ea typeface="Cambria" pitchFamily="34" charset="-122"/>
                <a:cs typeface="Cambria" pitchFamily="34" charset="-120"/>
              </a:rPr>
              <a:t>Q4</a:t>
            </a:r>
            <a:endParaRPr lang="en-US" sz="6000" dirty="0"/>
          </a:p>
        </p:txBody>
      </p:sp>
      <p:sp>
        <p:nvSpPr>
          <p:cNvPr id="4" name="Shape 2"/>
          <p:cNvSpPr/>
          <p:nvPr/>
        </p:nvSpPr>
        <p:spPr>
          <a:xfrm>
            <a:off x="457200" y="2011680"/>
            <a:ext cx="1005840" cy="1005840"/>
          </a:xfrm>
          <a:prstGeom prst="ellipse">
            <a:avLst/>
          </a:prstGeom>
          <a:solidFill>
            <a:srgbClr val="4A4E69"/>
          </a:solidFill>
          <a:ln/>
        </p:spPr>
      </p:sp>
      <p:pic>
        <p:nvPicPr>
          <p:cNvPr id="5" name="Image 0" descr="preencoded.png">    </p:cNvPr>
          <p:cNvPicPr>
            <a:picLocks noChangeAspect="1"/>
          </p:cNvPicPr>
          <p:nvPr/>
        </p:nvPicPr>
        <p:blipFill>
          <a:blip r:embed="rId1"/>
          <a:stretch>
            <a:fillRect/>
          </a:stretch>
        </p:blipFill>
        <p:spPr>
          <a:xfrm>
            <a:off x="713232" y="2267712"/>
            <a:ext cx="493776" cy="493776"/>
          </a:xfrm>
          <a:prstGeom prst="rect">
            <a:avLst/>
          </a:prstGeom>
        </p:spPr>
      </p:pic>
      <p:sp>
        <p:nvSpPr>
          <p:cNvPr id="6" name="Text 3"/>
          <p:cNvSpPr txBox="1"/>
          <p:nvPr/>
        </p:nvSpPr>
        <p:spPr>
          <a:xfrm>
            <a:off x="457200" y="3200400"/>
            <a:ext cx="192024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Electronics</a:t>
            </a:r>
            <a:endParaRPr lang="en-US" sz="1400" dirty="0"/>
          </a:p>
        </p:txBody>
      </p:sp>
      <p:sp>
        <p:nvSpPr>
          <p:cNvPr id="7" name="Text 4"/>
          <p:cNvSpPr txBox="1"/>
          <p:nvPr/>
        </p:nvSpPr>
        <p:spPr>
          <a:xfrm>
            <a:off x="457200" y="4434840"/>
            <a:ext cx="1828800" cy="274320"/>
          </a:xfrm>
          <a:prstGeom prst="rect">
            <a:avLst/>
          </a:prstGeom>
          <a:noFill/>
          <a:ln/>
        </p:spPr>
        <p:txBody>
          <a:bodyPr wrap="square" lIns="0" tIns="0" rIns="0" bIns="0" rtlCol="0" anchor="ctr"/>
          <a:lstStyle/>
          <a:p>
            <a:pPr indent="0" marL="0">
              <a:buNone/>
            </a:pPr>
            <a:r>
              <a:rPr lang="en-US" sz="1100" dirty="0">
                <a:solidFill>
                  <a:srgbClr val="9A9DB3"/>
                </a:solidFill>
                <a:latin typeface="Calibri" pitchFamily="34" charset="0"/>
                <a:ea typeface="Calibri" pitchFamily="34" charset="-122"/>
                <a:cs typeface="Calibri" pitchFamily="34" charset="-120"/>
              </a:rPr>
              <a:t>Question 4 of 10</a:t>
            </a:r>
            <a:endParaRPr lang="en-US" sz="1100" dirty="0"/>
          </a:p>
        </p:txBody>
      </p:sp>
      <p:sp>
        <p:nvSpPr>
          <p:cNvPr id="8" name="Text 5"/>
          <p:cNvSpPr txBox="1"/>
          <p:nvPr/>
        </p:nvSpPr>
        <p:spPr>
          <a:xfrm>
            <a:off x="3017520" y="457200"/>
            <a:ext cx="5669280" cy="274320"/>
          </a:xfrm>
          <a:prstGeom prst="rect">
            <a:avLst/>
          </a:prstGeom>
          <a:noFill/>
          <a:ln/>
        </p:spPr>
        <p:txBody>
          <a:bodyPr wrap="square" lIns="0" tIns="0" rIns="0" bIns="0" rtlCol="0" anchor="ctr"/>
          <a:lstStyle/>
          <a:p>
            <a:pPr indent="0" marL="0">
              <a:buNone/>
            </a:pPr>
            <a:r>
              <a:rPr lang="en-US" sz="1100" b="1" spc="300" kern="0" dirty="0">
                <a:solidFill>
                  <a:srgbClr val="6B6F85"/>
                </a:solidFill>
                <a:latin typeface="Calibri" pitchFamily="34" charset="0"/>
                <a:ea typeface="Calibri" pitchFamily="34" charset="-122"/>
                <a:cs typeface="Calibri" pitchFamily="34" charset="-120"/>
              </a:rPr>
              <a:t>SCENARIO</a:t>
            </a:r>
            <a:endParaRPr lang="en-US" sz="1100" dirty="0"/>
          </a:p>
        </p:txBody>
      </p:sp>
      <p:sp>
        <p:nvSpPr>
          <p:cNvPr id="9" name="Text 6"/>
          <p:cNvSpPr txBox="1"/>
          <p:nvPr/>
        </p:nvSpPr>
        <p:spPr>
          <a:xfrm>
            <a:off x="3017520" y="777240"/>
            <a:ext cx="5669280" cy="1874520"/>
          </a:xfrm>
          <a:prstGeom prst="rect">
            <a:avLst/>
          </a:prstGeom>
          <a:noFill/>
          <a:ln/>
        </p:spPr>
        <p:txBody>
          <a:bodyPr wrap="square" lIns="0" tIns="0" rIns="0" bIns="0" rtlCol="0" anchor="t"/>
          <a:lstStyle/>
          <a:p>
            <a:pPr indent="0" marL="0">
              <a:spcAft>
                <a:spcPts val="400"/>
              </a:spcAft>
              <a:buNone/>
            </a:pPr>
            <a:r>
              <a:rPr lang="en-US" sz="1700" dirty="0">
                <a:solidFill>
                  <a:srgbClr val="22223B"/>
                </a:solidFill>
                <a:latin typeface="Calibri" pitchFamily="34" charset="0"/>
                <a:ea typeface="Calibri" pitchFamily="34" charset="-122"/>
                <a:cs typeface="Calibri" pitchFamily="34" charset="-120"/>
              </a:rPr>
              <a:t>A power bank brand says its product lasts at least 18 hours on a full charge, on average. Reviewers on a tech forum believe the real battery life is shorter. They test 25 units.</a:t>
            </a:r>
            <a:endParaRPr lang="en-US" sz="1700" dirty="0"/>
          </a:p>
        </p:txBody>
      </p:sp>
      <p:sp>
        <p:nvSpPr>
          <p:cNvPr id="10" name="Shape 7"/>
          <p:cNvSpPr/>
          <p:nvPr/>
        </p:nvSpPr>
        <p:spPr>
          <a:xfrm>
            <a:off x="3017520" y="2880360"/>
            <a:ext cx="5669280" cy="1783080"/>
          </a:xfrm>
          <a:prstGeom prst="roundRect">
            <a:avLst>
              <a:gd name="adj" fmla="val 6154"/>
            </a:avLst>
          </a:prstGeom>
          <a:solidFill>
            <a:srgbClr val="EEF0F6"/>
          </a:solidFill>
          <a:ln w="12700">
            <a:solidFill>
              <a:srgbClr val="EEF0F6"/>
            </a:solidFill>
            <a:prstDash val="solid"/>
          </a:ln>
        </p:spPr>
      </p:sp>
      <p:sp>
        <p:nvSpPr>
          <p:cNvPr id="11" name="Text 8"/>
          <p:cNvSpPr txBox="1"/>
          <p:nvPr/>
        </p:nvSpPr>
        <p:spPr>
          <a:xfrm>
            <a:off x="3291840" y="3017520"/>
            <a:ext cx="5212080" cy="320040"/>
          </a:xfrm>
          <a:prstGeom prst="rect">
            <a:avLst/>
          </a:prstGeom>
          <a:noFill/>
          <a:ln/>
        </p:spPr>
        <p:txBody>
          <a:bodyPr wrap="square" lIns="0" tIns="0" rIns="0" bIns="0" rtlCol="0" anchor="ctr"/>
          <a:lstStyle/>
          <a:p>
            <a:pPr indent="0" marL="0">
              <a:buNone/>
            </a:pPr>
            <a:r>
              <a:rPr lang="en-US" sz="1300" b="1" dirty="0">
                <a:solidFill>
                  <a:srgbClr val="4A4E69"/>
                </a:solidFill>
                <a:latin typeface="Calibri" pitchFamily="34" charset="0"/>
                <a:ea typeface="Calibri" pitchFamily="34" charset="-122"/>
                <a:cs typeface="Calibri" pitchFamily="34" charset="-120"/>
              </a:rPr>
              <a:t>Write the null and alternative hypotheses</a:t>
            </a:r>
            <a:endParaRPr lang="en-US" sz="1300" dirty="0"/>
          </a:p>
        </p:txBody>
      </p:sp>
      <p:sp>
        <p:nvSpPr>
          <p:cNvPr id="12" name="Text 9"/>
          <p:cNvSpPr txBox="1"/>
          <p:nvPr/>
        </p:nvSpPr>
        <p:spPr>
          <a:xfrm>
            <a:off x="3291840" y="3474720"/>
            <a:ext cx="731520" cy="411480"/>
          </a:xfrm>
          <a:prstGeom prst="rect">
            <a:avLst/>
          </a:prstGeom>
          <a:noFill/>
          <a:ln/>
        </p:spPr>
        <p:txBody>
          <a:bodyPr wrap="square" lIns="0" tIns="0" rIns="0" bIns="0" rtlCol="0" anchor="ctr"/>
          <a:lstStyle/>
          <a:p>
            <a:pPr indent="0" marL="0">
              <a:buNone/>
            </a:pPr>
            <a:r>
              <a:rPr lang="en-US" sz="2000" b="1" dirty="0">
                <a:solidFill>
                  <a:srgbClr val="22223B"/>
                </a:solidFill>
                <a:latin typeface="Cambria" pitchFamily="34" charset="0"/>
                <a:ea typeface="Cambria" pitchFamily="34" charset="-122"/>
                <a:cs typeface="Cambria" pitchFamily="34" charset="-120"/>
              </a:rPr>
              <a:t>H</a:t>
            </a:r>
            <a:pPr indent="0" marL="0">
              <a:buNone/>
            </a:pPr>
            <a:r>
              <a:rPr lang="en-US" sz="2000" b="1" baseline="-40000" dirty="0">
                <a:solidFill>
                  <a:srgbClr val="22223B"/>
                </a:solidFill>
                <a:latin typeface="Cambria" pitchFamily="34" charset="0"/>
                <a:ea typeface="Cambria" pitchFamily="34" charset="-122"/>
                <a:cs typeface="Cambria" pitchFamily="34" charset="-120"/>
              </a:rPr>
              <a:t>0</a:t>
            </a:r>
            <a:pPr indent="0" marL="0">
              <a:buNone/>
            </a:pPr>
            <a:r>
              <a:rPr lang="en-US" sz="2000" b="1" dirty="0">
                <a:solidFill>
                  <a:srgbClr val="22223B"/>
                </a:solidFill>
                <a:latin typeface="Cambria" pitchFamily="34" charset="0"/>
                <a:ea typeface="Cambria" pitchFamily="34" charset="-122"/>
                <a:cs typeface="Cambria" pitchFamily="34" charset="-120"/>
              </a:rPr>
              <a:t>  :</a:t>
            </a:r>
            <a:endParaRPr lang="en-US" sz="2000" dirty="0"/>
          </a:p>
        </p:txBody>
      </p:sp>
      <p:sp>
        <p:nvSpPr>
          <p:cNvPr id="13" name="Shape 10"/>
          <p:cNvSpPr/>
          <p:nvPr/>
        </p:nvSpPr>
        <p:spPr>
          <a:xfrm>
            <a:off x="4069080" y="3822192"/>
            <a:ext cx="4297680" cy="0"/>
          </a:xfrm>
          <a:prstGeom prst="line">
            <a:avLst/>
          </a:prstGeom>
          <a:noFill/>
          <a:ln w="12700">
            <a:solidFill>
              <a:srgbClr val="9A9DB3"/>
            </a:solidFill>
            <a:prstDash val="dash"/>
          </a:ln>
        </p:spPr>
      </p:sp>
      <p:sp>
        <p:nvSpPr>
          <p:cNvPr id="14" name="Text 11"/>
          <p:cNvSpPr txBox="1"/>
          <p:nvPr/>
        </p:nvSpPr>
        <p:spPr>
          <a:xfrm>
            <a:off x="3291840" y="4023360"/>
            <a:ext cx="731520" cy="411480"/>
          </a:xfrm>
          <a:prstGeom prst="rect">
            <a:avLst/>
          </a:prstGeom>
          <a:noFill/>
          <a:ln/>
        </p:spPr>
        <p:txBody>
          <a:bodyPr wrap="square" lIns="0" tIns="0" rIns="0" bIns="0" rtlCol="0" anchor="ctr"/>
          <a:lstStyle/>
          <a:p>
            <a:pPr indent="0" marL="0">
              <a:buNone/>
            </a:pPr>
            <a:r>
              <a:rPr lang="en-US" sz="2000" b="1" dirty="0">
                <a:solidFill>
                  <a:srgbClr val="22223B"/>
                </a:solidFill>
                <a:latin typeface="Cambria" pitchFamily="34" charset="0"/>
                <a:ea typeface="Cambria" pitchFamily="34" charset="-122"/>
                <a:cs typeface="Cambria" pitchFamily="34" charset="-120"/>
              </a:rPr>
              <a:t>H</a:t>
            </a:r>
            <a:pPr indent="0" marL="0">
              <a:buNone/>
            </a:pPr>
            <a:r>
              <a:rPr lang="en-US" sz="2000" b="1" baseline="-40000" dirty="0">
                <a:solidFill>
                  <a:srgbClr val="22223B"/>
                </a:solidFill>
                <a:latin typeface="Cambria" pitchFamily="34" charset="0"/>
                <a:ea typeface="Cambria" pitchFamily="34" charset="-122"/>
                <a:cs typeface="Cambria" pitchFamily="34" charset="-120"/>
              </a:rPr>
              <a:t>a</a:t>
            </a:r>
            <a:pPr indent="0" marL="0">
              <a:buNone/>
            </a:pPr>
            <a:r>
              <a:rPr lang="en-US" sz="2000" b="1" dirty="0">
                <a:solidFill>
                  <a:srgbClr val="22223B"/>
                </a:solidFill>
                <a:latin typeface="Cambria" pitchFamily="34" charset="0"/>
                <a:ea typeface="Cambria" pitchFamily="34" charset="-122"/>
                <a:cs typeface="Cambria" pitchFamily="34" charset="-120"/>
              </a:rPr>
              <a:t>  :</a:t>
            </a:r>
            <a:endParaRPr lang="en-US" sz="2000" dirty="0"/>
          </a:p>
        </p:txBody>
      </p:sp>
      <p:sp>
        <p:nvSpPr>
          <p:cNvPr id="15" name="Shape 12"/>
          <p:cNvSpPr/>
          <p:nvPr/>
        </p:nvSpPr>
        <p:spPr>
          <a:xfrm>
            <a:off x="4069080" y="4370832"/>
            <a:ext cx="4297680" cy="0"/>
          </a:xfrm>
          <a:prstGeom prst="line">
            <a:avLst/>
          </a:prstGeom>
          <a:noFill/>
          <a:ln w="12700">
            <a:solidFill>
              <a:srgbClr val="9A9DB3"/>
            </a:solidFill>
            <a:prstDash val="dash"/>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560320" cy="5143500"/>
          </a:xfrm>
          <a:prstGeom prst="rect">
            <a:avLst/>
          </a:prstGeom>
          <a:solidFill>
            <a:srgbClr val="22223B"/>
          </a:solidFill>
          <a:ln w="12700">
            <a:solidFill>
              <a:srgbClr val="22223B"/>
            </a:solidFill>
            <a:prstDash val="solid"/>
          </a:ln>
        </p:spPr>
      </p:sp>
      <p:sp>
        <p:nvSpPr>
          <p:cNvPr id="3" name="Text 1"/>
          <p:cNvSpPr txBox="1"/>
          <p:nvPr/>
        </p:nvSpPr>
        <p:spPr>
          <a:xfrm>
            <a:off x="457200" y="502920"/>
            <a:ext cx="1828800" cy="1005840"/>
          </a:xfrm>
          <a:prstGeom prst="rect">
            <a:avLst/>
          </a:prstGeom>
          <a:noFill/>
          <a:ln/>
        </p:spPr>
        <p:txBody>
          <a:bodyPr wrap="square" lIns="0" tIns="0" rIns="0" bIns="0" rtlCol="0" anchor="ctr"/>
          <a:lstStyle/>
          <a:p>
            <a:pPr indent="0" marL="0">
              <a:buNone/>
            </a:pPr>
            <a:r>
              <a:rPr lang="en-US" sz="6000" b="1" dirty="0">
                <a:solidFill>
                  <a:srgbClr val="F2A541"/>
                </a:solidFill>
                <a:latin typeface="Cambria" pitchFamily="34" charset="0"/>
                <a:ea typeface="Cambria" pitchFamily="34" charset="-122"/>
                <a:cs typeface="Cambria" pitchFamily="34" charset="-120"/>
              </a:rPr>
              <a:t>Q5</a:t>
            </a:r>
            <a:endParaRPr lang="en-US" sz="6000" dirty="0"/>
          </a:p>
        </p:txBody>
      </p:sp>
      <p:sp>
        <p:nvSpPr>
          <p:cNvPr id="4" name="Shape 2"/>
          <p:cNvSpPr/>
          <p:nvPr/>
        </p:nvSpPr>
        <p:spPr>
          <a:xfrm>
            <a:off x="457200" y="2011680"/>
            <a:ext cx="1005840" cy="1005840"/>
          </a:xfrm>
          <a:prstGeom prst="ellipse">
            <a:avLst/>
          </a:prstGeom>
          <a:solidFill>
            <a:srgbClr val="4A4E69"/>
          </a:solidFill>
          <a:ln/>
        </p:spPr>
      </p:sp>
      <p:pic>
        <p:nvPicPr>
          <p:cNvPr id="5" name="Image 0" descr="preencoded.png">    </p:cNvPr>
          <p:cNvPicPr>
            <a:picLocks noChangeAspect="1"/>
          </p:cNvPicPr>
          <p:nvPr/>
        </p:nvPicPr>
        <p:blipFill>
          <a:blip r:embed="rId1"/>
          <a:stretch>
            <a:fillRect/>
          </a:stretch>
        </p:blipFill>
        <p:spPr>
          <a:xfrm>
            <a:off x="713232" y="2267712"/>
            <a:ext cx="493776" cy="493776"/>
          </a:xfrm>
          <a:prstGeom prst="rect">
            <a:avLst/>
          </a:prstGeom>
        </p:spPr>
      </p:pic>
      <p:sp>
        <p:nvSpPr>
          <p:cNvPr id="6" name="Text 3"/>
          <p:cNvSpPr txBox="1"/>
          <p:nvPr/>
        </p:nvSpPr>
        <p:spPr>
          <a:xfrm>
            <a:off x="457200" y="3200400"/>
            <a:ext cx="192024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Admissions</a:t>
            </a:r>
            <a:endParaRPr lang="en-US" sz="1400" dirty="0"/>
          </a:p>
        </p:txBody>
      </p:sp>
      <p:sp>
        <p:nvSpPr>
          <p:cNvPr id="7" name="Text 4"/>
          <p:cNvSpPr txBox="1"/>
          <p:nvPr/>
        </p:nvSpPr>
        <p:spPr>
          <a:xfrm>
            <a:off x="457200" y="4434840"/>
            <a:ext cx="1828800" cy="274320"/>
          </a:xfrm>
          <a:prstGeom prst="rect">
            <a:avLst/>
          </a:prstGeom>
          <a:noFill/>
          <a:ln/>
        </p:spPr>
        <p:txBody>
          <a:bodyPr wrap="square" lIns="0" tIns="0" rIns="0" bIns="0" rtlCol="0" anchor="ctr"/>
          <a:lstStyle/>
          <a:p>
            <a:pPr indent="0" marL="0">
              <a:buNone/>
            </a:pPr>
            <a:r>
              <a:rPr lang="en-US" sz="1100" dirty="0">
                <a:solidFill>
                  <a:srgbClr val="9A9DB3"/>
                </a:solidFill>
                <a:latin typeface="Calibri" pitchFamily="34" charset="0"/>
                <a:ea typeface="Calibri" pitchFamily="34" charset="-122"/>
                <a:cs typeface="Calibri" pitchFamily="34" charset="-120"/>
              </a:rPr>
              <a:t>Question 5 of 10</a:t>
            </a:r>
            <a:endParaRPr lang="en-US" sz="1100" dirty="0"/>
          </a:p>
        </p:txBody>
      </p:sp>
      <p:sp>
        <p:nvSpPr>
          <p:cNvPr id="8" name="Text 5"/>
          <p:cNvSpPr txBox="1"/>
          <p:nvPr/>
        </p:nvSpPr>
        <p:spPr>
          <a:xfrm>
            <a:off x="3017520" y="457200"/>
            <a:ext cx="5669280" cy="274320"/>
          </a:xfrm>
          <a:prstGeom prst="rect">
            <a:avLst/>
          </a:prstGeom>
          <a:noFill/>
          <a:ln/>
        </p:spPr>
        <p:txBody>
          <a:bodyPr wrap="square" lIns="0" tIns="0" rIns="0" bIns="0" rtlCol="0" anchor="ctr"/>
          <a:lstStyle/>
          <a:p>
            <a:pPr indent="0" marL="0">
              <a:buNone/>
            </a:pPr>
            <a:r>
              <a:rPr lang="en-US" sz="1100" b="1" spc="300" kern="0" dirty="0">
                <a:solidFill>
                  <a:srgbClr val="6B6F85"/>
                </a:solidFill>
                <a:latin typeface="Calibri" pitchFamily="34" charset="0"/>
                <a:ea typeface="Calibri" pitchFamily="34" charset="-122"/>
                <a:cs typeface="Calibri" pitchFamily="34" charset="-120"/>
              </a:rPr>
              <a:t>SCENARIO</a:t>
            </a:r>
            <a:endParaRPr lang="en-US" sz="1100" dirty="0"/>
          </a:p>
        </p:txBody>
      </p:sp>
      <p:sp>
        <p:nvSpPr>
          <p:cNvPr id="9" name="Text 6"/>
          <p:cNvSpPr txBox="1"/>
          <p:nvPr/>
        </p:nvSpPr>
        <p:spPr>
          <a:xfrm>
            <a:off x="3017520" y="777240"/>
            <a:ext cx="5669280" cy="1874520"/>
          </a:xfrm>
          <a:prstGeom prst="rect">
            <a:avLst/>
          </a:prstGeom>
          <a:noFill/>
          <a:ln/>
        </p:spPr>
        <p:txBody>
          <a:bodyPr wrap="square" lIns="0" tIns="0" rIns="0" bIns="0" rtlCol="0" anchor="t"/>
          <a:lstStyle/>
          <a:p>
            <a:pPr indent="0" marL="0">
              <a:spcAft>
                <a:spcPts val="400"/>
              </a:spcAft>
              <a:buNone/>
            </a:pPr>
            <a:r>
              <a:rPr lang="en-US" sz="1700" dirty="0">
                <a:solidFill>
                  <a:srgbClr val="22223B"/>
                </a:solidFill>
                <a:latin typeface="Calibri" pitchFamily="34" charset="0"/>
                <a:ea typeface="Calibri" pitchFamily="34" charset="-122"/>
                <a:cs typeface="Calibri" pitchFamily="34" charset="-120"/>
              </a:rPr>
              <a:t>Last year, 35% of MBA applicants at a business school picked Marketing as their specialisation. The admissions head believes this share has changed this year and surveys 200 new applicants.</a:t>
            </a:r>
            <a:endParaRPr lang="en-US" sz="1700" dirty="0"/>
          </a:p>
        </p:txBody>
      </p:sp>
      <p:sp>
        <p:nvSpPr>
          <p:cNvPr id="10" name="Shape 7"/>
          <p:cNvSpPr/>
          <p:nvPr/>
        </p:nvSpPr>
        <p:spPr>
          <a:xfrm>
            <a:off x="3017520" y="2880360"/>
            <a:ext cx="5669280" cy="1783080"/>
          </a:xfrm>
          <a:prstGeom prst="roundRect">
            <a:avLst>
              <a:gd name="adj" fmla="val 6154"/>
            </a:avLst>
          </a:prstGeom>
          <a:solidFill>
            <a:srgbClr val="EEF0F6"/>
          </a:solidFill>
          <a:ln w="12700">
            <a:solidFill>
              <a:srgbClr val="EEF0F6"/>
            </a:solidFill>
            <a:prstDash val="solid"/>
          </a:ln>
        </p:spPr>
      </p:sp>
      <p:sp>
        <p:nvSpPr>
          <p:cNvPr id="11" name="Text 8"/>
          <p:cNvSpPr txBox="1"/>
          <p:nvPr/>
        </p:nvSpPr>
        <p:spPr>
          <a:xfrm>
            <a:off x="3291840" y="3017520"/>
            <a:ext cx="5212080" cy="320040"/>
          </a:xfrm>
          <a:prstGeom prst="rect">
            <a:avLst/>
          </a:prstGeom>
          <a:noFill/>
          <a:ln/>
        </p:spPr>
        <p:txBody>
          <a:bodyPr wrap="square" lIns="0" tIns="0" rIns="0" bIns="0" rtlCol="0" anchor="ctr"/>
          <a:lstStyle/>
          <a:p>
            <a:pPr indent="0" marL="0">
              <a:buNone/>
            </a:pPr>
            <a:r>
              <a:rPr lang="en-US" sz="1300" b="1" dirty="0">
                <a:solidFill>
                  <a:srgbClr val="4A4E69"/>
                </a:solidFill>
                <a:latin typeface="Calibri" pitchFamily="34" charset="0"/>
                <a:ea typeface="Calibri" pitchFamily="34" charset="-122"/>
                <a:cs typeface="Calibri" pitchFamily="34" charset="-120"/>
              </a:rPr>
              <a:t>Write the null and alternative hypotheses</a:t>
            </a:r>
            <a:endParaRPr lang="en-US" sz="1300" dirty="0"/>
          </a:p>
        </p:txBody>
      </p:sp>
      <p:sp>
        <p:nvSpPr>
          <p:cNvPr id="12" name="Text 9"/>
          <p:cNvSpPr txBox="1"/>
          <p:nvPr/>
        </p:nvSpPr>
        <p:spPr>
          <a:xfrm>
            <a:off x="3291840" y="3474720"/>
            <a:ext cx="731520" cy="411480"/>
          </a:xfrm>
          <a:prstGeom prst="rect">
            <a:avLst/>
          </a:prstGeom>
          <a:noFill/>
          <a:ln/>
        </p:spPr>
        <p:txBody>
          <a:bodyPr wrap="square" lIns="0" tIns="0" rIns="0" bIns="0" rtlCol="0" anchor="ctr"/>
          <a:lstStyle/>
          <a:p>
            <a:pPr indent="0" marL="0">
              <a:buNone/>
            </a:pPr>
            <a:r>
              <a:rPr lang="en-US" sz="2000" b="1" dirty="0">
                <a:solidFill>
                  <a:srgbClr val="22223B"/>
                </a:solidFill>
                <a:latin typeface="Cambria" pitchFamily="34" charset="0"/>
                <a:ea typeface="Cambria" pitchFamily="34" charset="-122"/>
                <a:cs typeface="Cambria" pitchFamily="34" charset="-120"/>
              </a:rPr>
              <a:t>H</a:t>
            </a:r>
            <a:pPr indent="0" marL="0">
              <a:buNone/>
            </a:pPr>
            <a:r>
              <a:rPr lang="en-US" sz="2000" b="1" baseline="-40000" dirty="0">
                <a:solidFill>
                  <a:srgbClr val="22223B"/>
                </a:solidFill>
                <a:latin typeface="Cambria" pitchFamily="34" charset="0"/>
                <a:ea typeface="Cambria" pitchFamily="34" charset="-122"/>
                <a:cs typeface="Cambria" pitchFamily="34" charset="-120"/>
              </a:rPr>
              <a:t>0</a:t>
            </a:r>
            <a:pPr indent="0" marL="0">
              <a:buNone/>
            </a:pPr>
            <a:r>
              <a:rPr lang="en-US" sz="2000" b="1" dirty="0">
                <a:solidFill>
                  <a:srgbClr val="22223B"/>
                </a:solidFill>
                <a:latin typeface="Cambria" pitchFamily="34" charset="0"/>
                <a:ea typeface="Cambria" pitchFamily="34" charset="-122"/>
                <a:cs typeface="Cambria" pitchFamily="34" charset="-120"/>
              </a:rPr>
              <a:t>  :</a:t>
            </a:r>
            <a:endParaRPr lang="en-US" sz="2000" dirty="0"/>
          </a:p>
        </p:txBody>
      </p:sp>
      <p:sp>
        <p:nvSpPr>
          <p:cNvPr id="13" name="Shape 10"/>
          <p:cNvSpPr/>
          <p:nvPr/>
        </p:nvSpPr>
        <p:spPr>
          <a:xfrm>
            <a:off x="4069080" y="3822192"/>
            <a:ext cx="4297680" cy="0"/>
          </a:xfrm>
          <a:prstGeom prst="line">
            <a:avLst/>
          </a:prstGeom>
          <a:noFill/>
          <a:ln w="12700">
            <a:solidFill>
              <a:srgbClr val="9A9DB3"/>
            </a:solidFill>
            <a:prstDash val="dash"/>
          </a:ln>
        </p:spPr>
      </p:sp>
      <p:sp>
        <p:nvSpPr>
          <p:cNvPr id="14" name="Text 11"/>
          <p:cNvSpPr txBox="1"/>
          <p:nvPr/>
        </p:nvSpPr>
        <p:spPr>
          <a:xfrm>
            <a:off x="3291840" y="4023360"/>
            <a:ext cx="731520" cy="411480"/>
          </a:xfrm>
          <a:prstGeom prst="rect">
            <a:avLst/>
          </a:prstGeom>
          <a:noFill/>
          <a:ln/>
        </p:spPr>
        <p:txBody>
          <a:bodyPr wrap="square" lIns="0" tIns="0" rIns="0" bIns="0" rtlCol="0" anchor="ctr"/>
          <a:lstStyle/>
          <a:p>
            <a:pPr indent="0" marL="0">
              <a:buNone/>
            </a:pPr>
            <a:r>
              <a:rPr lang="en-US" sz="2000" b="1" dirty="0">
                <a:solidFill>
                  <a:srgbClr val="22223B"/>
                </a:solidFill>
                <a:latin typeface="Cambria" pitchFamily="34" charset="0"/>
                <a:ea typeface="Cambria" pitchFamily="34" charset="-122"/>
                <a:cs typeface="Cambria" pitchFamily="34" charset="-120"/>
              </a:rPr>
              <a:t>H</a:t>
            </a:r>
            <a:pPr indent="0" marL="0">
              <a:buNone/>
            </a:pPr>
            <a:r>
              <a:rPr lang="en-US" sz="2000" b="1" baseline="-40000" dirty="0">
                <a:solidFill>
                  <a:srgbClr val="22223B"/>
                </a:solidFill>
                <a:latin typeface="Cambria" pitchFamily="34" charset="0"/>
                <a:ea typeface="Cambria" pitchFamily="34" charset="-122"/>
                <a:cs typeface="Cambria" pitchFamily="34" charset="-120"/>
              </a:rPr>
              <a:t>a</a:t>
            </a:r>
            <a:pPr indent="0" marL="0">
              <a:buNone/>
            </a:pPr>
            <a:r>
              <a:rPr lang="en-US" sz="2000" b="1" dirty="0">
                <a:solidFill>
                  <a:srgbClr val="22223B"/>
                </a:solidFill>
                <a:latin typeface="Cambria" pitchFamily="34" charset="0"/>
                <a:ea typeface="Cambria" pitchFamily="34" charset="-122"/>
                <a:cs typeface="Cambria" pitchFamily="34" charset="-120"/>
              </a:rPr>
              <a:t>  :</a:t>
            </a:r>
            <a:endParaRPr lang="en-US" sz="2000" dirty="0"/>
          </a:p>
        </p:txBody>
      </p:sp>
      <p:sp>
        <p:nvSpPr>
          <p:cNvPr id="15" name="Shape 12"/>
          <p:cNvSpPr/>
          <p:nvPr/>
        </p:nvSpPr>
        <p:spPr>
          <a:xfrm>
            <a:off x="4069080" y="4370832"/>
            <a:ext cx="4297680" cy="0"/>
          </a:xfrm>
          <a:prstGeom prst="line">
            <a:avLst/>
          </a:prstGeom>
          <a:noFill/>
          <a:ln w="12700">
            <a:solidFill>
              <a:srgbClr val="9A9DB3"/>
            </a:solidFill>
            <a:prstDash val="dash"/>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560320" cy="5143500"/>
          </a:xfrm>
          <a:prstGeom prst="rect">
            <a:avLst/>
          </a:prstGeom>
          <a:solidFill>
            <a:srgbClr val="22223B"/>
          </a:solidFill>
          <a:ln w="12700">
            <a:solidFill>
              <a:srgbClr val="22223B"/>
            </a:solidFill>
            <a:prstDash val="solid"/>
          </a:ln>
        </p:spPr>
      </p:sp>
      <p:sp>
        <p:nvSpPr>
          <p:cNvPr id="3" name="Text 1"/>
          <p:cNvSpPr txBox="1"/>
          <p:nvPr/>
        </p:nvSpPr>
        <p:spPr>
          <a:xfrm>
            <a:off x="457200" y="502920"/>
            <a:ext cx="1828800" cy="1005840"/>
          </a:xfrm>
          <a:prstGeom prst="rect">
            <a:avLst/>
          </a:prstGeom>
          <a:noFill/>
          <a:ln/>
        </p:spPr>
        <p:txBody>
          <a:bodyPr wrap="square" lIns="0" tIns="0" rIns="0" bIns="0" rtlCol="0" anchor="ctr"/>
          <a:lstStyle/>
          <a:p>
            <a:pPr indent="0" marL="0">
              <a:buNone/>
            </a:pPr>
            <a:r>
              <a:rPr lang="en-US" sz="6000" b="1" dirty="0">
                <a:solidFill>
                  <a:srgbClr val="F2A541"/>
                </a:solidFill>
                <a:latin typeface="Cambria" pitchFamily="34" charset="0"/>
                <a:ea typeface="Cambria" pitchFamily="34" charset="-122"/>
                <a:cs typeface="Cambria" pitchFamily="34" charset="-120"/>
              </a:rPr>
              <a:t>Q6</a:t>
            </a:r>
            <a:endParaRPr lang="en-US" sz="6000" dirty="0"/>
          </a:p>
        </p:txBody>
      </p:sp>
      <p:sp>
        <p:nvSpPr>
          <p:cNvPr id="4" name="Shape 2"/>
          <p:cNvSpPr/>
          <p:nvPr/>
        </p:nvSpPr>
        <p:spPr>
          <a:xfrm>
            <a:off x="457200" y="2011680"/>
            <a:ext cx="1005840" cy="1005840"/>
          </a:xfrm>
          <a:prstGeom prst="ellipse">
            <a:avLst/>
          </a:prstGeom>
          <a:solidFill>
            <a:srgbClr val="4A4E69"/>
          </a:solidFill>
          <a:ln/>
        </p:spPr>
      </p:sp>
      <p:pic>
        <p:nvPicPr>
          <p:cNvPr id="5" name="Image 0" descr="preencoded.png">    </p:cNvPr>
          <p:cNvPicPr>
            <a:picLocks noChangeAspect="1"/>
          </p:cNvPicPr>
          <p:nvPr/>
        </p:nvPicPr>
        <p:blipFill>
          <a:blip r:embed="rId1"/>
          <a:stretch>
            <a:fillRect/>
          </a:stretch>
        </p:blipFill>
        <p:spPr>
          <a:xfrm>
            <a:off x="713232" y="2267712"/>
            <a:ext cx="493776" cy="493776"/>
          </a:xfrm>
          <a:prstGeom prst="rect">
            <a:avLst/>
          </a:prstGeom>
        </p:spPr>
      </p:pic>
      <p:sp>
        <p:nvSpPr>
          <p:cNvPr id="6" name="Text 3"/>
          <p:cNvSpPr txBox="1"/>
          <p:nvPr/>
        </p:nvSpPr>
        <p:spPr>
          <a:xfrm>
            <a:off x="457200" y="3200400"/>
            <a:ext cx="192024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Education</a:t>
            </a:r>
            <a:endParaRPr lang="en-US" sz="1400" dirty="0"/>
          </a:p>
        </p:txBody>
      </p:sp>
      <p:sp>
        <p:nvSpPr>
          <p:cNvPr id="7" name="Text 4"/>
          <p:cNvSpPr txBox="1"/>
          <p:nvPr/>
        </p:nvSpPr>
        <p:spPr>
          <a:xfrm>
            <a:off x="457200" y="4434840"/>
            <a:ext cx="1828800" cy="274320"/>
          </a:xfrm>
          <a:prstGeom prst="rect">
            <a:avLst/>
          </a:prstGeom>
          <a:noFill/>
          <a:ln/>
        </p:spPr>
        <p:txBody>
          <a:bodyPr wrap="square" lIns="0" tIns="0" rIns="0" bIns="0" rtlCol="0" anchor="ctr"/>
          <a:lstStyle/>
          <a:p>
            <a:pPr indent="0" marL="0">
              <a:buNone/>
            </a:pPr>
            <a:r>
              <a:rPr lang="en-US" sz="1100" dirty="0">
                <a:solidFill>
                  <a:srgbClr val="9A9DB3"/>
                </a:solidFill>
                <a:latin typeface="Calibri" pitchFamily="34" charset="0"/>
                <a:ea typeface="Calibri" pitchFamily="34" charset="-122"/>
                <a:cs typeface="Calibri" pitchFamily="34" charset="-120"/>
              </a:rPr>
              <a:t>Question 6 of 10</a:t>
            </a:r>
            <a:endParaRPr lang="en-US" sz="1100" dirty="0"/>
          </a:p>
        </p:txBody>
      </p:sp>
      <p:sp>
        <p:nvSpPr>
          <p:cNvPr id="8" name="Text 5"/>
          <p:cNvSpPr txBox="1"/>
          <p:nvPr/>
        </p:nvSpPr>
        <p:spPr>
          <a:xfrm>
            <a:off x="3017520" y="457200"/>
            <a:ext cx="5669280" cy="274320"/>
          </a:xfrm>
          <a:prstGeom prst="rect">
            <a:avLst/>
          </a:prstGeom>
          <a:noFill/>
          <a:ln/>
        </p:spPr>
        <p:txBody>
          <a:bodyPr wrap="square" lIns="0" tIns="0" rIns="0" bIns="0" rtlCol="0" anchor="ctr"/>
          <a:lstStyle/>
          <a:p>
            <a:pPr indent="0" marL="0">
              <a:buNone/>
            </a:pPr>
            <a:r>
              <a:rPr lang="en-US" sz="1100" b="1" spc="300" kern="0" dirty="0">
                <a:solidFill>
                  <a:srgbClr val="6B6F85"/>
                </a:solidFill>
                <a:latin typeface="Calibri" pitchFamily="34" charset="0"/>
                <a:ea typeface="Calibri" pitchFamily="34" charset="-122"/>
                <a:cs typeface="Calibri" pitchFamily="34" charset="-120"/>
              </a:rPr>
              <a:t>SCENARIO</a:t>
            </a:r>
            <a:endParaRPr lang="en-US" sz="1100" dirty="0"/>
          </a:p>
        </p:txBody>
      </p:sp>
      <p:sp>
        <p:nvSpPr>
          <p:cNvPr id="9" name="Text 6"/>
          <p:cNvSpPr txBox="1"/>
          <p:nvPr/>
        </p:nvSpPr>
        <p:spPr>
          <a:xfrm>
            <a:off x="3017520" y="777240"/>
            <a:ext cx="5669280" cy="1874520"/>
          </a:xfrm>
          <a:prstGeom prst="rect">
            <a:avLst/>
          </a:prstGeom>
          <a:noFill/>
          <a:ln/>
        </p:spPr>
        <p:txBody>
          <a:bodyPr wrap="square" lIns="0" tIns="0" rIns="0" bIns="0" rtlCol="0" anchor="t"/>
          <a:lstStyle/>
          <a:p>
            <a:pPr indent="0" marL="0">
              <a:spcAft>
                <a:spcPts val="400"/>
              </a:spcAft>
              <a:buNone/>
            </a:pPr>
            <a:r>
              <a:rPr lang="en-US" sz="1700" dirty="0">
                <a:solidFill>
                  <a:srgbClr val="22223B"/>
                </a:solidFill>
                <a:latin typeface="Calibri" pitchFamily="34" charset="0"/>
                <a:ea typeface="Calibri" pitchFamily="34" charset="-122"/>
                <a:cs typeface="Calibri" pitchFamily="34" charset="-120"/>
              </a:rPr>
              <a:t>Students at a coaching centre have historically averaged 62 marks on a mock aptitude test. The centre introduces a new teaching method and claims it will raise the average score. A batch of 36 students is tested at 1% significance.</a:t>
            </a:r>
            <a:endParaRPr lang="en-US" sz="1700" dirty="0"/>
          </a:p>
        </p:txBody>
      </p:sp>
      <p:sp>
        <p:nvSpPr>
          <p:cNvPr id="10" name="Shape 7"/>
          <p:cNvSpPr/>
          <p:nvPr/>
        </p:nvSpPr>
        <p:spPr>
          <a:xfrm>
            <a:off x="3017520" y="2880360"/>
            <a:ext cx="5669280" cy="1783080"/>
          </a:xfrm>
          <a:prstGeom prst="roundRect">
            <a:avLst>
              <a:gd name="adj" fmla="val 6154"/>
            </a:avLst>
          </a:prstGeom>
          <a:solidFill>
            <a:srgbClr val="EEF0F6"/>
          </a:solidFill>
          <a:ln w="12700">
            <a:solidFill>
              <a:srgbClr val="EEF0F6"/>
            </a:solidFill>
            <a:prstDash val="solid"/>
          </a:ln>
        </p:spPr>
      </p:sp>
      <p:sp>
        <p:nvSpPr>
          <p:cNvPr id="11" name="Text 8"/>
          <p:cNvSpPr txBox="1"/>
          <p:nvPr/>
        </p:nvSpPr>
        <p:spPr>
          <a:xfrm>
            <a:off x="3291840" y="3017520"/>
            <a:ext cx="5212080" cy="320040"/>
          </a:xfrm>
          <a:prstGeom prst="rect">
            <a:avLst/>
          </a:prstGeom>
          <a:noFill/>
          <a:ln/>
        </p:spPr>
        <p:txBody>
          <a:bodyPr wrap="square" lIns="0" tIns="0" rIns="0" bIns="0" rtlCol="0" anchor="ctr"/>
          <a:lstStyle/>
          <a:p>
            <a:pPr indent="0" marL="0">
              <a:buNone/>
            </a:pPr>
            <a:r>
              <a:rPr lang="en-US" sz="1300" b="1" dirty="0">
                <a:solidFill>
                  <a:srgbClr val="4A4E69"/>
                </a:solidFill>
                <a:latin typeface="Calibri" pitchFamily="34" charset="0"/>
                <a:ea typeface="Calibri" pitchFamily="34" charset="-122"/>
                <a:cs typeface="Calibri" pitchFamily="34" charset="-120"/>
              </a:rPr>
              <a:t>Write the null and alternative hypotheses</a:t>
            </a:r>
            <a:endParaRPr lang="en-US" sz="1300" dirty="0"/>
          </a:p>
        </p:txBody>
      </p:sp>
      <p:sp>
        <p:nvSpPr>
          <p:cNvPr id="12" name="Text 9"/>
          <p:cNvSpPr txBox="1"/>
          <p:nvPr/>
        </p:nvSpPr>
        <p:spPr>
          <a:xfrm>
            <a:off x="3291840" y="3474720"/>
            <a:ext cx="731520" cy="411480"/>
          </a:xfrm>
          <a:prstGeom prst="rect">
            <a:avLst/>
          </a:prstGeom>
          <a:noFill/>
          <a:ln/>
        </p:spPr>
        <p:txBody>
          <a:bodyPr wrap="square" lIns="0" tIns="0" rIns="0" bIns="0" rtlCol="0" anchor="ctr"/>
          <a:lstStyle/>
          <a:p>
            <a:pPr indent="0" marL="0">
              <a:buNone/>
            </a:pPr>
            <a:r>
              <a:rPr lang="en-US" sz="2000" b="1" dirty="0">
                <a:solidFill>
                  <a:srgbClr val="22223B"/>
                </a:solidFill>
                <a:latin typeface="Cambria" pitchFamily="34" charset="0"/>
                <a:ea typeface="Cambria" pitchFamily="34" charset="-122"/>
                <a:cs typeface="Cambria" pitchFamily="34" charset="-120"/>
              </a:rPr>
              <a:t>H</a:t>
            </a:r>
            <a:pPr indent="0" marL="0">
              <a:buNone/>
            </a:pPr>
            <a:r>
              <a:rPr lang="en-US" sz="2000" b="1" baseline="-40000" dirty="0">
                <a:solidFill>
                  <a:srgbClr val="22223B"/>
                </a:solidFill>
                <a:latin typeface="Cambria" pitchFamily="34" charset="0"/>
                <a:ea typeface="Cambria" pitchFamily="34" charset="-122"/>
                <a:cs typeface="Cambria" pitchFamily="34" charset="-120"/>
              </a:rPr>
              <a:t>0</a:t>
            </a:r>
            <a:pPr indent="0" marL="0">
              <a:buNone/>
            </a:pPr>
            <a:r>
              <a:rPr lang="en-US" sz="2000" b="1" dirty="0">
                <a:solidFill>
                  <a:srgbClr val="22223B"/>
                </a:solidFill>
                <a:latin typeface="Cambria" pitchFamily="34" charset="0"/>
                <a:ea typeface="Cambria" pitchFamily="34" charset="-122"/>
                <a:cs typeface="Cambria" pitchFamily="34" charset="-120"/>
              </a:rPr>
              <a:t>  :</a:t>
            </a:r>
            <a:endParaRPr lang="en-US" sz="2000" dirty="0"/>
          </a:p>
        </p:txBody>
      </p:sp>
      <p:sp>
        <p:nvSpPr>
          <p:cNvPr id="13" name="Shape 10"/>
          <p:cNvSpPr/>
          <p:nvPr/>
        </p:nvSpPr>
        <p:spPr>
          <a:xfrm>
            <a:off x="4069080" y="3822192"/>
            <a:ext cx="4297680" cy="0"/>
          </a:xfrm>
          <a:prstGeom prst="line">
            <a:avLst/>
          </a:prstGeom>
          <a:noFill/>
          <a:ln w="12700">
            <a:solidFill>
              <a:srgbClr val="9A9DB3"/>
            </a:solidFill>
            <a:prstDash val="dash"/>
          </a:ln>
        </p:spPr>
      </p:sp>
      <p:sp>
        <p:nvSpPr>
          <p:cNvPr id="14" name="Text 11"/>
          <p:cNvSpPr txBox="1"/>
          <p:nvPr/>
        </p:nvSpPr>
        <p:spPr>
          <a:xfrm>
            <a:off x="3291840" y="4023360"/>
            <a:ext cx="731520" cy="411480"/>
          </a:xfrm>
          <a:prstGeom prst="rect">
            <a:avLst/>
          </a:prstGeom>
          <a:noFill/>
          <a:ln/>
        </p:spPr>
        <p:txBody>
          <a:bodyPr wrap="square" lIns="0" tIns="0" rIns="0" bIns="0" rtlCol="0" anchor="ctr"/>
          <a:lstStyle/>
          <a:p>
            <a:pPr indent="0" marL="0">
              <a:buNone/>
            </a:pPr>
            <a:r>
              <a:rPr lang="en-US" sz="2000" b="1" dirty="0">
                <a:solidFill>
                  <a:srgbClr val="22223B"/>
                </a:solidFill>
                <a:latin typeface="Cambria" pitchFamily="34" charset="0"/>
                <a:ea typeface="Cambria" pitchFamily="34" charset="-122"/>
                <a:cs typeface="Cambria" pitchFamily="34" charset="-120"/>
              </a:rPr>
              <a:t>H</a:t>
            </a:r>
            <a:pPr indent="0" marL="0">
              <a:buNone/>
            </a:pPr>
            <a:r>
              <a:rPr lang="en-US" sz="2000" b="1" baseline="-40000" dirty="0">
                <a:solidFill>
                  <a:srgbClr val="22223B"/>
                </a:solidFill>
                <a:latin typeface="Cambria" pitchFamily="34" charset="0"/>
                <a:ea typeface="Cambria" pitchFamily="34" charset="-122"/>
                <a:cs typeface="Cambria" pitchFamily="34" charset="-120"/>
              </a:rPr>
              <a:t>a</a:t>
            </a:r>
            <a:pPr indent="0" marL="0">
              <a:buNone/>
            </a:pPr>
            <a:r>
              <a:rPr lang="en-US" sz="2000" b="1" dirty="0">
                <a:solidFill>
                  <a:srgbClr val="22223B"/>
                </a:solidFill>
                <a:latin typeface="Cambria" pitchFamily="34" charset="0"/>
                <a:ea typeface="Cambria" pitchFamily="34" charset="-122"/>
                <a:cs typeface="Cambria" pitchFamily="34" charset="-120"/>
              </a:rPr>
              <a:t>  :</a:t>
            </a:r>
            <a:endParaRPr lang="en-US" sz="2000" dirty="0"/>
          </a:p>
        </p:txBody>
      </p:sp>
      <p:sp>
        <p:nvSpPr>
          <p:cNvPr id="15" name="Shape 12"/>
          <p:cNvSpPr/>
          <p:nvPr/>
        </p:nvSpPr>
        <p:spPr>
          <a:xfrm>
            <a:off x="4069080" y="4370832"/>
            <a:ext cx="4297680" cy="0"/>
          </a:xfrm>
          <a:prstGeom prst="line">
            <a:avLst/>
          </a:prstGeom>
          <a:noFill/>
          <a:ln w="12700">
            <a:solidFill>
              <a:srgbClr val="9A9DB3"/>
            </a:solidFill>
            <a:prstDash val="dash"/>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560320" cy="5143500"/>
          </a:xfrm>
          <a:prstGeom prst="rect">
            <a:avLst/>
          </a:prstGeom>
          <a:solidFill>
            <a:srgbClr val="22223B"/>
          </a:solidFill>
          <a:ln w="12700">
            <a:solidFill>
              <a:srgbClr val="22223B"/>
            </a:solidFill>
            <a:prstDash val="solid"/>
          </a:ln>
        </p:spPr>
      </p:sp>
      <p:sp>
        <p:nvSpPr>
          <p:cNvPr id="3" name="Text 1"/>
          <p:cNvSpPr txBox="1"/>
          <p:nvPr/>
        </p:nvSpPr>
        <p:spPr>
          <a:xfrm>
            <a:off x="457200" y="502920"/>
            <a:ext cx="1828800" cy="1005840"/>
          </a:xfrm>
          <a:prstGeom prst="rect">
            <a:avLst/>
          </a:prstGeom>
          <a:noFill/>
          <a:ln/>
        </p:spPr>
        <p:txBody>
          <a:bodyPr wrap="square" lIns="0" tIns="0" rIns="0" bIns="0" rtlCol="0" anchor="ctr"/>
          <a:lstStyle/>
          <a:p>
            <a:pPr indent="0" marL="0">
              <a:buNone/>
            </a:pPr>
            <a:r>
              <a:rPr lang="en-US" sz="6000" b="1" dirty="0">
                <a:solidFill>
                  <a:srgbClr val="F2A541"/>
                </a:solidFill>
                <a:latin typeface="Cambria" pitchFamily="34" charset="0"/>
                <a:ea typeface="Cambria" pitchFamily="34" charset="-122"/>
                <a:cs typeface="Cambria" pitchFamily="34" charset="-120"/>
              </a:rPr>
              <a:t>Q7</a:t>
            </a:r>
            <a:endParaRPr lang="en-US" sz="6000" dirty="0"/>
          </a:p>
        </p:txBody>
      </p:sp>
      <p:sp>
        <p:nvSpPr>
          <p:cNvPr id="4" name="Shape 2"/>
          <p:cNvSpPr/>
          <p:nvPr/>
        </p:nvSpPr>
        <p:spPr>
          <a:xfrm>
            <a:off x="457200" y="2011680"/>
            <a:ext cx="1005840" cy="1005840"/>
          </a:xfrm>
          <a:prstGeom prst="ellipse">
            <a:avLst/>
          </a:prstGeom>
          <a:solidFill>
            <a:srgbClr val="4A4E69"/>
          </a:solidFill>
          <a:ln/>
        </p:spPr>
      </p:sp>
      <p:pic>
        <p:nvPicPr>
          <p:cNvPr id="5" name="Image 0" descr="preencoded.png">    </p:cNvPr>
          <p:cNvPicPr>
            <a:picLocks noChangeAspect="1"/>
          </p:cNvPicPr>
          <p:nvPr/>
        </p:nvPicPr>
        <p:blipFill>
          <a:blip r:embed="rId1"/>
          <a:stretch>
            <a:fillRect/>
          </a:stretch>
        </p:blipFill>
        <p:spPr>
          <a:xfrm>
            <a:off x="713232" y="2267712"/>
            <a:ext cx="493776" cy="493776"/>
          </a:xfrm>
          <a:prstGeom prst="rect">
            <a:avLst/>
          </a:prstGeom>
        </p:spPr>
      </p:pic>
      <p:sp>
        <p:nvSpPr>
          <p:cNvPr id="6" name="Text 3"/>
          <p:cNvSpPr txBox="1"/>
          <p:nvPr/>
        </p:nvSpPr>
        <p:spPr>
          <a:xfrm>
            <a:off x="457200" y="3200400"/>
            <a:ext cx="192024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Healthcare</a:t>
            </a:r>
            <a:endParaRPr lang="en-US" sz="1400" dirty="0"/>
          </a:p>
        </p:txBody>
      </p:sp>
      <p:sp>
        <p:nvSpPr>
          <p:cNvPr id="7" name="Text 4"/>
          <p:cNvSpPr txBox="1"/>
          <p:nvPr/>
        </p:nvSpPr>
        <p:spPr>
          <a:xfrm>
            <a:off x="457200" y="4434840"/>
            <a:ext cx="1828800" cy="274320"/>
          </a:xfrm>
          <a:prstGeom prst="rect">
            <a:avLst/>
          </a:prstGeom>
          <a:noFill/>
          <a:ln/>
        </p:spPr>
        <p:txBody>
          <a:bodyPr wrap="square" lIns="0" tIns="0" rIns="0" bIns="0" rtlCol="0" anchor="ctr"/>
          <a:lstStyle/>
          <a:p>
            <a:pPr indent="0" marL="0">
              <a:buNone/>
            </a:pPr>
            <a:r>
              <a:rPr lang="en-US" sz="1100" dirty="0">
                <a:solidFill>
                  <a:srgbClr val="9A9DB3"/>
                </a:solidFill>
                <a:latin typeface="Calibri" pitchFamily="34" charset="0"/>
                <a:ea typeface="Calibri" pitchFamily="34" charset="-122"/>
                <a:cs typeface="Calibri" pitchFamily="34" charset="-120"/>
              </a:rPr>
              <a:t>Question 7 of 10</a:t>
            </a:r>
            <a:endParaRPr lang="en-US" sz="1100" dirty="0"/>
          </a:p>
        </p:txBody>
      </p:sp>
      <p:sp>
        <p:nvSpPr>
          <p:cNvPr id="8" name="Text 5"/>
          <p:cNvSpPr txBox="1"/>
          <p:nvPr/>
        </p:nvSpPr>
        <p:spPr>
          <a:xfrm>
            <a:off x="3017520" y="457200"/>
            <a:ext cx="5669280" cy="274320"/>
          </a:xfrm>
          <a:prstGeom prst="rect">
            <a:avLst/>
          </a:prstGeom>
          <a:noFill/>
          <a:ln/>
        </p:spPr>
        <p:txBody>
          <a:bodyPr wrap="square" lIns="0" tIns="0" rIns="0" bIns="0" rtlCol="0" anchor="ctr"/>
          <a:lstStyle/>
          <a:p>
            <a:pPr indent="0" marL="0">
              <a:buNone/>
            </a:pPr>
            <a:r>
              <a:rPr lang="en-US" sz="1100" b="1" spc="300" kern="0" dirty="0">
                <a:solidFill>
                  <a:srgbClr val="6B6F85"/>
                </a:solidFill>
                <a:latin typeface="Calibri" pitchFamily="34" charset="0"/>
                <a:ea typeface="Calibri" pitchFamily="34" charset="-122"/>
                <a:cs typeface="Calibri" pitchFamily="34" charset="-120"/>
              </a:rPr>
              <a:t>SCENARIO</a:t>
            </a:r>
            <a:endParaRPr lang="en-US" sz="1100" dirty="0"/>
          </a:p>
        </p:txBody>
      </p:sp>
      <p:sp>
        <p:nvSpPr>
          <p:cNvPr id="9" name="Text 6"/>
          <p:cNvSpPr txBox="1"/>
          <p:nvPr/>
        </p:nvSpPr>
        <p:spPr>
          <a:xfrm>
            <a:off x="3017520" y="777240"/>
            <a:ext cx="5669280" cy="1874520"/>
          </a:xfrm>
          <a:prstGeom prst="rect">
            <a:avLst/>
          </a:prstGeom>
          <a:noFill/>
          <a:ln/>
        </p:spPr>
        <p:txBody>
          <a:bodyPr wrap="square" lIns="0" tIns="0" rIns="0" bIns="0" rtlCol="0" anchor="t"/>
          <a:lstStyle/>
          <a:p>
            <a:pPr indent="0" marL="0">
              <a:spcAft>
                <a:spcPts val="400"/>
              </a:spcAft>
              <a:buNone/>
            </a:pPr>
            <a:r>
              <a:rPr lang="en-US" sz="1700" dirty="0">
                <a:solidFill>
                  <a:srgbClr val="22223B"/>
                </a:solidFill>
                <a:latin typeface="Calibri" pitchFamily="34" charset="0"/>
                <a:ea typeface="Calibri" pitchFamily="34" charset="-122"/>
                <a:cs typeface="Calibri" pitchFamily="34" charset="-120"/>
              </a:rPr>
              <a:t>A hospital's emergency ward has had an average waiting time of 45 minutes. After rolling out a new triage system, management believes waiting times have gone down. They record the wait for 50 patients.</a:t>
            </a:r>
            <a:endParaRPr lang="en-US" sz="1700" dirty="0"/>
          </a:p>
        </p:txBody>
      </p:sp>
      <p:sp>
        <p:nvSpPr>
          <p:cNvPr id="10" name="Shape 7"/>
          <p:cNvSpPr/>
          <p:nvPr/>
        </p:nvSpPr>
        <p:spPr>
          <a:xfrm>
            <a:off x="3017520" y="2880360"/>
            <a:ext cx="5669280" cy="1783080"/>
          </a:xfrm>
          <a:prstGeom prst="roundRect">
            <a:avLst>
              <a:gd name="adj" fmla="val 6154"/>
            </a:avLst>
          </a:prstGeom>
          <a:solidFill>
            <a:srgbClr val="EEF0F6"/>
          </a:solidFill>
          <a:ln w="12700">
            <a:solidFill>
              <a:srgbClr val="EEF0F6"/>
            </a:solidFill>
            <a:prstDash val="solid"/>
          </a:ln>
        </p:spPr>
      </p:sp>
      <p:sp>
        <p:nvSpPr>
          <p:cNvPr id="11" name="Text 8"/>
          <p:cNvSpPr txBox="1"/>
          <p:nvPr/>
        </p:nvSpPr>
        <p:spPr>
          <a:xfrm>
            <a:off x="3291840" y="3017520"/>
            <a:ext cx="5212080" cy="320040"/>
          </a:xfrm>
          <a:prstGeom prst="rect">
            <a:avLst/>
          </a:prstGeom>
          <a:noFill/>
          <a:ln/>
        </p:spPr>
        <p:txBody>
          <a:bodyPr wrap="square" lIns="0" tIns="0" rIns="0" bIns="0" rtlCol="0" anchor="ctr"/>
          <a:lstStyle/>
          <a:p>
            <a:pPr indent="0" marL="0">
              <a:buNone/>
            </a:pPr>
            <a:r>
              <a:rPr lang="en-US" sz="1300" b="1" dirty="0">
                <a:solidFill>
                  <a:srgbClr val="4A4E69"/>
                </a:solidFill>
                <a:latin typeface="Calibri" pitchFamily="34" charset="0"/>
                <a:ea typeface="Calibri" pitchFamily="34" charset="-122"/>
                <a:cs typeface="Calibri" pitchFamily="34" charset="-120"/>
              </a:rPr>
              <a:t>Write the null and alternative hypotheses</a:t>
            </a:r>
            <a:endParaRPr lang="en-US" sz="1300" dirty="0"/>
          </a:p>
        </p:txBody>
      </p:sp>
      <p:sp>
        <p:nvSpPr>
          <p:cNvPr id="12" name="Text 9"/>
          <p:cNvSpPr txBox="1"/>
          <p:nvPr/>
        </p:nvSpPr>
        <p:spPr>
          <a:xfrm>
            <a:off x="3291840" y="3474720"/>
            <a:ext cx="731520" cy="411480"/>
          </a:xfrm>
          <a:prstGeom prst="rect">
            <a:avLst/>
          </a:prstGeom>
          <a:noFill/>
          <a:ln/>
        </p:spPr>
        <p:txBody>
          <a:bodyPr wrap="square" lIns="0" tIns="0" rIns="0" bIns="0" rtlCol="0" anchor="ctr"/>
          <a:lstStyle/>
          <a:p>
            <a:pPr indent="0" marL="0">
              <a:buNone/>
            </a:pPr>
            <a:r>
              <a:rPr lang="en-US" sz="2000" b="1" dirty="0">
                <a:solidFill>
                  <a:srgbClr val="22223B"/>
                </a:solidFill>
                <a:latin typeface="Cambria" pitchFamily="34" charset="0"/>
                <a:ea typeface="Cambria" pitchFamily="34" charset="-122"/>
                <a:cs typeface="Cambria" pitchFamily="34" charset="-120"/>
              </a:rPr>
              <a:t>H</a:t>
            </a:r>
            <a:pPr indent="0" marL="0">
              <a:buNone/>
            </a:pPr>
            <a:r>
              <a:rPr lang="en-US" sz="2000" b="1" baseline="-40000" dirty="0">
                <a:solidFill>
                  <a:srgbClr val="22223B"/>
                </a:solidFill>
                <a:latin typeface="Cambria" pitchFamily="34" charset="0"/>
                <a:ea typeface="Cambria" pitchFamily="34" charset="-122"/>
                <a:cs typeface="Cambria" pitchFamily="34" charset="-120"/>
              </a:rPr>
              <a:t>0</a:t>
            </a:r>
            <a:pPr indent="0" marL="0">
              <a:buNone/>
            </a:pPr>
            <a:r>
              <a:rPr lang="en-US" sz="2000" b="1" dirty="0">
                <a:solidFill>
                  <a:srgbClr val="22223B"/>
                </a:solidFill>
                <a:latin typeface="Cambria" pitchFamily="34" charset="0"/>
                <a:ea typeface="Cambria" pitchFamily="34" charset="-122"/>
                <a:cs typeface="Cambria" pitchFamily="34" charset="-120"/>
              </a:rPr>
              <a:t>  :</a:t>
            </a:r>
            <a:endParaRPr lang="en-US" sz="2000" dirty="0"/>
          </a:p>
        </p:txBody>
      </p:sp>
      <p:sp>
        <p:nvSpPr>
          <p:cNvPr id="13" name="Shape 10"/>
          <p:cNvSpPr/>
          <p:nvPr/>
        </p:nvSpPr>
        <p:spPr>
          <a:xfrm>
            <a:off x="4069080" y="3822192"/>
            <a:ext cx="4297680" cy="0"/>
          </a:xfrm>
          <a:prstGeom prst="line">
            <a:avLst/>
          </a:prstGeom>
          <a:noFill/>
          <a:ln w="12700">
            <a:solidFill>
              <a:srgbClr val="9A9DB3"/>
            </a:solidFill>
            <a:prstDash val="dash"/>
          </a:ln>
        </p:spPr>
      </p:sp>
      <p:sp>
        <p:nvSpPr>
          <p:cNvPr id="14" name="Text 11"/>
          <p:cNvSpPr txBox="1"/>
          <p:nvPr/>
        </p:nvSpPr>
        <p:spPr>
          <a:xfrm>
            <a:off x="3291840" y="4023360"/>
            <a:ext cx="731520" cy="411480"/>
          </a:xfrm>
          <a:prstGeom prst="rect">
            <a:avLst/>
          </a:prstGeom>
          <a:noFill/>
          <a:ln/>
        </p:spPr>
        <p:txBody>
          <a:bodyPr wrap="square" lIns="0" tIns="0" rIns="0" bIns="0" rtlCol="0" anchor="ctr"/>
          <a:lstStyle/>
          <a:p>
            <a:pPr indent="0" marL="0">
              <a:buNone/>
            </a:pPr>
            <a:r>
              <a:rPr lang="en-US" sz="2000" b="1" dirty="0">
                <a:solidFill>
                  <a:srgbClr val="22223B"/>
                </a:solidFill>
                <a:latin typeface="Cambria" pitchFamily="34" charset="0"/>
                <a:ea typeface="Cambria" pitchFamily="34" charset="-122"/>
                <a:cs typeface="Cambria" pitchFamily="34" charset="-120"/>
              </a:rPr>
              <a:t>H</a:t>
            </a:r>
            <a:pPr indent="0" marL="0">
              <a:buNone/>
            </a:pPr>
            <a:r>
              <a:rPr lang="en-US" sz="2000" b="1" baseline="-40000" dirty="0">
                <a:solidFill>
                  <a:srgbClr val="22223B"/>
                </a:solidFill>
                <a:latin typeface="Cambria" pitchFamily="34" charset="0"/>
                <a:ea typeface="Cambria" pitchFamily="34" charset="-122"/>
                <a:cs typeface="Cambria" pitchFamily="34" charset="-120"/>
              </a:rPr>
              <a:t>a</a:t>
            </a:r>
            <a:pPr indent="0" marL="0">
              <a:buNone/>
            </a:pPr>
            <a:r>
              <a:rPr lang="en-US" sz="2000" b="1" dirty="0">
                <a:solidFill>
                  <a:srgbClr val="22223B"/>
                </a:solidFill>
                <a:latin typeface="Cambria" pitchFamily="34" charset="0"/>
                <a:ea typeface="Cambria" pitchFamily="34" charset="-122"/>
                <a:cs typeface="Cambria" pitchFamily="34" charset="-120"/>
              </a:rPr>
              <a:t>  :</a:t>
            </a:r>
            <a:endParaRPr lang="en-US" sz="2000" dirty="0"/>
          </a:p>
        </p:txBody>
      </p:sp>
      <p:sp>
        <p:nvSpPr>
          <p:cNvPr id="15" name="Shape 12"/>
          <p:cNvSpPr/>
          <p:nvPr/>
        </p:nvSpPr>
        <p:spPr>
          <a:xfrm>
            <a:off x="4069080" y="4370832"/>
            <a:ext cx="4297680" cy="0"/>
          </a:xfrm>
          <a:prstGeom prst="line">
            <a:avLst/>
          </a:prstGeom>
          <a:noFill/>
          <a:ln w="12700">
            <a:solidFill>
              <a:srgbClr val="9A9DB3"/>
            </a:solidFill>
            <a:prstDash val="dash"/>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560320" cy="5143500"/>
          </a:xfrm>
          <a:prstGeom prst="rect">
            <a:avLst/>
          </a:prstGeom>
          <a:solidFill>
            <a:srgbClr val="22223B"/>
          </a:solidFill>
          <a:ln w="12700">
            <a:solidFill>
              <a:srgbClr val="22223B"/>
            </a:solidFill>
            <a:prstDash val="solid"/>
          </a:ln>
        </p:spPr>
      </p:sp>
      <p:sp>
        <p:nvSpPr>
          <p:cNvPr id="3" name="Text 1"/>
          <p:cNvSpPr txBox="1"/>
          <p:nvPr/>
        </p:nvSpPr>
        <p:spPr>
          <a:xfrm>
            <a:off x="457200" y="502920"/>
            <a:ext cx="1828800" cy="1005840"/>
          </a:xfrm>
          <a:prstGeom prst="rect">
            <a:avLst/>
          </a:prstGeom>
          <a:noFill/>
          <a:ln/>
        </p:spPr>
        <p:txBody>
          <a:bodyPr wrap="square" lIns="0" tIns="0" rIns="0" bIns="0" rtlCol="0" anchor="ctr"/>
          <a:lstStyle/>
          <a:p>
            <a:pPr indent="0" marL="0">
              <a:buNone/>
            </a:pPr>
            <a:r>
              <a:rPr lang="en-US" sz="6000" b="1" dirty="0">
                <a:solidFill>
                  <a:srgbClr val="F2A541"/>
                </a:solidFill>
                <a:latin typeface="Cambria" pitchFamily="34" charset="0"/>
                <a:ea typeface="Cambria" pitchFamily="34" charset="-122"/>
                <a:cs typeface="Cambria" pitchFamily="34" charset="-120"/>
              </a:rPr>
              <a:t>Q8</a:t>
            </a:r>
            <a:endParaRPr lang="en-US" sz="6000" dirty="0"/>
          </a:p>
        </p:txBody>
      </p:sp>
      <p:sp>
        <p:nvSpPr>
          <p:cNvPr id="4" name="Shape 2"/>
          <p:cNvSpPr/>
          <p:nvPr/>
        </p:nvSpPr>
        <p:spPr>
          <a:xfrm>
            <a:off x="457200" y="2011680"/>
            <a:ext cx="1005840" cy="1005840"/>
          </a:xfrm>
          <a:prstGeom prst="ellipse">
            <a:avLst/>
          </a:prstGeom>
          <a:solidFill>
            <a:srgbClr val="4A4E69"/>
          </a:solidFill>
          <a:ln/>
        </p:spPr>
      </p:sp>
      <p:pic>
        <p:nvPicPr>
          <p:cNvPr id="5" name="Image 0" descr="preencoded.png">    </p:cNvPr>
          <p:cNvPicPr>
            <a:picLocks noChangeAspect="1"/>
          </p:cNvPicPr>
          <p:nvPr/>
        </p:nvPicPr>
        <p:blipFill>
          <a:blip r:embed="rId1"/>
          <a:stretch>
            <a:fillRect/>
          </a:stretch>
        </p:blipFill>
        <p:spPr>
          <a:xfrm>
            <a:off x="713232" y="2267712"/>
            <a:ext cx="493776" cy="493776"/>
          </a:xfrm>
          <a:prstGeom prst="rect">
            <a:avLst/>
          </a:prstGeom>
        </p:spPr>
      </p:pic>
      <p:sp>
        <p:nvSpPr>
          <p:cNvPr id="6" name="Text 3"/>
          <p:cNvSpPr txBox="1"/>
          <p:nvPr/>
        </p:nvSpPr>
        <p:spPr>
          <a:xfrm>
            <a:off x="457200" y="3200400"/>
            <a:ext cx="192024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Banking</a:t>
            </a:r>
            <a:endParaRPr lang="en-US" sz="1400" dirty="0"/>
          </a:p>
        </p:txBody>
      </p:sp>
      <p:sp>
        <p:nvSpPr>
          <p:cNvPr id="7" name="Text 4"/>
          <p:cNvSpPr txBox="1"/>
          <p:nvPr/>
        </p:nvSpPr>
        <p:spPr>
          <a:xfrm>
            <a:off x="457200" y="4434840"/>
            <a:ext cx="1828800" cy="274320"/>
          </a:xfrm>
          <a:prstGeom prst="rect">
            <a:avLst/>
          </a:prstGeom>
          <a:noFill/>
          <a:ln/>
        </p:spPr>
        <p:txBody>
          <a:bodyPr wrap="square" lIns="0" tIns="0" rIns="0" bIns="0" rtlCol="0" anchor="ctr"/>
          <a:lstStyle/>
          <a:p>
            <a:pPr indent="0" marL="0">
              <a:buNone/>
            </a:pPr>
            <a:r>
              <a:rPr lang="en-US" sz="1100" dirty="0">
                <a:solidFill>
                  <a:srgbClr val="9A9DB3"/>
                </a:solidFill>
                <a:latin typeface="Calibri" pitchFamily="34" charset="0"/>
                <a:ea typeface="Calibri" pitchFamily="34" charset="-122"/>
                <a:cs typeface="Calibri" pitchFamily="34" charset="-120"/>
              </a:rPr>
              <a:t>Question 8 of 10</a:t>
            </a:r>
            <a:endParaRPr lang="en-US" sz="1100" dirty="0"/>
          </a:p>
        </p:txBody>
      </p:sp>
      <p:sp>
        <p:nvSpPr>
          <p:cNvPr id="8" name="Text 5"/>
          <p:cNvSpPr txBox="1"/>
          <p:nvPr/>
        </p:nvSpPr>
        <p:spPr>
          <a:xfrm>
            <a:off x="3017520" y="457200"/>
            <a:ext cx="5669280" cy="274320"/>
          </a:xfrm>
          <a:prstGeom prst="rect">
            <a:avLst/>
          </a:prstGeom>
          <a:noFill/>
          <a:ln/>
        </p:spPr>
        <p:txBody>
          <a:bodyPr wrap="square" lIns="0" tIns="0" rIns="0" bIns="0" rtlCol="0" anchor="ctr"/>
          <a:lstStyle/>
          <a:p>
            <a:pPr indent="0" marL="0">
              <a:buNone/>
            </a:pPr>
            <a:r>
              <a:rPr lang="en-US" sz="1100" b="1" spc="300" kern="0" dirty="0">
                <a:solidFill>
                  <a:srgbClr val="6B6F85"/>
                </a:solidFill>
                <a:latin typeface="Calibri" pitchFamily="34" charset="0"/>
                <a:ea typeface="Calibri" pitchFamily="34" charset="-122"/>
                <a:cs typeface="Calibri" pitchFamily="34" charset="-120"/>
              </a:rPr>
              <a:t>SCENARIO</a:t>
            </a:r>
            <a:endParaRPr lang="en-US" sz="1100" dirty="0"/>
          </a:p>
        </p:txBody>
      </p:sp>
      <p:sp>
        <p:nvSpPr>
          <p:cNvPr id="9" name="Text 6"/>
          <p:cNvSpPr txBox="1"/>
          <p:nvPr/>
        </p:nvSpPr>
        <p:spPr>
          <a:xfrm>
            <a:off x="3017520" y="777240"/>
            <a:ext cx="5669280" cy="1874520"/>
          </a:xfrm>
          <a:prstGeom prst="rect">
            <a:avLst/>
          </a:prstGeom>
          <a:noFill/>
          <a:ln/>
        </p:spPr>
        <p:txBody>
          <a:bodyPr wrap="square" lIns="0" tIns="0" rIns="0" bIns="0" rtlCol="0" anchor="t"/>
          <a:lstStyle/>
          <a:p>
            <a:pPr indent="0" marL="0">
              <a:spcAft>
                <a:spcPts val="400"/>
              </a:spcAft>
              <a:buNone/>
            </a:pPr>
            <a:r>
              <a:rPr lang="en-US" sz="1700" dirty="0">
                <a:solidFill>
                  <a:srgbClr val="22223B"/>
                </a:solidFill>
                <a:latin typeface="Calibri" pitchFamily="34" charset="0"/>
                <a:ea typeface="Calibri" pitchFamily="34" charset="-122"/>
                <a:cs typeface="Calibri" pitchFamily="34" charset="-120"/>
              </a:rPr>
              <a:t>A bank states that 80% of its personal loan applications are processed within 48 hours. Rising customer complaints make the branch manager think the actual proportion is lower. He reviews 150 recent applications.</a:t>
            </a:r>
            <a:endParaRPr lang="en-US" sz="1700" dirty="0"/>
          </a:p>
        </p:txBody>
      </p:sp>
      <p:sp>
        <p:nvSpPr>
          <p:cNvPr id="10" name="Shape 7"/>
          <p:cNvSpPr/>
          <p:nvPr/>
        </p:nvSpPr>
        <p:spPr>
          <a:xfrm>
            <a:off x="3017520" y="2880360"/>
            <a:ext cx="5669280" cy="1783080"/>
          </a:xfrm>
          <a:prstGeom prst="roundRect">
            <a:avLst>
              <a:gd name="adj" fmla="val 6154"/>
            </a:avLst>
          </a:prstGeom>
          <a:solidFill>
            <a:srgbClr val="EEF0F6"/>
          </a:solidFill>
          <a:ln w="12700">
            <a:solidFill>
              <a:srgbClr val="EEF0F6"/>
            </a:solidFill>
            <a:prstDash val="solid"/>
          </a:ln>
        </p:spPr>
      </p:sp>
      <p:sp>
        <p:nvSpPr>
          <p:cNvPr id="11" name="Text 8"/>
          <p:cNvSpPr txBox="1"/>
          <p:nvPr/>
        </p:nvSpPr>
        <p:spPr>
          <a:xfrm>
            <a:off x="3291840" y="3017520"/>
            <a:ext cx="5212080" cy="320040"/>
          </a:xfrm>
          <a:prstGeom prst="rect">
            <a:avLst/>
          </a:prstGeom>
          <a:noFill/>
          <a:ln/>
        </p:spPr>
        <p:txBody>
          <a:bodyPr wrap="square" lIns="0" tIns="0" rIns="0" bIns="0" rtlCol="0" anchor="ctr"/>
          <a:lstStyle/>
          <a:p>
            <a:pPr indent="0" marL="0">
              <a:buNone/>
            </a:pPr>
            <a:r>
              <a:rPr lang="en-US" sz="1300" b="1" dirty="0">
                <a:solidFill>
                  <a:srgbClr val="4A4E69"/>
                </a:solidFill>
                <a:latin typeface="Calibri" pitchFamily="34" charset="0"/>
                <a:ea typeface="Calibri" pitchFamily="34" charset="-122"/>
                <a:cs typeface="Calibri" pitchFamily="34" charset="-120"/>
              </a:rPr>
              <a:t>Write the null and alternative hypotheses</a:t>
            </a:r>
            <a:endParaRPr lang="en-US" sz="1300" dirty="0"/>
          </a:p>
        </p:txBody>
      </p:sp>
      <p:sp>
        <p:nvSpPr>
          <p:cNvPr id="12" name="Text 9"/>
          <p:cNvSpPr txBox="1"/>
          <p:nvPr/>
        </p:nvSpPr>
        <p:spPr>
          <a:xfrm>
            <a:off x="3291840" y="3474720"/>
            <a:ext cx="731520" cy="411480"/>
          </a:xfrm>
          <a:prstGeom prst="rect">
            <a:avLst/>
          </a:prstGeom>
          <a:noFill/>
          <a:ln/>
        </p:spPr>
        <p:txBody>
          <a:bodyPr wrap="square" lIns="0" tIns="0" rIns="0" bIns="0" rtlCol="0" anchor="ctr"/>
          <a:lstStyle/>
          <a:p>
            <a:pPr indent="0" marL="0">
              <a:buNone/>
            </a:pPr>
            <a:r>
              <a:rPr lang="en-US" sz="2000" b="1" dirty="0">
                <a:solidFill>
                  <a:srgbClr val="22223B"/>
                </a:solidFill>
                <a:latin typeface="Cambria" pitchFamily="34" charset="0"/>
                <a:ea typeface="Cambria" pitchFamily="34" charset="-122"/>
                <a:cs typeface="Cambria" pitchFamily="34" charset="-120"/>
              </a:rPr>
              <a:t>H</a:t>
            </a:r>
            <a:pPr indent="0" marL="0">
              <a:buNone/>
            </a:pPr>
            <a:r>
              <a:rPr lang="en-US" sz="2000" b="1" baseline="-40000" dirty="0">
                <a:solidFill>
                  <a:srgbClr val="22223B"/>
                </a:solidFill>
                <a:latin typeface="Cambria" pitchFamily="34" charset="0"/>
                <a:ea typeface="Cambria" pitchFamily="34" charset="-122"/>
                <a:cs typeface="Cambria" pitchFamily="34" charset="-120"/>
              </a:rPr>
              <a:t>0</a:t>
            </a:r>
            <a:pPr indent="0" marL="0">
              <a:buNone/>
            </a:pPr>
            <a:r>
              <a:rPr lang="en-US" sz="2000" b="1" dirty="0">
                <a:solidFill>
                  <a:srgbClr val="22223B"/>
                </a:solidFill>
                <a:latin typeface="Cambria" pitchFamily="34" charset="0"/>
                <a:ea typeface="Cambria" pitchFamily="34" charset="-122"/>
                <a:cs typeface="Cambria" pitchFamily="34" charset="-120"/>
              </a:rPr>
              <a:t>  :</a:t>
            </a:r>
            <a:endParaRPr lang="en-US" sz="2000" dirty="0"/>
          </a:p>
        </p:txBody>
      </p:sp>
      <p:sp>
        <p:nvSpPr>
          <p:cNvPr id="13" name="Shape 10"/>
          <p:cNvSpPr/>
          <p:nvPr/>
        </p:nvSpPr>
        <p:spPr>
          <a:xfrm>
            <a:off x="4069080" y="3822192"/>
            <a:ext cx="4297680" cy="0"/>
          </a:xfrm>
          <a:prstGeom prst="line">
            <a:avLst/>
          </a:prstGeom>
          <a:noFill/>
          <a:ln w="12700">
            <a:solidFill>
              <a:srgbClr val="9A9DB3"/>
            </a:solidFill>
            <a:prstDash val="dash"/>
          </a:ln>
        </p:spPr>
      </p:sp>
      <p:sp>
        <p:nvSpPr>
          <p:cNvPr id="14" name="Text 11"/>
          <p:cNvSpPr txBox="1"/>
          <p:nvPr/>
        </p:nvSpPr>
        <p:spPr>
          <a:xfrm>
            <a:off x="3291840" y="4023360"/>
            <a:ext cx="731520" cy="411480"/>
          </a:xfrm>
          <a:prstGeom prst="rect">
            <a:avLst/>
          </a:prstGeom>
          <a:noFill/>
          <a:ln/>
        </p:spPr>
        <p:txBody>
          <a:bodyPr wrap="square" lIns="0" tIns="0" rIns="0" bIns="0" rtlCol="0" anchor="ctr"/>
          <a:lstStyle/>
          <a:p>
            <a:pPr indent="0" marL="0">
              <a:buNone/>
            </a:pPr>
            <a:r>
              <a:rPr lang="en-US" sz="2000" b="1" dirty="0">
                <a:solidFill>
                  <a:srgbClr val="22223B"/>
                </a:solidFill>
                <a:latin typeface="Cambria" pitchFamily="34" charset="0"/>
                <a:ea typeface="Cambria" pitchFamily="34" charset="-122"/>
                <a:cs typeface="Cambria" pitchFamily="34" charset="-120"/>
              </a:rPr>
              <a:t>H</a:t>
            </a:r>
            <a:pPr indent="0" marL="0">
              <a:buNone/>
            </a:pPr>
            <a:r>
              <a:rPr lang="en-US" sz="2000" b="1" baseline="-40000" dirty="0">
                <a:solidFill>
                  <a:srgbClr val="22223B"/>
                </a:solidFill>
                <a:latin typeface="Cambria" pitchFamily="34" charset="0"/>
                <a:ea typeface="Cambria" pitchFamily="34" charset="-122"/>
                <a:cs typeface="Cambria" pitchFamily="34" charset="-120"/>
              </a:rPr>
              <a:t>a</a:t>
            </a:r>
            <a:pPr indent="0" marL="0">
              <a:buNone/>
            </a:pPr>
            <a:r>
              <a:rPr lang="en-US" sz="2000" b="1" dirty="0">
                <a:solidFill>
                  <a:srgbClr val="22223B"/>
                </a:solidFill>
                <a:latin typeface="Cambria" pitchFamily="34" charset="0"/>
                <a:ea typeface="Cambria" pitchFamily="34" charset="-122"/>
                <a:cs typeface="Cambria" pitchFamily="34" charset="-120"/>
              </a:rPr>
              <a:t>  :</a:t>
            </a:r>
            <a:endParaRPr lang="en-US" sz="2000" dirty="0"/>
          </a:p>
        </p:txBody>
      </p:sp>
      <p:sp>
        <p:nvSpPr>
          <p:cNvPr id="15" name="Shape 12"/>
          <p:cNvSpPr/>
          <p:nvPr/>
        </p:nvSpPr>
        <p:spPr>
          <a:xfrm>
            <a:off x="4069080" y="4370832"/>
            <a:ext cx="4297680" cy="0"/>
          </a:xfrm>
          <a:prstGeom prst="line">
            <a:avLst/>
          </a:prstGeom>
          <a:noFill/>
          <a:ln w="12700">
            <a:solidFill>
              <a:srgbClr val="9A9DB3"/>
            </a:solidFill>
            <a:prstDash val="dash"/>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560320" cy="5143500"/>
          </a:xfrm>
          <a:prstGeom prst="rect">
            <a:avLst/>
          </a:prstGeom>
          <a:solidFill>
            <a:srgbClr val="22223B"/>
          </a:solidFill>
          <a:ln w="12700">
            <a:solidFill>
              <a:srgbClr val="22223B"/>
            </a:solidFill>
            <a:prstDash val="solid"/>
          </a:ln>
        </p:spPr>
      </p:sp>
      <p:sp>
        <p:nvSpPr>
          <p:cNvPr id="3" name="Text 1"/>
          <p:cNvSpPr txBox="1"/>
          <p:nvPr/>
        </p:nvSpPr>
        <p:spPr>
          <a:xfrm>
            <a:off x="457200" y="502920"/>
            <a:ext cx="1828800" cy="1005840"/>
          </a:xfrm>
          <a:prstGeom prst="rect">
            <a:avLst/>
          </a:prstGeom>
          <a:noFill/>
          <a:ln/>
        </p:spPr>
        <p:txBody>
          <a:bodyPr wrap="square" lIns="0" tIns="0" rIns="0" bIns="0" rtlCol="0" anchor="ctr"/>
          <a:lstStyle/>
          <a:p>
            <a:pPr indent="0" marL="0">
              <a:buNone/>
            </a:pPr>
            <a:r>
              <a:rPr lang="en-US" sz="6000" b="1" dirty="0">
                <a:solidFill>
                  <a:srgbClr val="F2A541"/>
                </a:solidFill>
                <a:latin typeface="Cambria" pitchFamily="34" charset="0"/>
                <a:ea typeface="Cambria" pitchFamily="34" charset="-122"/>
                <a:cs typeface="Cambria" pitchFamily="34" charset="-120"/>
              </a:rPr>
              <a:t>Q9</a:t>
            </a:r>
            <a:endParaRPr lang="en-US" sz="6000" dirty="0"/>
          </a:p>
        </p:txBody>
      </p:sp>
      <p:sp>
        <p:nvSpPr>
          <p:cNvPr id="4" name="Shape 2"/>
          <p:cNvSpPr/>
          <p:nvPr/>
        </p:nvSpPr>
        <p:spPr>
          <a:xfrm>
            <a:off x="457200" y="2011680"/>
            <a:ext cx="1005840" cy="1005840"/>
          </a:xfrm>
          <a:prstGeom prst="ellipse">
            <a:avLst/>
          </a:prstGeom>
          <a:solidFill>
            <a:srgbClr val="4A4E69"/>
          </a:solidFill>
          <a:ln/>
        </p:spPr>
      </p:sp>
      <p:pic>
        <p:nvPicPr>
          <p:cNvPr id="5" name="Image 0" descr="preencoded.png">    </p:cNvPr>
          <p:cNvPicPr>
            <a:picLocks noChangeAspect="1"/>
          </p:cNvPicPr>
          <p:nvPr/>
        </p:nvPicPr>
        <p:blipFill>
          <a:blip r:embed="rId1"/>
          <a:stretch>
            <a:fillRect/>
          </a:stretch>
        </p:blipFill>
        <p:spPr>
          <a:xfrm>
            <a:off x="713232" y="2267712"/>
            <a:ext cx="493776" cy="493776"/>
          </a:xfrm>
          <a:prstGeom prst="rect">
            <a:avLst/>
          </a:prstGeom>
        </p:spPr>
      </p:pic>
      <p:sp>
        <p:nvSpPr>
          <p:cNvPr id="6" name="Text 3"/>
          <p:cNvSpPr txBox="1"/>
          <p:nvPr/>
        </p:nvSpPr>
        <p:spPr>
          <a:xfrm>
            <a:off x="457200" y="3200400"/>
            <a:ext cx="192024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Smartphones</a:t>
            </a:r>
            <a:endParaRPr lang="en-US" sz="1400" dirty="0"/>
          </a:p>
        </p:txBody>
      </p:sp>
      <p:sp>
        <p:nvSpPr>
          <p:cNvPr id="7" name="Text 4"/>
          <p:cNvSpPr txBox="1"/>
          <p:nvPr/>
        </p:nvSpPr>
        <p:spPr>
          <a:xfrm>
            <a:off x="457200" y="4434840"/>
            <a:ext cx="1828800" cy="274320"/>
          </a:xfrm>
          <a:prstGeom prst="rect">
            <a:avLst/>
          </a:prstGeom>
          <a:noFill/>
          <a:ln/>
        </p:spPr>
        <p:txBody>
          <a:bodyPr wrap="square" lIns="0" tIns="0" rIns="0" bIns="0" rtlCol="0" anchor="ctr"/>
          <a:lstStyle/>
          <a:p>
            <a:pPr indent="0" marL="0">
              <a:buNone/>
            </a:pPr>
            <a:r>
              <a:rPr lang="en-US" sz="1100" dirty="0">
                <a:solidFill>
                  <a:srgbClr val="9A9DB3"/>
                </a:solidFill>
                <a:latin typeface="Calibri" pitchFamily="34" charset="0"/>
                <a:ea typeface="Calibri" pitchFamily="34" charset="-122"/>
                <a:cs typeface="Calibri" pitchFamily="34" charset="-120"/>
              </a:rPr>
              <a:t>Question 9 of 10</a:t>
            </a:r>
            <a:endParaRPr lang="en-US" sz="1100" dirty="0"/>
          </a:p>
        </p:txBody>
      </p:sp>
      <p:sp>
        <p:nvSpPr>
          <p:cNvPr id="8" name="Text 5"/>
          <p:cNvSpPr txBox="1"/>
          <p:nvPr/>
        </p:nvSpPr>
        <p:spPr>
          <a:xfrm>
            <a:off x="3017520" y="457200"/>
            <a:ext cx="5669280" cy="274320"/>
          </a:xfrm>
          <a:prstGeom prst="rect">
            <a:avLst/>
          </a:prstGeom>
          <a:noFill/>
          <a:ln/>
        </p:spPr>
        <p:txBody>
          <a:bodyPr wrap="square" lIns="0" tIns="0" rIns="0" bIns="0" rtlCol="0" anchor="ctr"/>
          <a:lstStyle/>
          <a:p>
            <a:pPr indent="0" marL="0">
              <a:buNone/>
            </a:pPr>
            <a:r>
              <a:rPr lang="en-US" sz="1100" b="1" spc="300" kern="0" dirty="0">
                <a:solidFill>
                  <a:srgbClr val="6B6F85"/>
                </a:solidFill>
                <a:latin typeface="Calibri" pitchFamily="34" charset="0"/>
                <a:ea typeface="Calibri" pitchFamily="34" charset="-122"/>
                <a:cs typeface="Calibri" pitchFamily="34" charset="-120"/>
              </a:rPr>
              <a:t>SCENARIO</a:t>
            </a:r>
            <a:endParaRPr lang="en-US" sz="1100" dirty="0"/>
          </a:p>
        </p:txBody>
      </p:sp>
      <p:sp>
        <p:nvSpPr>
          <p:cNvPr id="9" name="Text 6"/>
          <p:cNvSpPr txBox="1"/>
          <p:nvPr/>
        </p:nvSpPr>
        <p:spPr>
          <a:xfrm>
            <a:off x="3017520" y="777240"/>
            <a:ext cx="5669280" cy="1874520"/>
          </a:xfrm>
          <a:prstGeom prst="rect">
            <a:avLst/>
          </a:prstGeom>
          <a:noFill/>
          <a:ln/>
        </p:spPr>
        <p:txBody>
          <a:bodyPr wrap="square" lIns="0" tIns="0" rIns="0" bIns="0" rtlCol="0" anchor="t"/>
          <a:lstStyle/>
          <a:p>
            <a:pPr indent="0" marL="0">
              <a:spcAft>
                <a:spcPts val="400"/>
              </a:spcAft>
              <a:buNone/>
            </a:pPr>
            <a:r>
              <a:rPr lang="en-US" sz="1700" dirty="0">
                <a:solidFill>
                  <a:srgbClr val="22223B"/>
                </a:solidFill>
                <a:latin typeface="Calibri" pitchFamily="34" charset="0"/>
                <a:ea typeface="Calibri" pitchFamily="34" charset="-122"/>
                <a:cs typeface="Calibri" pitchFamily="34" charset="-120"/>
              </a:rPr>
              <a:t>A smartphone maker wants to advertise that fewer than 2% of its phones need a repair in the first year. Before the ad goes live, the marketing team wants statistical proof and follows 1,000 buyers for a year.</a:t>
            </a:r>
            <a:endParaRPr lang="en-US" sz="1700" dirty="0"/>
          </a:p>
        </p:txBody>
      </p:sp>
      <p:sp>
        <p:nvSpPr>
          <p:cNvPr id="10" name="Shape 7"/>
          <p:cNvSpPr/>
          <p:nvPr/>
        </p:nvSpPr>
        <p:spPr>
          <a:xfrm>
            <a:off x="3017520" y="2880360"/>
            <a:ext cx="5669280" cy="1783080"/>
          </a:xfrm>
          <a:prstGeom prst="roundRect">
            <a:avLst>
              <a:gd name="adj" fmla="val 6154"/>
            </a:avLst>
          </a:prstGeom>
          <a:solidFill>
            <a:srgbClr val="EEF0F6"/>
          </a:solidFill>
          <a:ln w="12700">
            <a:solidFill>
              <a:srgbClr val="EEF0F6"/>
            </a:solidFill>
            <a:prstDash val="solid"/>
          </a:ln>
        </p:spPr>
      </p:sp>
      <p:sp>
        <p:nvSpPr>
          <p:cNvPr id="11" name="Text 8"/>
          <p:cNvSpPr txBox="1"/>
          <p:nvPr/>
        </p:nvSpPr>
        <p:spPr>
          <a:xfrm>
            <a:off x="3291840" y="3017520"/>
            <a:ext cx="5212080" cy="320040"/>
          </a:xfrm>
          <a:prstGeom prst="rect">
            <a:avLst/>
          </a:prstGeom>
          <a:noFill/>
          <a:ln/>
        </p:spPr>
        <p:txBody>
          <a:bodyPr wrap="square" lIns="0" tIns="0" rIns="0" bIns="0" rtlCol="0" anchor="ctr"/>
          <a:lstStyle/>
          <a:p>
            <a:pPr indent="0" marL="0">
              <a:buNone/>
            </a:pPr>
            <a:r>
              <a:rPr lang="en-US" sz="1300" b="1" dirty="0">
                <a:solidFill>
                  <a:srgbClr val="4A4E69"/>
                </a:solidFill>
                <a:latin typeface="Calibri" pitchFamily="34" charset="0"/>
                <a:ea typeface="Calibri" pitchFamily="34" charset="-122"/>
                <a:cs typeface="Calibri" pitchFamily="34" charset="-120"/>
              </a:rPr>
              <a:t>Write the null and alternative hypotheses</a:t>
            </a:r>
            <a:endParaRPr lang="en-US" sz="1300" dirty="0"/>
          </a:p>
        </p:txBody>
      </p:sp>
      <p:sp>
        <p:nvSpPr>
          <p:cNvPr id="12" name="Text 9"/>
          <p:cNvSpPr txBox="1"/>
          <p:nvPr/>
        </p:nvSpPr>
        <p:spPr>
          <a:xfrm>
            <a:off x="3291840" y="3474720"/>
            <a:ext cx="731520" cy="411480"/>
          </a:xfrm>
          <a:prstGeom prst="rect">
            <a:avLst/>
          </a:prstGeom>
          <a:noFill/>
          <a:ln/>
        </p:spPr>
        <p:txBody>
          <a:bodyPr wrap="square" lIns="0" tIns="0" rIns="0" bIns="0" rtlCol="0" anchor="ctr"/>
          <a:lstStyle/>
          <a:p>
            <a:pPr indent="0" marL="0">
              <a:buNone/>
            </a:pPr>
            <a:r>
              <a:rPr lang="en-US" sz="2000" b="1" dirty="0">
                <a:solidFill>
                  <a:srgbClr val="22223B"/>
                </a:solidFill>
                <a:latin typeface="Cambria" pitchFamily="34" charset="0"/>
                <a:ea typeface="Cambria" pitchFamily="34" charset="-122"/>
                <a:cs typeface="Cambria" pitchFamily="34" charset="-120"/>
              </a:rPr>
              <a:t>H</a:t>
            </a:r>
            <a:pPr indent="0" marL="0">
              <a:buNone/>
            </a:pPr>
            <a:r>
              <a:rPr lang="en-US" sz="2000" b="1" baseline="-40000" dirty="0">
                <a:solidFill>
                  <a:srgbClr val="22223B"/>
                </a:solidFill>
                <a:latin typeface="Cambria" pitchFamily="34" charset="0"/>
                <a:ea typeface="Cambria" pitchFamily="34" charset="-122"/>
                <a:cs typeface="Cambria" pitchFamily="34" charset="-120"/>
              </a:rPr>
              <a:t>0</a:t>
            </a:r>
            <a:pPr indent="0" marL="0">
              <a:buNone/>
            </a:pPr>
            <a:r>
              <a:rPr lang="en-US" sz="2000" b="1" dirty="0">
                <a:solidFill>
                  <a:srgbClr val="22223B"/>
                </a:solidFill>
                <a:latin typeface="Cambria" pitchFamily="34" charset="0"/>
                <a:ea typeface="Cambria" pitchFamily="34" charset="-122"/>
                <a:cs typeface="Cambria" pitchFamily="34" charset="-120"/>
              </a:rPr>
              <a:t>  :</a:t>
            </a:r>
            <a:endParaRPr lang="en-US" sz="2000" dirty="0"/>
          </a:p>
        </p:txBody>
      </p:sp>
      <p:sp>
        <p:nvSpPr>
          <p:cNvPr id="13" name="Shape 10"/>
          <p:cNvSpPr/>
          <p:nvPr/>
        </p:nvSpPr>
        <p:spPr>
          <a:xfrm>
            <a:off x="4069080" y="3822192"/>
            <a:ext cx="4297680" cy="0"/>
          </a:xfrm>
          <a:prstGeom prst="line">
            <a:avLst/>
          </a:prstGeom>
          <a:noFill/>
          <a:ln w="12700">
            <a:solidFill>
              <a:srgbClr val="9A9DB3"/>
            </a:solidFill>
            <a:prstDash val="dash"/>
          </a:ln>
        </p:spPr>
      </p:sp>
      <p:sp>
        <p:nvSpPr>
          <p:cNvPr id="14" name="Text 11"/>
          <p:cNvSpPr txBox="1"/>
          <p:nvPr/>
        </p:nvSpPr>
        <p:spPr>
          <a:xfrm>
            <a:off x="3291840" y="4023360"/>
            <a:ext cx="731520" cy="411480"/>
          </a:xfrm>
          <a:prstGeom prst="rect">
            <a:avLst/>
          </a:prstGeom>
          <a:noFill/>
          <a:ln/>
        </p:spPr>
        <p:txBody>
          <a:bodyPr wrap="square" lIns="0" tIns="0" rIns="0" bIns="0" rtlCol="0" anchor="ctr"/>
          <a:lstStyle/>
          <a:p>
            <a:pPr indent="0" marL="0">
              <a:buNone/>
            </a:pPr>
            <a:r>
              <a:rPr lang="en-US" sz="2000" b="1" dirty="0">
                <a:solidFill>
                  <a:srgbClr val="22223B"/>
                </a:solidFill>
                <a:latin typeface="Cambria" pitchFamily="34" charset="0"/>
                <a:ea typeface="Cambria" pitchFamily="34" charset="-122"/>
                <a:cs typeface="Cambria" pitchFamily="34" charset="-120"/>
              </a:rPr>
              <a:t>H</a:t>
            </a:r>
            <a:pPr indent="0" marL="0">
              <a:buNone/>
            </a:pPr>
            <a:r>
              <a:rPr lang="en-US" sz="2000" b="1" baseline="-40000" dirty="0">
                <a:solidFill>
                  <a:srgbClr val="22223B"/>
                </a:solidFill>
                <a:latin typeface="Cambria" pitchFamily="34" charset="0"/>
                <a:ea typeface="Cambria" pitchFamily="34" charset="-122"/>
                <a:cs typeface="Cambria" pitchFamily="34" charset="-120"/>
              </a:rPr>
              <a:t>a</a:t>
            </a:r>
            <a:pPr indent="0" marL="0">
              <a:buNone/>
            </a:pPr>
            <a:r>
              <a:rPr lang="en-US" sz="2000" b="1" dirty="0">
                <a:solidFill>
                  <a:srgbClr val="22223B"/>
                </a:solidFill>
                <a:latin typeface="Cambria" pitchFamily="34" charset="0"/>
                <a:ea typeface="Cambria" pitchFamily="34" charset="-122"/>
                <a:cs typeface="Cambria" pitchFamily="34" charset="-120"/>
              </a:rPr>
              <a:t>  :</a:t>
            </a:r>
            <a:endParaRPr lang="en-US" sz="2000" dirty="0"/>
          </a:p>
        </p:txBody>
      </p:sp>
      <p:sp>
        <p:nvSpPr>
          <p:cNvPr id="15" name="Shape 12"/>
          <p:cNvSpPr/>
          <p:nvPr/>
        </p:nvSpPr>
        <p:spPr>
          <a:xfrm>
            <a:off x="4069080" y="4370832"/>
            <a:ext cx="4297680" cy="0"/>
          </a:xfrm>
          <a:prstGeom prst="line">
            <a:avLst/>
          </a:prstGeom>
          <a:noFill/>
          <a:ln w="12700">
            <a:solidFill>
              <a:srgbClr val="9A9DB3"/>
            </a:solidFill>
            <a:prstDash val="dash"/>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560320" cy="5143500"/>
          </a:xfrm>
          <a:prstGeom prst="rect">
            <a:avLst/>
          </a:prstGeom>
          <a:solidFill>
            <a:srgbClr val="22223B"/>
          </a:solidFill>
          <a:ln w="12700">
            <a:solidFill>
              <a:srgbClr val="22223B"/>
            </a:solidFill>
            <a:prstDash val="solid"/>
          </a:ln>
        </p:spPr>
      </p:sp>
      <p:sp>
        <p:nvSpPr>
          <p:cNvPr id="3" name="Text 1"/>
          <p:cNvSpPr txBox="1"/>
          <p:nvPr/>
        </p:nvSpPr>
        <p:spPr>
          <a:xfrm>
            <a:off x="457200" y="502920"/>
            <a:ext cx="1828800" cy="1005840"/>
          </a:xfrm>
          <a:prstGeom prst="rect">
            <a:avLst/>
          </a:prstGeom>
          <a:noFill/>
          <a:ln/>
        </p:spPr>
        <p:txBody>
          <a:bodyPr wrap="square" lIns="0" tIns="0" rIns="0" bIns="0" rtlCol="0" anchor="ctr"/>
          <a:lstStyle/>
          <a:p>
            <a:pPr indent="0" marL="0">
              <a:buNone/>
            </a:pPr>
            <a:r>
              <a:rPr lang="en-US" sz="6000" b="1" dirty="0">
                <a:solidFill>
                  <a:srgbClr val="F2A541"/>
                </a:solidFill>
                <a:latin typeface="Cambria" pitchFamily="34" charset="0"/>
                <a:ea typeface="Cambria" pitchFamily="34" charset="-122"/>
                <a:cs typeface="Cambria" pitchFamily="34" charset="-120"/>
              </a:rPr>
              <a:t>Q10</a:t>
            </a:r>
            <a:endParaRPr lang="en-US" sz="6000" dirty="0"/>
          </a:p>
        </p:txBody>
      </p:sp>
      <p:sp>
        <p:nvSpPr>
          <p:cNvPr id="4" name="Shape 2"/>
          <p:cNvSpPr/>
          <p:nvPr/>
        </p:nvSpPr>
        <p:spPr>
          <a:xfrm>
            <a:off x="457200" y="2011680"/>
            <a:ext cx="1005840" cy="1005840"/>
          </a:xfrm>
          <a:prstGeom prst="ellipse">
            <a:avLst/>
          </a:prstGeom>
          <a:solidFill>
            <a:srgbClr val="4A4E69"/>
          </a:solidFill>
          <a:ln/>
        </p:spPr>
      </p:sp>
      <p:pic>
        <p:nvPicPr>
          <p:cNvPr id="5" name="Image 0" descr="preencoded.png">    </p:cNvPr>
          <p:cNvPicPr>
            <a:picLocks noChangeAspect="1"/>
          </p:cNvPicPr>
          <p:nvPr/>
        </p:nvPicPr>
        <p:blipFill>
          <a:blip r:embed="rId1"/>
          <a:stretch>
            <a:fillRect/>
          </a:stretch>
        </p:blipFill>
        <p:spPr>
          <a:xfrm>
            <a:off x="713232" y="2267712"/>
            <a:ext cx="493776" cy="493776"/>
          </a:xfrm>
          <a:prstGeom prst="rect">
            <a:avLst/>
          </a:prstGeom>
        </p:spPr>
      </p:pic>
      <p:sp>
        <p:nvSpPr>
          <p:cNvPr id="6" name="Text 3"/>
          <p:cNvSpPr txBox="1"/>
          <p:nvPr/>
        </p:nvSpPr>
        <p:spPr>
          <a:xfrm>
            <a:off x="457200" y="3200400"/>
            <a:ext cx="192024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Digital Marketing</a:t>
            </a:r>
            <a:endParaRPr lang="en-US" sz="1400" dirty="0"/>
          </a:p>
        </p:txBody>
      </p:sp>
      <p:sp>
        <p:nvSpPr>
          <p:cNvPr id="7" name="Text 4"/>
          <p:cNvSpPr txBox="1"/>
          <p:nvPr/>
        </p:nvSpPr>
        <p:spPr>
          <a:xfrm>
            <a:off x="457200" y="4434840"/>
            <a:ext cx="1828800" cy="274320"/>
          </a:xfrm>
          <a:prstGeom prst="rect">
            <a:avLst/>
          </a:prstGeom>
          <a:noFill/>
          <a:ln/>
        </p:spPr>
        <p:txBody>
          <a:bodyPr wrap="square" lIns="0" tIns="0" rIns="0" bIns="0" rtlCol="0" anchor="ctr"/>
          <a:lstStyle/>
          <a:p>
            <a:pPr indent="0" marL="0">
              <a:buNone/>
            </a:pPr>
            <a:r>
              <a:rPr lang="en-US" sz="1100" dirty="0">
                <a:solidFill>
                  <a:srgbClr val="9A9DB3"/>
                </a:solidFill>
                <a:latin typeface="Calibri" pitchFamily="34" charset="0"/>
                <a:ea typeface="Calibri" pitchFamily="34" charset="-122"/>
                <a:cs typeface="Calibri" pitchFamily="34" charset="-120"/>
              </a:rPr>
              <a:t>Question 10 of 10</a:t>
            </a:r>
            <a:endParaRPr lang="en-US" sz="1100" dirty="0"/>
          </a:p>
        </p:txBody>
      </p:sp>
      <p:sp>
        <p:nvSpPr>
          <p:cNvPr id="8" name="Text 5"/>
          <p:cNvSpPr txBox="1"/>
          <p:nvPr/>
        </p:nvSpPr>
        <p:spPr>
          <a:xfrm>
            <a:off x="3017520" y="457200"/>
            <a:ext cx="5669280" cy="274320"/>
          </a:xfrm>
          <a:prstGeom prst="rect">
            <a:avLst/>
          </a:prstGeom>
          <a:noFill/>
          <a:ln/>
        </p:spPr>
        <p:txBody>
          <a:bodyPr wrap="square" lIns="0" tIns="0" rIns="0" bIns="0" rtlCol="0" anchor="ctr"/>
          <a:lstStyle/>
          <a:p>
            <a:pPr indent="0" marL="0">
              <a:buNone/>
            </a:pPr>
            <a:r>
              <a:rPr lang="en-US" sz="1100" b="1" spc="300" kern="0" dirty="0">
                <a:solidFill>
                  <a:srgbClr val="6B6F85"/>
                </a:solidFill>
                <a:latin typeface="Calibri" pitchFamily="34" charset="0"/>
                <a:ea typeface="Calibri" pitchFamily="34" charset="-122"/>
                <a:cs typeface="Calibri" pitchFamily="34" charset="-120"/>
              </a:rPr>
              <a:t>SCENARIO</a:t>
            </a:r>
            <a:endParaRPr lang="en-US" sz="1100" dirty="0"/>
          </a:p>
        </p:txBody>
      </p:sp>
      <p:sp>
        <p:nvSpPr>
          <p:cNvPr id="9" name="Text 6"/>
          <p:cNvSpPr txBox="1"/>
          <p:nvPr/>
        </p:nvSpPr>
        <p:spPr>
          <a:xfrm>
            <a:off x="3017520" y="777240"/>
            <a:ext cx="5669280" cy="1874520"/>
          </a:xfrm>
          <a:prstGeom prst="rect">
            <a:avLst/>
          </a:prstGeom>
          <a:noFill/>
          <a:ln/>
        </p:spPr>
        <p:txBody>
          <a:bodyPr wrap="square" lIns="0" tIns="0" rIns="0" bIns="0" rtlCol="0" anchor="t"/>
          <a:lstStyle/>
          <a:p>
            <a:pPr indent="0" marL="0">
              <a:spcAft>
                <a:spcPts val="400"/>
              </a:spcAft>
              <a:buNone/>
            </a:pPr>
            <a:r>
              <a:rPr lang="en-US" sz="1700" dirty="0">
                <a:solidFill>
                  <a:srgbClr val="22223B"/>
                </a:solidFill>
                <a:latin typeface="Calibri" pitchFamily="34" charset="0"/>
                <a:ea typeface="Calibri" pitchFamily="34" charset="-122"/>
                <a:cs typeface="Calibri" pitchFamily="34" charset="-120"/>
              </a:rPr>
              <a:t>A brand's Instagram ads have had a click-through rate of 3% for months. The creative team launches a new video ad and believes it will get a higher click-through rate. They track 5,000 impressions.</a:t>
            </a:r>
            <a:endParaRPr lang="en-US" sz="1700" dirty="0"/>
          </a:p>
        </p:txBody>
      </p:sp>
      <p:sp>
        <p:nvSpPr>
          <p:cNvPr id="10" name="Shape 7"/>
          <p:cNvSpPr/>
          <p:nvPr/>
        </p:nvSpPr>
        <p:spPr>
          <a:xfrm>
            <a:off x="3017520" y="2880360"/>
            <a:ext cx="5669280" cy="1783080"/>
          </a:xfrm>
          <a:prstGeom prst="roundRect">
            <a:avLst>
              <a:gd name="adj" fmla="val 6154"/>
            </a:avLst>
          </a:prstGeom>
          <a:solidFill>
            <a:srgbClr val="EEF0F6"/>
          </a:solidFill>
          <a:ln w="12700">
            <a:solidFill>
              <a:srgbClr val="EEF0F6"/>
            </a:solidFill>
            <a:prstDash val="solid"/>
          </a:ln>
        </p:spPr>
      </p:sp>
      <p:sp>
        <p:nvSpPr>
          <p:cNvPr id="11" name="Text 8"/>
          <p:cNvSpPr txBox="1"/>
          <p:nvPr/>
        </p:nvSpPr>
        <p:spPr>
          <a:xfrm>
            <a:off x="3291840" y="3017520"/>
            <a:ext cx="5212080" cy="320040"/>
          </a:xfrm>
          <a:prstGeom prst="rect">
            <a:avLst/>
          </a:prstGeom>
          <a:noFill/>
          <a:ln/>
        </p:spPr>
        <p:txBody>
          <a:bodyPr wrap="square" lIns="0" tIns="0" rIns="0" bIns="0" rtlCol="0" anchor="ctr"/>
          <a:lstStyle/>
          <a:p>
            <a:pPr indent="0" marL="0">
              <a:buNone/>
            </a:pPr>
            <a:r>
              <a:rPr lang="en-US" sz="1300" b="1" dirty="0">
                <a:solidFill>
                  <a:srgbClr val="4A4E69"/>
                </a:solidFill>
                <a:latin typeface="Calibri" pitchFamily="34" charset="0"/>
                <a:ea typeface="Calibri" pitchFamily="34" charset="-122"/>
                <a:cs typeface="Calibri" pitchFamily="34" charset="-120"/>
              </a:rPr>
              <a:t>Write the null and alternative hypotheses</a:t>
            </a:r>
            <a:endParaRPr lang="en-US" sz="1300" dirty="0"/>
          </a:p>
        </p:txBody>
      </p:sp>
      <p:sp>
        <p:nvSpPr>
          <p:cNvPr id="12" name="Text 9"/>
          <p:cNvSpPr txBox="1"/>
          <p:nvPr/>
        </p:nvSpPr>
        <p:spPr>
          <a:xfrm>
            <a:off x="3291840" y="3474720"/>
            <a:ext cx="731520" cy="411480"/>
          </a:xfrm>
          <a:prstGeom prst="rect">
            <a:avLst/>
          </a:prstGeom>
          <a:noFill/>
          <a:ln/>
        </p:spPr>
        <p:txBody>
          <a:bodyPr wrap="square" lIns="0" tIns="0" rIns="0" bIns="0" rtlCol="0" anchor="ctr"/>
          <a:lstStyle/>
          <a:p>
            <a:pPr indent="0" marL="0">
              <a:buNone/>
            </a:pPr>
            <a:r>
              <a:rPr lang="en-US" sz="2000" b="1" dirty="0">
                <a:solidFill>
                  <a:srgbClr val="22223B"/>
                </a:solidFill>
                <a:latin typeface="Cambria" pitchFamily="34" charset="0"/>
                <a:ea typeface="Cambria" pitchFamily="34" charset="-122"/>
                <a:cs typeface="Cambria" pitchFamily="34" charset="-120"/>
              </a:rPr>
              <a:t>H</a:t>
            </a:r>
            <a:pPr indent="0" marL="0">
              <a:buNone/>
            </a:pPr>
            <a:r>
              <a:rPr lang="en-US" sz="2000" b="1" baseline="-40000" dirty="0">
                <a:solidFill>
                  <a:srgbClr val="22223B"/>
                </a:solidFill>
                <a:latin typeface="Cambria" pitchFamily="34" charset="0"/>
                <a:ea typeface="Cambria" pitchFamily="34" charset="-122"/>
                <a:cs typeface="Cambria" pitchFamily="34" charset="-120"/>
              </a:rPr>
              <a:t>0</a:t>
            </a:r>
            <a:pPr indent="0" marL="0">
              <a:buNone/>
            </a:pPr>
            <a:r>
              <a:rPr lang="en-US" sz="2000" b="1" dirty="0">
                <a:solidFill>
                  <a:srgbClr val="22223B"/>
                </a:solidFill>
                <a:latin typeface="Cambria" pitchFamily="34" charset="0"/>
                <a:ea typeface="Cambria" pitchFamily="34" charset="-122"/>
                <a:cs typeface="Cambria" pitchFamily="34" charset="-120"/>
              </a:rPr>
              <a:t>  :</a:t>
            </a:r>
            <a:endParaRPr lang="en-US" sz="2000" dirty="0"/>
          </a:p>
        </p:txBody>
      </p:sp>
      <p:sp>
        <p:nvSpPr>
          <p:cNvPr id="13" name="Shape 10"/>
          <p:cNvSpPr/>
          <p:nvPr/>
        </p:nvSpPr>
        <p:spPr>
          <a:xfrm>
            <a:off x="4069080" y="3822192"/>
            <a:ext cx="4297680" cy="0"/>
          </a:xfrm>
          <a:prstGeom prst="line">
            <a:avLst/>
          </a:prstGeom>
          <a:noFill/>
          <a:ln w="12700">
            <a:solidFill>
              <a:srgbClr val="9A9DB3"/>
            </a:solidFill>
            <a:prstDash val="dash"/>
          </a:ln>
        </p:spPr>
      </p:sp>
      <p:sp>
        <p:nvSpPr>
          <p:cNvPr id="14" name="Text 11"/>
          <p:cNvSpPr txBox="1"/>
          <p:nvPr/>
        </p:nvSpPr>
        <p:spPr>
          <a:xfrm>
            <a:off x="3291840" y="4023360"/>
            <a:ext cx="731520" cy="411480"/>
          </a:xfrm>
          <a:prstGeom prst="rect">
            <a:avLst/>
          </a:prstGeom>
          <a:noFill/>
          <a:ln/>
        </p:spPr>
        <p:txBody>
          <a:bodyPr wrap="square" lIns="0" tIns="0" rIns="0" bIns="0" rtlCol="0" anchor="ctr"/>
          <a:lstStyle/>
          <a:p>
            <a:pPr indent="0" marL="0">
              <a:buNone/>
            </a:pPr>
            <a:r>
              <a:rPr lang="en-US" sz="2000" b="1" dirty="0">
                <a:solidFill>
                  <a:srgbClr val="22223B"/>
                </a:solidFill>
                <a:latin typeface="Cambria" pitchFamily="34" charset="0"/>
                <a:ea typeface="Cambria" pitchFamily="34" charset="-122"/>
                <a:cs typeface="Cambria" pitchFamily="34" charset="-120"/>
              </a:rPr>
              <a:t>H</a:t>
            </a:r>
            <a:pPr indent="0" marL="0">
              <a:buNone/>
            </a:pPr>
            <a:r>
              <a:rPr lang="en-US" sz="2000" b="1" baseline="-40000" dirty="0">
                <a:solidFill>
                  <a:srgbClr val="22223B"/>
                </a:solidFill>
                <a:latin typeface="Cambria" pitchFamily="34" charset="0"/>
                <a:ea typeface="Cambria" pitchFamily="34" charset="-122"/>
                <a:cs typeface="Cambria" pitchFamily="34" charset="-120"/>
              </a:rPr>
              <a:t>a</a:t>
            </a:r>
            <a:pPr indent="0" marL="0">
              <a:buNone/>
            </a:pPr>
            <a:r>
              <a:rPr lang="en-US" sz="2000" b="1" dirty="0">
                <a:solidFill>
                  <a:srgbClr val="22223B"/>
                </a:solidFill>
                <a:latin typeface="Cambria" pitchFamily="34" charset="0"/>
                <a:ea typeface="Cambria" pitchFamily="34" charset="-122"/>
                <a:cs typeface="Cambria" pitchFamily="34" charset="-120"/>
              </a:rPr>
              <a:t>  :</a:t>
            </a:r>
            <a:endParaRPr lang="en-US" sz="2000" dirty="0"/>
          </a:p>
        </p:txBody>
      </p:sp>
      <p:sp>
        <p:nvSpPr>
          <p:cNvPr id="15" name="Shape 12"/>
          <p:cNvSpPr/>
          <p:nvPr/>
        </p:nvSpPr>
        <p:spPr>
          <a:xfrm>
            <a:off x="4069080" y="4370832"/>
            <a:ext cx="4297680" cy="0"/>
          </a:xfrm>
          <a:prstGeom prst="line">
            <a:avLst/>
          </a:prstGeom>
          <a:noFill/>
          <a:ln w="12700">
            <a:solidFill>
              <a:srgbClr val="9A9DB3"/>
            </a:solidFill>
            <a:prstDash val="dash"/>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Hypothesis Formulation – Practice Questions</dc:title>
  <dc:subject>PptxGenJS Presentation</dc:subject>
  <dc:creator>PptxGenJS</dc:creator>
  <cp:lastModifiedBy>PptxGenJS</cp:lastModifiedBy>
  <cp:revision>1</cp:revision>
  <dcterms:created xsi:type="dcterms:W3CDTF">2026-09-23T10:55:14Z</dcterms:created>
  <dcterms:modified xsi:type="dcterms:W3CDTF">2026-09-23T10:55:14Z</dcterms:modified>
</cp:coreProperties>
</file>