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3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0333B"/>
                </a:solidFill>
                <a:latin typeface="Calibri"/>
              </a:rPr>
              <a:t>Annual salary distribution (₹ lakh) — right-skewed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employees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2–4</c:v>
                  </c:pt>
                  <c:pt idx="1">
                    <c:v>4–6</c:v>
                  </c:pt>
                  <c:pt idx="2">
                    <c:v>6–8</c:v>
                  </c:pt>
                  <c:pt idx="3">
                    <c:v>8–10</c:v>
                  </c:pt>
                  <c:pt idx="4">
                    <c:v>10–12</c:v>
                  </c:pt>
                  <c:pt idx="5">
                    <c:v>12–14</c:v>
                  </c:pt>
                  <c:pt idx="6">
                    <c:v>14–16</c:v>
                  </c:pt>
                  <c:pt idx="7">
                    <c:v>16–18</c:v>
                  </c:pt>
                  <c:pt idx="8">
                    <c:v>18–20</c:v>
                  </c:pt>
                  <c:pt idx="9">
                    <c:v>20+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</c:v>
                </c:pt>
                <c:pt idx="1">
                  <c:v>52</c:v>
                </c:pt>
                <c:pt idx="2">
                  <c:v>41</c:v>
                </c:pt>
                <c:pt idx="3">
                  <c:v>26</c:v>
                </c:pt>
                <c:pt idx="4">
                  <c:v>15</c:v>
                </c:pt>
                <c:pt idx="5">
                  <c:v>9</c:v>
                </c:pt>
                <c:pt idx="6">
                  <c:v>6</c:v>
                </c:pt>
                <c:pt idx="7">
                  <c:v>4</c:v>
                </c:pt>
                <c:pt idx="8">
                  <c:v>3</c:v>
                </c:pt>
                <c:pt idx="9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55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55A"/>
                    </a:solidFill>
                    <a:latin typeface="Arial"/>
                  </a:rPr>
                  <a:t>Salary band (₹ lakh)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55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55A"/>
                    </a:solidFill>
                    <a:latin typeface="Arial"/>
                  </a:rPr>
                  <a:t>Employees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3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0333B"/>
                </a:solidFill>
                <a:latin typeface="Calibri"/>
              </a:rPr>
              <a:t>Five-number summary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Percentile</c:v>
                </c:pt>
              </c:strCache>
            </c:strRef>
          </c:tx>
          <c:spPr>
            <a:solidFill>
              <a:srgbClr val="E0A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Min</c:v>
                  </c:pt>
                  <c:pt idx="1">
                    <c:v>Q1</c:v>
                  </c:pt>
                  <c:pt idx="2">
                    <c:v>Median</c:v>
                  </c:pt>
                  <c:pt idx="3">
                    <c:v>Q3</c:v>
                  </c:pt>
                  <c:pt idx="4">
                    <c:v>Max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28</c:v>
                </c:pt>
                <c:pt idx="2">
                  <c:v>41</c:v>
                </c:pt>
                <c:pt idx="3">
                  <c:v>58</c:v>
                </c:pt>
                <c:pt idx="4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3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0333B"/>
                </a:solidFill>
                <a:latin typeface="Calibri"/>
              </a:rPr>
              <a:t>Delivery lead time (days) — both suppliers average 10 days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Supplier A — SD 1.2 days</c:v>
                </c:pt>
              </c:strCache>
            </c:strRef>
          </c:tx>
          <c:spPr>
            <a:solidFill>
              <a:srgbClr val="1B7F8C"/>
            </a:solidFill>
            <a:ln w="38100" cap="flat">
              <a:solidFill>
                <a:srgbClr val="1B7F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7F8C"/>
              </a:solidFill>
              <a:ln w="9525" cap="flat">
                <a:solidFill>
                  <a:srgbClr val="1B7F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</c:v>
                </c:pt>
                <c:pt idx="1">
                  <c:v>11</c:v>
                </c:pt>
                <c:pt idx="2">
                  <c:v>10</c:v>
                </c:pt>
                <c:pt idx="3">
                  <c:v>10</c:v>
                </c:pt>
                <c:pt idx="4">
                  <c:v>9</c:v>
                </c:pt>
                <c:pt idx="5">
                  <c:v>11</c:v>
                </c:pt>
                <c:pt idx="6">
                  <c:v>10</c:v>
                </c:pt>
                <c:pt idx="7">
                  <c:v>9</c:v>
                </c:pt>
                <c:pt idx="8">
                  <c:v>11</c:v>
                </c:pt>
                <c:pt idx="9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Supplier B — SD 5.4 days</c:v>
                </c:pt>
              </c:strCache>
            </c:strRef>
          </c:tx>
          <c:spPr>
            <a:solidFill>
              <a:srgbClr val="B5502E"/>
            </a:solidFill>
            <a:ln w="38100" cap="flat">
              <a:solidFill>
                <a:srgbClr val="B55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5502E"/>
              </a:solidFill>
              <a:ln w="9525" cap="flat">
                <a:solidFill>
                  <a:srgbClr val="B55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</c:v>
                </c:pt>
                <c:pt idx="1">
                  <c:v>17</c:v>
                </c:pt>
                <c:pt idx="2">
                  <c:v>6</c:v>
                </c:pt>
                <c:pt idx="3">
                  <c:v>14</c:v>
                </c:pt>
                <c:pt idx="4">
                  <c:v>4</c:v>
                </c:pt>
                <c:pt idx="5">
                  <c:v>16</c:v>
                </c:pt>
                <c:pt idx="6">
                  <c:v>10</c:v>
                </c:pt>
                <c:pt idx="7">
                  <c:v>2</c:v>
                </c:pt>
                <c:pt idx="8">
                  <c:v>18</c:v>
                </c:pt>
                <c:pt idx="9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55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55A"/>
                    </a:solidFill>
                    <a:latin typeface="Arial"/>
                  </a:rPr>
                  <a:t>Lead time (days)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4555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3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0333B"/>
                </a:solidFill>
                <a:latin typeface="Calibri"/>
              </a:rPr>
              <a:t>A bell-shaped distribution in bands of one standard deviation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observations</c:v>
                </c:pt>
              </c:strCache>
            </c:strRef>
          </c:tx>
          <c:spPr>
            <a:solidFill>
              <a:srgbClr val="AFC8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FC8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A7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33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FA7B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FC8C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−3 SD</c:v>
                  </c:pt>
                  <c:pt idx="1">
                    <c:v>−2 SD</c:v>
                  </c:pt>
                  <c:pt idx="2">
                    <c:v>−1 SD</c:v>
                  </c:pt>
                  <c:pt idx="3">
                    <c:v>Mean</c:v>
                  </c:pt>
                  <c:pt idx="4">
                    <c:v>+1 SD</c:v>
                  </c:pt>
                  <c:pt idx="5">
                    <c:v>+2 SD</c:v>
                  </c:pt>
                  <c:pt idx="6">
                    <c:v>+3 SD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</c:v>
                </c:pt>
                <c:pt idx="1">
                  <c:v>4.4</c:v>
                </c:pt>
                <c:pt idx="2">
                  <c:v>15</c:v>
                </c:pt>
                <c:pt idx="3">
                  <c:v>30.4</c:v>
                </c:pt>
                <c:pt idx="4">
                  <c:v>15</c:v>
                </c:pt>
                <c:pt idx="5">
                  <c:v>4.4</c:v>
                </c:pt>
                <c:pt idx="6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55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55A"/>
                    </a:solidFill>
                    <a:latin typeface="Arial"/>
                  </a:rPr>
                  <a:t>% of observations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B550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B5502E"/>
                </a:solidFill>
                <a:latin typeface="Calibri"/>
              </a:rPr>
              <a:t>Left-skewed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Left-skewed</c:v>
                </c:pt>
              </c:strCache>
            </c:strRef>
          </c:tx>
          <c:spPr>
            <a:solidFill>
              <a:srgbClr val="B55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9</c:v>
                </c:pt>
                <c:pt idx="3">
                  <c:v>18</c:v>
                </c:pt>
                <c:pt idx="4">
                  <c:v>32</c:v>
                </c:pt>
                <c:pt idx="5">
                  <c:v>45</c:v>
                </c:pt>
                <c:pt idx="6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7F8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7F8C"/>
                </a:solidFill>
                <a:latin typeface="Calibri"/>
              </a:rPr>
              <a:t>Symmetric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Symmetric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16</c:v>
                </c:pt>
                <c:pt idx="2">
                  <c:v>30</c:v>
                </c:pt>
                <c:pt idx="3">
                  <c:v>42</c:v>
                </c:pt>
                <c:pt idx="4">
                  <c:v>30</c:v>
                </c:pt>
                <c:pt idx="5">
                  <c:v>16</c:v>
                </c:pt>
                <c:pt idx="6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0A0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0A03A"/>
                </a:solidFill>
                <a:latin typeface="Calibri"/>
              </a:rPr>
              <a:t>Right-skewed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Right-skewed</c:v>
                </c:pt>
              </c:strCache>
            </c:strRef>
          </c:tx>
          <c:spPr>
            <a:solidFill>
              <a:srgbClr val="E0A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45</c:v>
                </c:pt>
                <c:pt idx="2">
                  <c:v>32</c:v>
                </c:pt>
                <c:pt idx="3">
                  <c:v>18</c:v>
                </c:pt>
                <c:pt idx="4">
                  <c:v>9</c:v>
                </c:pt>
                <c:pt idx="5">
                  <c:v>4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3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0333B"/>
                </a:solidFill>
                <a:latin typeface="Calibri"/>
              </a:rPr>
              <a:t>z-scores for ten branch outlets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5502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  <c:pt idx="6">
                    <c:v>G</c:v>
                  </c:pt>
                  <c:pt idx="7">
                    <c:v>H</c:v>
                  </c:pt>
                  <c:pt idx="8">
                    <c:v>I</c:v>
                  </c:pt>
                  <c:pt idx="9">
                    <c:v>J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</c:v>
                </c:pt>
                <c:pt idx="1">
                  <c:v>-0.8</c:v>
                </c:pt>
                <c:pt idx="2">
                  <c:v>1.1</c:v>
                </c:pt>
                <c:pt idx="3">
                  <c:v>-0.3</c:v>
                </c:pt>
                <c:pt idx="4">
                  <c:v>0.9</c:v>
                </c:pt>
                <c:pt idx="5">
                  <c:v>-1.4</c:v>
                </c:pt>
                <c:pt idx="6">
                  <c:v>0.2</c:v>
                </c:pt>
                <c:pt idx="7">
                  <c:v>3.6</c:v>
                </c:pt>
                <c:pt idx="8">
                  <c:v>-0.6</c:v>
                </c:pt>
                <c:pt idx="9">
                  <c:v>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-2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55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55A"/>
                    </a:solidFill>
                    <a:latin typeface="Arial"/>
                  </a:rPr>
                  <a:t>z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7F8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7F8C"/>
                </a:solidFill>
                <a:latin typeface="Calibri"/>
              </a:rPr>
              <a:t>Strong positive  r ≈ +0.95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1B7F8C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1B7F8C"/>
              </a:solidFill>
              <a:ln w="9525" cap="flat">
                <a:solidFill>
                  <a:srgbClr val="1B7F8C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19</c:v>
                </c:pt>
                <c:pt idx="2">
                  <c:v>24</c:v>
                </c:pt>
                <c:pt idx="3">
                  <c:v>33</c:v>
                </c:pt>
                <c:pt idx="4">
                  <c:v>38</c:v>
                </c:pt>
                <c:pt idx="5">
                  <c:v>47</c:v>
                </c:pt>
                <c:pt idx="6">
                  <c:v>52</c:v>
                </c:pt>
                <c:pt idx="7">
                  <c:v>61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9"/>
          <c:min val="0"/>
        </c:scaling>
        <c:delete val="0"/>
        <c:axPos val="b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FA7B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3FA7B5"/>
                </a:solidFill>
                <a:latin typeface="Calibri"/>
              </a:rPr>
              <a:t>Weak positive  r ≈ +0.35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3FA7B5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3FA7B5"/>
              </a:solidFill>
              <a:ln w="9525" cap="flat">
                <a:solidFill>
                  <a:srgbClr val="3FA7B5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14</c:v>
                </c:pt>
                <c:pt idx="2">
                  <c:v>38</c:v>
                </c:pt>
                <c:pt idx="3">
                  <c:v>25</c:v>
                </c:pt>
                <c:pt idx="4">
                  <c:v>45</c:v>
                </c:pt>
                <c:pt idx="5">
                  <c:v>31</c:v>
                </c:pt>
                <c:pt idx="6">
                  <c:v>52</c:v>
                </c:pt>
                <c:pt idx="7">
                  <c:v>40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9"/>
          <c:min val="0"/>
        </c:scaling>
        <c:delete val="0"/>
        <c:axPos val="b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B5502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B5502E"/>
                </a:solidFill>
                <a:latin typeface="Calibri"/>
              </a:rPr>
              <a:t>Strong negative  r ≈ −0.92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B5502E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B5502E"/>
              </a:solidFill>
              <a:ln w="9525" cap="flat">
                <a:solidFill>
                  <a:srgbClr val="B5502E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60</c:v>
                </c:pt>
                <c:pt idx="1">
                  <c:v>52</c:v>
                </c:pt>
                <c:pt idx="2">
                  <c:v>47</c:v>
                </c:pt>
                <c:pt idx="3">
                  <c:v>36</c:v>
                </c:pt>
                <c:pt idx="4">
                  <c:v>31</c:v>
                </c:pt>
                <c:pt idx="5">
                  <c:v>22</c:v>
                </c:pt>
                <c:pt idx="6">
                  <c:v>16</c:v>
                </c:pt>
                <c:pt idx="7">
                  <c:v>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9"/>
          <c:min val="0"/>
        </c:scaling>
        <c:delete val="0"/>
        <c:axPos val="b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A8C9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7A8C90"/>
                </a:solidFill>
                <a:latin typeface="Calibri"/>
              </a:rPr>
              <a:t>No relationship  r ≈ 0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7A8C9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7A8C90"/>
              </a:solidFill>
              <a:ln w="9525" cap="flat">
                <a:solidFill>
                  <a:srgbClr val="7A8C90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34</c:v>
                </c:pt>
                <c:pt idx="1">
                  <c:v>52</c:v>
                </c:pt>
                <c:pt idx="2">
                  <c:v>20</c:v>
                </c:pt>
                <c:pt idx="3">
                  <c:v>45</c:v>
                </c:pt>
                <c:pt idx="4">
                  <c:v>28</c:v>
                </c:pt>
                <c:pt idx="5">
                  <c:v>50</c:v>
                </c:pt>
                <c:pt idx="6">
                  <c:v>26</c:v>
                </c:pt>
                <c:pt idx="7">
                  <c:v>40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9"/>
          <c:min val="0"/>
        </c:scaling>
        <c:delete val="0"/>
        <c:axPos val="b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3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0333B"/>
                </a:solidFill>
                <a:latin typeface="Calibri"/>
              </a:rPr>
              <a:t>Customer complaints by cause, sorted descending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Complaints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Late delivery</c:v>
                  </c:pt>
                  <c:pt idx="1">
                    <c:v>Damaged item</c:v>
                  </c:pt>
                  <c:pt idx="2">
                    <c:v>Wrong item</c:v>
                  </c:pt>
                  <c:pt idx="3">
                    <c:v>Billing error</c:v>
                  </c:pt>
                  <c:pt idx="4">
                    <c:v>Rude staff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184</c:v>
                </c:pt>
                <c:pt idx="1">
                  <c:v>96</c:v>
                </c:pt>
                <c:pt idx="2">
                  <c:v>61</c:v>
                </c:pt>
                <c:pt idx="3">
                  <c:v>34</c:v>
                </c:pt>
                <c:pt idx="4">
                  <c:v>18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55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55A"/>
                    </a:solidFill>
                    <a:latin typeface="Arial"/>
                  </a:rPr>
                  <a:t>Complaints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3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0333B"/>
                </a:solidFill>
                <a:latin typeface="Calibri"/>
              </a:rPr>
              <a:t>Cumulative percentage of all complaints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%</c:v>
                </c:pt>
              </c:strCache>
            </c:strRef>
          </c:tx>
          <c:spPr>
            <a:solidFill>
              <a:srgbClr val="E0A03A"/>
            </a:solidFill>
            <a:ln w="38100" cap="flat">
              <a:solidFill>
                <a:srgbClr val="E0A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A03A"/>
              </a:solidFill>
              <a:ln w="9525" cap="flat">
                <a:solidFill>
                  <a:srgbClr val="E0A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Late delivery</c:v>
                  </c:pt>
                  <c:pt idx="1">
                    <c:v>Damaged item</c:v>
                  </c:pt>
                  <c:pt idx="2">
                    <c:v>Wrong item</c:v>
                  </c:pt>
                  <c:pt idx="3">
                    <c:v>Billing error</c:v>
                  </c:pt>
                  <c:pt idx="4">
                    <c:v>Rude staff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69</c:v>
                </c:pt>
                <c:pt idx="2">
                  <c:v>84</c:v>
                </c:pt>
                <c:pt idx="3">
                  <c:v>92</c:v>
                </c:pt>
                <c:pt idx="4">
                  <c:v>98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55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55A"/>
                    </a:solidFill>
                    <a:latin typeface="Arial"/>
                  </a:rPr>
                  <a:t>Cumulative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3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0333B"/>
                </a:solidFill>
                <a:latin typeface="Calibri"/>
              </a:rPr>
              <a:t>Histogram — parts cost for 50 tune-ups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50–59</c:v>
                  </c:pt>
                  <c:pt idx="1">
                    <c:v>60–69</c:v>
                  </c:pt>
                  <c:pt idx="2">
                    <c:v>70–79</c:v>
                  </c:pt>
                  <c:pt idx="3">
                    <c:v>80–89</c:v>
                  </c:pt>
                  <c:pt idx="4">
                    <c:v>90–99</c:v>
                  </c:pt>
                  <c:pt idx="5">
                    <c:v>100–109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13</c:v>
                </c:pt>
                <c:pt idx="2">
                  <c:v>16</c:v>
                </c:pt>
                <c:pt idx="3">
                  <c:v>7</c:v>
                </c:pt>
                <c:pt idx="4">
                  <c:v>7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55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55A"/>
                    </a:solidFill>
                    <a:latin typeface="Arial"/>
                  </a:rPr>
                  <a:t>Parts cost ($)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55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55A"/>
                    </a:solidFill>
                    <a:latin typeface="Arial"/>
                  </a:rPr>
                  <a:t>Frequency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3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0333B"/>
                </a:solidFill>
                <a:latin typeface="Calibri"/>
              </a:rPr>
              <a:t>Cumulative percentage polygon (ogive)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%</c:v>
                </c:pt>
              </c:strCache>
            </c:strRef>
          </c:tx>
          <c:spPr>
            <a:solidFill>
              <a:srgbClr val="E0A03A"/>
            </a:solidFill>
            <a:ln w="38100" cap="flat">
              <a:solidFill>
                <a:srgbClr val="E0A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55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A03A"/>
              </a:solidFill>
              <a:ln w="9525" cap="flat">
                <a:solidFill>
                  <a:srgbClr val="E0A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59</c:v>
                  </c:pt>
                  <c:pt idx="1">
                    <c:v>69</c:v>
                  </c:pt>
                  <c:pt idx="2">
                    <c:v>79</c:v>
                  </c:pt>
                  <c:pt idx="3">
                    <c:v>89</c:v>
                  </c:pt>
                  <c:pt idx="4">
                    <c:v>99</c:v>
                  </c:pt>
                  <c:pt idx="5">
                    <c:v>109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30</c:v>
                </c:pt>
                <c:pt idx="2">
                  <c:v>62</c:v>
                </c:pt>
                <c:pt idx="3">
                  <c:v>76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4555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55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55A"/>
                    </a:solidFill>
                    <a:latin typeface="Arial"/>
                  </a:rPr>
                  <a:t>Upper class limit ($)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C9DC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55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55A"/>
                    </a:solidFill>
                    <a:latin typeface="Arial"/>
                  </a:rPr>
                  <a:t>Cumulative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C9DCD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4" Type="http://schemas.openxmlformats.org/officeDocument/2006/relationships/chart" Target="/ppt/charts/chart12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5120640" cy="5120640"/>
          </a:xfrm>
          <a:prstGeom prst="ellipse">
            <a:avLst/>
          </a:prstGeom>
          <a:solidFill>
            <a:srgbClr val="1B7F8C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E0A03A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&amp; Data Analysis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005840" cy="41148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DBS-PC-BR-601-T  ·  Business Research and Statistics  ·  MBA Semester 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A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Excel-based · Anderson, Sweeney et al. Ch. 2–3  |  Levine, Szabat &amp; Stephan Ch. 2–3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for this module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19656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647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centre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3063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choose between the mean, median and mode for business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1819656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7647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spread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3063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range, IQR, variance, standard deviation and the coefficient of variation.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19656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7647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shape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0" y="2148840"/>
            <a:ext cx="3063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skewness and kurtosis, and detect outliers with z-scores.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2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3904488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8496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association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4233672"/>
            <a:ext cx="3063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interpret Pearson and Spearman correlation.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3685032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9432" y="3904488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8496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chart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617720" y="4233672"/>
            <a:ext cx="3063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bar, pie, Pareto, histogram, box plot and scatter to the data type.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3685032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94192" y="3904488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38496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all in Excel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412480" y="4233672"/>
            <a:ext cx="3063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tool, PivotTables and the core statistical functions.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topics, each with an Excel workout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121408" cy="301752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3736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" y="2542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" y="340156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 — and when each one lies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07208" y="1737360"/>
            <a:ext cx="2121408" cy="301752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07208" y="173736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173736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53512" y="2542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53512" y="340156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Range, IQR, variance, SD, CV, box plots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11496" y="1737360"/>
            <a:ext cx="2121408" cy="301752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11496" y="173736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11496" y="173736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57800" y="2542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340156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Skewness, kurtosis, outliers, z-scores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15784" y="1737360"/>
            <a:ext cx="2121408" cy="301752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15784" y="173736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15784" y="173736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562088" y="2542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62088" y="340156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Covariance, Pearson r, Spearman rank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720072" y="1737360"/>
            <a:ext cx="2121408" cy="301752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20072" y="173736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0072" y="173736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866376" y="2542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66376" y="340156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and building the right chart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074920"/>
            <a:ext cx="11173968" cy="868680"/>
          </a:xfrm>
          <a:prstGeom prst="roundRect">
            <a:avLst>
              <a:gd name="adj" fmla="val 9474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module describes the data you actually hold. Module 3 uses these same numbers to reach beyond the sample.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754880" cy="4754880"/>
          </a:xfrm>
          <a:prstGeom prst="ellipse">
            <a:avLst/>
          </a:prstGeom>
          <a:solidFill>
            <a:srgbClr val="1B7F8C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Measures of Central Tendency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to stand for the whole distribution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Mean, median and mode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 to ‘what is typical?’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3566160" cy="566928"/>
          </a:xfrm>
          <a:prstGeom prst="roundRect">
            <a:avLst>
              <a:gd name="adj" fmla="val 14516"/>
            </a:avLst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every value, divide by the count.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all the data. Pulled hard by extreme values.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=AVERAGE(range)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600200"/>
            <a:ext cx="3566160" cy="566928"/>
          </a:xfrm>
          <a:prstGeom prst="roundRect">
            <a:avLst>
              <a:gd name="adj" fmla="val 14516"/>
            </a:avLst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6002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once the data are sorted.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how extreme the extremes are. Resistant.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=MEDIAN(range)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60020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600200"/>
            <a:ext cx="3566160" cy="566928"/>
          </a:xfrm>
          <a:prstGeom prst="roundRect">
            <a:avLst>
              <a:gd name="adj" fmla="val 14516"/>
            </a:avLst>
          </a:prstGeom>
          <a:solidFill>
            <a:srgbClr val="B5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6002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that occurs most often.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one that works for categorical data.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=MODE.SNGL(range)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1109960" cy="1234440"/>
          </a:xfrm>
          <a:prstGeom prst="roundRect">
            <a:avLst>
              <a:gd name="adj" fmla="val 6667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754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of 5 employees (₹ lakh):   4.2   4.8   5.1   5.6   28.0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5193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₹9.54 lakh.  Median = ₹5.10 lakh.  Four of the five employees earn less than the mean — the founder’s salary has dragged it away from anything typical.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mean lies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skewed distribution the mean and the median part company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69494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32120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553212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≈ ₹5.6 lakh</a:t>
            </a:r>
            <a:pPr indent="0" marL="0">
              <a:buNone/>
            </a:pPr>
            <a:r>
              <a:rPr lang="en-US" sz="1200" b="1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Mean ≈ ₹7.4 lakh</a:t>
            </a:r>
            <a:pPr indent="0" marL="0"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— the long right tail pulls the mean away from the typical employee.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26680" y="1645920"/>
            <a:ext cx="3931920" cy="3794760"/>
          </a:xfrm>
          <a:prstGeom prst="roundRect">
            <a:avLst>
              <a:gd name="adj" fmla="val 2169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46720" y="1828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do you report?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046720" y="26060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symmetric data → the mean. It uses every observation.</a:t>
            </a:r>
            <a:endParaRPr lang="en-US" sz="1200" dirty="0"/>
          </a:p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data → the median. Incomes, house prices, claim sizes and waiting times are almost always skewed.</a:t>
            </a:r>
            <a:endParaRPr lang="en-US" sz="1200" dirty="0"/>
          </a:p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data → the mode. It is the only one defined.</a:t>
            </a:r>
            <a:endParaRPr lang="en-US" sz="1200" dirty="0"/>
          </a:p>
          <a:p>
            <a:pPr marL="228600" indent="-2286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doubt, report both and let the gap between them tell the story.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6680" y="5532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Percentiles and quartiles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the distribution into ordered pieces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949440" cy="932688"/>
          </a:xfrm>
          <a:prstGeom prst="roundRect">
            <a:avLst>
              <a:gd name="adj" fmla="val 8824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1673352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25th percentile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673352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observations fall below this value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52160" y="1673352"/>
            <a:ext cx="1536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=QUARTILE.EXC(range,1)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69494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834640"/>
            <a:ext cx="566928" cy="566928"/>
          </a:xfrm>
          <a:prstGeom prst="ellipse">
            <a:avLst/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34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81328" y="2724912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50th percentile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724912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median. Half the data lie on each side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52160" y="2724912"/>
            <a:ext cx="1536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=MEDIAN(range)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6949440" cy="932688"/>
          </a:xfrm>
          <a:prstGeom prst="roundRect">
            <a:avLst>
              <a:gd name="adj" fmla="val 8824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81328" y="3776472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75th percentile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3776472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observations fall below this value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52160" y="3776472"/>
            <a:ext cx="1536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=QUARTILE.EXC(range,3)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69494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937760"/>
            <a:ext cx="566928" cy="566928"/>
          </a:xfrm>
          <a:prstGeom prst="ellipse">
            <a:avLst/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81328" y="4828032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Q3 − Q1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4828032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of the middle half — the resistant measure of spread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52160" y="4828032"/>
            <a:ext cx="1536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=Q3−Q1</a:t>
            </a:r>
            <a:endParaRPr lang="en-US" sz="10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726680" y="1691640"/>
          <a:ext cx="3931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7726680" y="5120640"/>
            <a:ext cx="3931920" cy="777240"/>
          </a:xfrm>
          <a:prstGeom prst="roundRect">
            <a:avLst>
              <a:gd name="adj" fmla="val 10588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955280" y="51206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numbers are exactly what a box plot draws.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754880" cy="4754880"/>
          </a:xfrm>
          <a:prstGeom prst="ellipse">
            <a:avLst/>
          </a:prstGeom>
          <a:solidFill>
            <a:srgbClr val="1B7F8C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Measures of Dispersion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products with the same average can be entirely different businesses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average is never enough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mean, different risk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7223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1737360"/>
            <a:ext cx="3657600" cy="1691640"/>
          </a:xfrm>
          <a:prstGeom prst="roundRect">
            <a:avLst>
              <a:gd name="adj" fmla="val 4865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753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 mean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75320" y="22860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suppliers average 10 days. On the mean alone you would be indifferent between them.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01000" y="361188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7532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Opposite risk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75320" y="41605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 forces you to hold far more safety stock. Variability, not the average, drives the inventory decision — which is why dispersion is measured before anything else.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55321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measures of spread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crude to complete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5440680" cy="1508760"/>
          </a:xfrm>
          <a:prstGeom prst="roundRect">
            <a:avLst>
              <a:gd name="adj" fmla="val 5455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83664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83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0848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−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but decided entirely by the two most extreme observations.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508760" y="27980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=MAX()−MIN()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1627632"/>
            <a:ext cx="54406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9672" y="1883664"/>
            <a:ext cx="566928" cy="566928"/>
          </a:xfrm>
          <a:prstGeom prst="ellipse">
            <a:avLst/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883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376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Interquartile range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20848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Q3 − Q1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2376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of the middle 50%. Resistant to outliers.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23760" y="27980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=QUARTILE.EXC(r,3)−QUARTILE.EXC(r,1)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319272"/>
            <a:ext cx="5440680" cy="1508760"/>
          </a:xfrm>
          <a:prstGeom prst="roundRect">
            <a:avLst>
              <a:gd name="adj" fmla="val 5455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575304"/>
            <a:ext cx="566928" cy="566928"/>
          </a:xfrm>
          <a:prstGeom prst="ellipse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3456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37764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deviation from the mean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0876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every value. Its units are squared, so it is hard to read directly.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508760" y="44897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=VAR.S(range)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3319272"/>
            <a:ext cx="54406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19672" y="3575304"/>
            <a:ext cx="566928" cy="566928"/>
          </a:xfrm>
          <a:prstGeom prst="ellipse">
            <a:avLst/>
          </a:prstGeom>
          <a:solidFill>
            <a:srgbClr val="1033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23760" y="3456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23760" y="37764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 root of the variance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the original units — the one you report.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223760" y="44897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=STDEV.S(range)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11109960" cy="868680"/>
          </a:xfrm>
          <a:prstGeom prst="roundRect">
            <a:avLst>
              <a:gd name="adj" fmla="val 9474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6868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variation = standard deviation ÷ mean, as a percentage. Use it whenever you compare the variability of two things measured in different units or on very different scales.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empirical rule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roughly bell-shaped data, the standard deviation maps the whole distribution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916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737360"/>
            <a:ext cx="39319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1828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1 SD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006840" y="1828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≈68%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955280" y="2240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two-thirds of all observations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26680" y="2971800"/>
            <a:ext cx="39319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55280" y="3063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2 SD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006840" y="3063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≈95%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955280" y="34747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 you quote to management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26680" y="4206240"/>
            <a:ext cx="39319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55280" y="42976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3 SD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006840" y="42976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≈99.7%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955280" y="47091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outside is a genuine outlier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726680" y="5440680"/>
            <a:ext cx="3931920" cy="502920"/>
          </a:xfrm>
          <a:prstGeom prst="roundRect">
            <a:avLst>
              <a:gd name="adj" fmla="val 16364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26680" y="5440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mean) ÷ standard deviation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box plot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numbers, one picture, instant comparison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82496" y="3017520"/>
            <a:ext cx="5376672" cy="32004"/>
          </a:xfrm>
          <a:prstGeom prst="rect">
            <a:avLst/>
          </a:prstGeom>
          <a:solidFill>
            <a:srgbClr val="4455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2788920"/>
            <a:ext cx="32004" cy="502920"/>
          </a:xfrm>
          <a:prstGeom prst="rect">
            <a:avLst/>
          </a:prstGeom>
          <a:solidFill>
            <a:srgbClr val="4455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59168" y="2788920"/>
            <a:ext cx="32004" cy="502920"/>
          </a:xfrm>
          <a:prstGeom prst="rect">
            <a:avLst/>
          </a:prstGeom>
          <a:solidFill>
            <a:srgbClr val="4455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06624" y="2606040"/>
            <a:ext cx="1920240" cy="868680"/>
          </a:xfrm>
          <a:prstGeom prst="rect">
            <a:avLst/>
          </a:prstGeom>
          <a:solidFill>
            <a:srgbClr val="E9F2F3"/>
          </a:solidFill>
          <a:ln w="25400">
            <a:solidFill>
              <a:srgbClr val="1B7F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8728" y="2606040"/>
            <a:ext cx="41148" cy="86868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66544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98648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86784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19088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06624" y="2057400"/>
            <a:ext cx="1920240" cy="310896"/>
          </a:xfrm>
          <a:prstGeom prst="leftRightArrow">
            <a:avLst/>
          </a:prstGeom>
          <a:solidFill>
            <a:srgbClr val="1B7F8C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2057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— the middle 50%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62088" y="2944368"/>
            <a:ext cx="182880" cy="182880"/>
          </a:xfrm>
          <a:prstGeom prst="ellipse">
            <a:avLst/>
          </a:prstGeom>
          <a:solidFill>
            <a:srgbClr val="B5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36408" y="2907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Outlier: beyond Q3 + 1.5 × IQR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151376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 at a glance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Centre, spread, skew and outliers in one figure — no distribution assumption needed.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931920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3952" y="4151376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beats a histogram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9224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several groups side by side: four box plots fit where one histogram would.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138928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" y="5358384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skew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22960" y="5687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median sitting off-centre inside the box, or one whisker much longer, means the data are skewed.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5138928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73952" y="5358384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in Excel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492240" y="5687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data, then Insert › Charts › Box and Whisker.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754880" cy="4754880"/>
          </a:xfrm>
          <a:prstGeom prst="ellipse">
            <a:avLst/>
          </a:prstGeom>
          <a:solidFill>
            <a:srgbClr val="1B7F8C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 a Distribution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Skewness, kurtosis and the observations that do not belong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tail is longer — and what it means for the business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35661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&lt; Median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&lt; 0.  A long left tail. Exam scores with a ceiling; delivery times with a hard minimum.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343400" y="1645920"/>
          <a:ext cx="35661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4343400" y="37490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61772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≈ Median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4297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≈ 0.  Measurement error, heights, machine-filled weights.</a:t>
            </a:r>
            <a:endParaRPr lang="en-US" sz="1200" dirty="0"/>
          </a:p>
        </p:txBody>
      </p:sp>
      <p:graphicFrame>
        <p:nvGraphicFramePr>
          <p:cNvPr id="14" name="Chart 2" descr=""/>
          <p:cNvGraphicFramePr/>
          <p:nvPr/>
        </p:nvGraphicFramePr>
        <p:xfrm>
          <a:off x="8138160" y="1645920"/>
          <a:ext cx="35661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Shape 10"/>
          <p:cNvSpPr/>
          <p:nvPr/>
        </p:nvSpPr>
        <p:spPr>
          <a:xfrm>
            <a:off x="8138160" y="37490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841248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&gt; Median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12480" y="4297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&gt; 0.  Income, house prices, insurance claims, customer spend — the business default.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59893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=SKEW(range) in Excel.  Values beyond ±1 signal substantial skew — report the median alongside the mean.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Kurtosis and outliers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heavy are the tails, and which points are genuinely unusual?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556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of the variance comes from rare, extreme observations rather than from typical ones.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kurtosis &gt; 0  →  heavy tails: extreme events are more common than a bell curve predicts. Financial returns behave this way, which is why risk models built on the normal curve understate losses.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1330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AN OUTLIER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4805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rule: |z| &gt; 3 — more than three standard deviations from the mean</a:t>
            </a:r>
            <a:endParaRPr lang="en-US" sz="1150" dirty="0"/>
          </a:p>
          <a:p>
            <a:pPr marL="228600" indent="-2286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rule: below Q1 − 1.5×IQR or above Q3 + 1.5×IQR</a:t>
            </a:r>
            <a:endParaRPr lang="en-US" sz="1150" dirty="0"/>
          </a:p>
          <a:p>
            <a:pPr marL="228600" indent="-2286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before you delete. An outlier is often the most informative record you have.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263640" y="164592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263640" y="5897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H sits 3.6 SD above the mean — flag and investigate, do not silently drop.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754880" cy="4754880"/>
          </a:xfrm>
          <a:prstGeom prst="ellipse">
            <a:avLst/>
          </a:prstGeom>
          <a:solidFill>
            <a:srgbClr val="1B7F8C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how two variables move together — and what that does not prove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scatter diagram shows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Direction, form and strength, before any number is computed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72768"/>
          <a:ext cx="54406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63640" y="1572768"/>
          <a:ext cx="54406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2" descr=""/>
          <p:cNvGraphicFramePr/>
          <p:nvPr/>
        </p:nvGraphicFramePr>
        <p:xfrm>
          <a:off x="548640" y="3721608"/>
          <a:ext cx="54406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3" descr=""/>
          <p:cNvGraphicFramePr/>
          <p:nvPr/>
        </p:nvGraphicFramePr>
        <p:xfrm>
          <a:off x="6263640" y="3721608"/>
          <a:ext cx="54406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Shape 4"/>
          <p:cNvSpPr/>
          <p:nvPr/>
        </p:nvSpPr>
        <p:spPr>
          <a:xfrm>
            <a:off x="548640" y="5779008"/>
            <a:ext cx="11109960" cy="438912"/>
          </a:xfrm>
          <a:prstGeom prst="roundRect">
            <a:avLst>
              <a:gd name="adj" fmla="val 1875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548640" y="5779008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plot before you compute. A single scatter reveals curvature, clusters and outliers that r will hide.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and Spearman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correlation coefficients, two different jobs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55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 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strength of the straight-line relationship between two quantitative variables.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between −1 and +1</a:t>
            </a:r>
            <a:endParaRPr lang="en-US" sz="1200" dirty="0"/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interval or ratio data</a:t>
            </a:r>
            <a:endParaRPr lang="en-US" sz="1200" dirty="0"/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the relationship is linear</a:t>
            </a:r>
            <a:endParaRPr lang="en-US" sz="1200" dirty="0"/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</a:t>
            </a:r>
            <a:endParaRPr lang="en-US" sz="1200" dirty="0"/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=CORREL(array1, array2)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755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 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Pearson’s formula applied to the ranks rather than the raw values.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274320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ordinal data — satisfaction ratings, rankings</a:t>
            </a:r>
            <a:endParaRPr lang="en-US" sz="1200" dirty="0"/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any monotonic relationship, not just a straight line</a:t>
            </a:r>
            <a:endParaRPr lang="en-US" sz="1200" dirty="0"/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outliers</a:t>
            </a:r>
            <a:endParaRPr lang="en-US" sz="1200" dirty="0"/>
          </a:p>
          <a:p>
            <a:pPr marL="228600" indent="-2286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=CORREL(RANK array1, RANK array2)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4892040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VALUE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230368"/>
            <a:ext cx="208483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52852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561441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negative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07208" y="5230368"/>
            <a:ext cx="208483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807208" y="52852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807208" y="561441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65776" y="5230368"/>
            <a:ext cx="208483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65776" y="52852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8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65776" y="561441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24344" y="5230368"/>
            <a:ext cx="208483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24344" y="52852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A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24344" y="561441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82912" y="5230368"/>
            <a:ext cx="208483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582912" y="52852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+1.0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582912" y="561441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positive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is not causation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explanations for every strong r you will ever see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65376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causes 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you hoped for. Only an experiment can establish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1865376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causes X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causation. Do busy stores need more staff, or does more staff make stores busy?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557016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502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variable causes both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3886200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confounder. Ice-cream sales and drowning deaths correlate — summer causes both.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3557016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5021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coincidence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enough variables, strong correlations appear by chance alone. Test before you believe.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109960" cy="960120"/>
          </a:xfrm>
          <a:prstGeom prst="roundRect">
            <a:avLst>
              <a:gd name="adj" fmla="val 8571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50292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coefficient describes a pattern in data you already have. Turning it into a decision — ‘if we raise spend by 10%, sales will rise by X’ — requires regression and a defensible research design. That is Module 4.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754880" cy="4754880"/>
          </a:xfrm>
          <a:prstGeom prst="ellipse">
            <a:avLst/>
          </a:prstGeom>
          <a:solidFill>
            <a:srgbClr val="1B7F8C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Visualisation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rule: the chart follows the data type, not your preference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chart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question to the picture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1099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286000"/>
                <a:gridCol w="2743200"/>
                <a:gridCol w="2514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categories compare?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or column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›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share does each part hold?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chart (≤ 5 slices)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› Pie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few causes dominate?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Pareto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› Histogram › Pareto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are values distributed?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› Histogram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several groups compare?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and whisker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› Box and Whisker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two variables move together?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quantitative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diagram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› Scatter (X,Y)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has it changed over time?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›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two categories interact?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Side-by-side / stacked bar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32120"/>
            <a:ext cx="11109960" cy="502920"/>
          </a:xfrm>
          <a:prstGeom prst="roundRect">
            <a:avLst>
              <a:gd name="adj" fmla="val 16364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553212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error in student reports: a pie chart of quantitative data, or a line chart of categories that have no order.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data: bar, pie and Pareto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Pareto chart turns a bar chart into a priority list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91640"/>
          <a:ext cx="54864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63640" y="169164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532120"/>
            <a:ext cx="11109960" cy="640080"/>
          </a:xfrm>
          <a:prstGeom prst="roundRect">
            <a:avLst>
              <a:gd name="adj" fmla="val 12857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causes account for 69% of all complaints. Fixing late delivery and damaged items first is worth more than everything else combined — that is the whole point of a Pareto chart.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data: histogram and polygon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column of numbers into a visible shape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9164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63640" y="169164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532120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553212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thumb: 5 to 15 classes, all of equal width, with no gaps between the bars. Too few classes hide the shape; too many turn it into noise.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Hudson Auto Repair data, Anderson &amp; Sweeney Ch. 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Excel toolkit for Module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one page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109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160520"/>
                <a:gridCol w="32918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or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lives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Mean, median,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AVERAGE, MEDIAN, MODE.SNGL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Formulas › More Functions › Statistical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Quartiles and percentiles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QUARTILE.EXC, PERCENTILE.EXC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Formulas › Statistical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and standard deviation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VAR.S, STDEV.S  (use .P for a population)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Formulas › Statistical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SKEW, KURT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Formulas › Statistical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STANDARDIZE(x, mean, 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Formulas › Statistical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CORREL, or the Correlation tool for a full matrix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› Data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at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Descriptive Statistics — tick ‘Summary statistics’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› Data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Grouping and cross-tabs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PivotTable and PivotChart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› PivotTable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109960" cy="566928"/>
          </a:xfrm>
          <a:prstGeom prst="roundRect">
            <a:avLst>
              <a:gd name="adj" fmla="val 14516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54864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Analysis is not visible: File › Options › Add-ins › Manage Excel Add-ins › Go › tick Analysis ToolPak.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2: what to carry forward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you will use in every remaining module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Descriptive Statistics &amp; Data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155680" y="6355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773936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19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and spread travel together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 without a standard deviation is an incomplete answer.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1773936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719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decides the statistic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data → report the median. Symmetric → the mean is fine.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118104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 is the unit of surprise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3447288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past ±3 SD is rare enough to investigate.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898648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3118104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before you compute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3447288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scatter reveals what a correlation coefficient conceals.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242816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E9F2F3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462272"/>
            <a:ext cx="68580" cy="274320"/>
          </a:xfrm>
          <a:prstGeom prst="rect">
            <a:avLst/>
          </a:prstGeom>
          <a:solidFill>
            <a:srgbClr val="1B7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407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measures linearity only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2960" y="4791456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curved relationship can still produce r near zero.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4242816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C9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73952" y="4462272"/>
            <a:ext cx="68580" cy="274320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407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follows the data type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92240" y="4791456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→ bar. Quantitative → histogram. Two quantitative → scatter.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1109960" cy="566928"/>
          </a:xfrm>
          <a:prstGeom prst="roundRect">
            <a:avLst>
              <a:gd name="adj" fmla="val 14516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26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55321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Module 3: Inferential Statistics &amp; Hypothesis Testing. Using these same summaries to make claims about a population you never fully observe.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657600"/>
            <a:ext cx="4572000" cy="4572000"/>
          </a:xfrm>
          <a:prstGeom prst="ellipse">
            <a:avLst/>
          </a:prstGeom>
          <a:solidFill>
            <a:srgbClr val="1B7F8C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188720"/>
            <a:ext cx="3657600" cy="3657600"/>
          </a:xfrm>
          <a:prstGeom prst="ellipse">
            <a:avLst/>
          </a:prstGeom>
          <a:solidFill>
            <a:srgbClr val="E0A03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Module 2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60120" y="3063240"/>
            <a:ext cx="1005840" cy="41148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83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Practise: compute the full descriptive summary for any dataset of your choice using Data › Data Analysis › Descriptive Statistics, then build a histogram and a box plot from the same column.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assessment:  Assignment 1  ·  Internal Assessment 1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2026-08-02T18:22:41Z</dcterms:created>
  <dcterms:modified xsi:type="dcterms:W3CDTF">2026-08-02T18:22:41Z</dcterms:modified>
</cp:coreProperties>
</file>